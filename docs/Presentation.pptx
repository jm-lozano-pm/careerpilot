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embeddedFontLst>
    <p:embeddedFont>
      <p:font typeface="Play"/>
      <p:regular r:id="rId15"/>
      <p:bold r:id="rId16"/>
    </p:embeddedFont>
    <p:embeddedFont>
      <p:font typeface="Inter"/>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tQHG+Ui3c0jjKSlxJf0O3gYZi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regular.fntdata"/><Relationship Id="rId14" Type="http://schemas.openxmlformats.org/officeDocument/2006/relationships/slide" Target="slides/slide10.xml"/><Relationship Id="rId17" Type="http://schemas.openxmlformats.org/officeDocument/2006/relationships/font" Target="fonts/Inter-regular.fntdata"/><Relationship Id="rId16" Type="http://schemas.openxmlformats.org/officeDocument/2006/relationships/font" Target="fonts/Play-bold.fntdata"/><Relationship Id="rId5" Type="http://schemas.openxmlformats.org/officeDocument/2006/relationships/slide" Target="slides/slide1.xml"/><Relationship Id="rId19" Type="http://schemas.openxmlformats.org/officeDocument/2006/relationships/font" Target="fonts/Inter-italic.fntdata"/><Relationship Id="rId6" Type="http://schemas.openxmlformats.org/officeDocument/2006/relationships/slide" Target="slides/slide2.xml"/><Relationship Id="rId18" Type="http://schemas.openxmlformats.org/officeDocument/2006/relationships/font" Target="fonts/Inter-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CareerPilot is my Ironhack final project. It started as a broader job-search workspace, but during the project the question became much more specific: how can we help job seekers make better decisions from the information they already generate during their search?</a:t>
            </a:r>
            <a:br>
              <a:rPr lang="en-US"/>
            </a:br>
            <a:br>
              <a:rPr lang="en-US"/>
            </a:br>
            <a:r>
              <a:rPr lang="en-US"/>
              <a:t>Transition: To understand that, we need to start with the user.</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Alex, a synthetic persona representing the kind of user CareerPilot is designed for: an active job seeker managing multiple applications at the same time.</a:t>
            </a:r>
            <a:br>
              <a:rPr lang="en-US"/>
            </a:br>
            <a:br>
              <a:rPr lang="en-US"/>
            </a:br>
            <a:r>
              <a:rPr lang="en-US"/>
              <a:t>Alex already has information — CV versions, job descriptions, application statuses and outcomes — but the problem is not simply storing that information.</a:t>
            </a:r>
            <a:br>
              <a:rPr lang="en-US"/>
            </a:br>
            <a:br>
              <a:rPr lang="en-US"/>
            </a:br>
            <a:r>
              <a:rPr lang="en-US"/>
              <a:t>The harder part is understanding what is worth the effort, what the results may be signalling, and what to do next.</a:t>
            </a:r>
            <a:br>
              <a:rPr lang="en-US"/>
            </a:br>
            <a:br>
              <a:rPr lang="en-US"/>
            </a:br>
            <a:r>
              <a:rPr lang="en-US"/>
              <a:t>That is the core problem CareerPilot is trying to solve.</a:t>
            </a:r>
            <a:br>
              <a:rPr lang="en-US"/>
            </a:br>
            <a:br>
              <a:rPr lang="en-US"/>
            </a:br>
            <a:r>
              <a:rPr lang="en-US"/>
              <a:t>Transition: But CareerPilot did not begin with that exact focus — research is what pushed the product in this direction.</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CareerPilot originally started much closer to a CV builder combined with an application tracker.</a:t>
            </a:r>
            <a:br>
              <a:rPr lang="en-US"/>
            </a:br>
            <a:br>
              <a:rPr lang="en-US"/>
            </a:br>
            <a:r>
              <a:rPr lang="en-US"/>
              <a:t>The research challenged that. In my five-person survey, four respondents didn't clearly know which parts of their job search worked best. Four already changed their strategy based on results. And four wanted to better understand rejection.</a:t>
            </a:r>
            <a:br>
              <a:rPr lang="en-US"/>
            </a:br>
            <a:br>
              <a:rPr lang="en-US"/>
            </a:br>
            <a:r>
              <a:rPr lang="en-US"/>
              <a:t>The sample is small, so I treat those results as directional rather than market-wide validation.</a:t>
            </a:r>
            <a:br>
              <a:rPr lang="en-US"/>
            </a:br>
            <a:br>
              <a:rPr lang="en-US"/>
            </a:br>
            <a:r>
              <a:rPr lang="en-US"/>
              <a:t>Competitor research also showed that FlowCV, Huntr and Teal already provide substantial CV, tracking, tailoring and analytics functionality.</a:t>
            </a:r>
            <a:br>
              <a:rPr lang="en-US"/>
            </a:br>
            <a:br>
              <a:rPr lang="en-US"/>
            </a:br>
            <a:r>
              <a:rPr lang="en-US"/>
              <a:t>So the conclusion wasn't that competitors were missing those features. It was that simply combining them wouldn't create enough differentiation.</a:t>
            </a:r>
            <a:br>
              <a:rPr lang="en-US"/>
            </a:br>
            <a:br>
              <a:rPr lang="en-US"/>
            </a:br>
            <a:r>
              <a:rPr lang="en-US"/>
              <a:t>That shifted CareerPilot toward helping users turn job-search evidence into interpretation and possible next actions.</a:t>
            </a:r>
            <a:br>
              <a:rPr lang="en-US"/>
            </a:br>
            <a:br>
              <a:rPr lang="en-US"/>
            </a:br>
            <a:r>
              <a:rPr lang="en-US"/>
              <a:t>AI accelerated research synthesis and hypothesis organisation. I made the product decision to change the original direction.</a:t>
            </a:r>
            <a:br>
              <a:rPr lang="en-US"/>
            </a:br>
            <a:br>
              <a:rPr lang="en-US"/>
            </a:br>
            <a:r>
              <a:rPr lang="en-US"/>
              <a:t>Transition: Once the problem changed, the MVP had to change with it.</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competitor analysis did not show that competitors lack core workflow features. It showed the opposite.</a:t>
            </a:r>
            <a:br>
              <a:rPr lang="en-US"/>
            </a:br>
            <a:br>
              <a:rPr lang="en-US"/>
            </a:br>
            <a:r>
              <a:rPr lang="en-US"/>
              <a:t>FlowCV is already strong in CV and cover-letter creation. Huntr already combines job capture, tracking, workflow and AI-assisted documents. Teal already offers a broad integrated job-search workspace with resume tools and metrics.</a:t>
            </a:r>
            <a:br>
              <a:rPr lang="en-US"/>
            </a:br>
            <a:br>
              <a:rPr lang="en-US"/>
            </a:br>
            <a:r>
              <a:rPr lang="en-US"/>
              <a:t>So the product decision was not to compete by reproducing the same full workflow. CareerPilot needed to focus on the unresolved question: can we help job seekers interpret their own evidence and decide what to do next?</a:t>
            </a:r>
            <a:br>
              <a:rPr lang="en-US"/>
            </a:br>
            <a:br>
              <a:rPr lang="en-US"/>
            </a:br>
            <a:r>
              <a:rPr lang="en-US"/>
              <a:t>Transition: With that positioning clear, the MVP scope had to focus on the smallest connected loop that could test it.</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roadmap protects the product from becoming too broad too early.</a:t>
            </a:r>
            <a:br>
              <a:rPr lang="en-US"/>
            </a:br>
            <a:br>
              <a:rPr lang="en-US"/>
            </a:br>
            <a:r>
              <a:rPr lang="en-US"/>
              <a:t>The Now horizon is the implemented MVP: profile and goals, CVs with AI tailoring, jobs and applications, outcomes, analysis, recommendations and feedback. These are not isolated features; they create the evidence needed to test the decision-support experience.</a:t>
            </a:r>
            <a:br>
              <a:rPr lang="en-US"/>
            </a:br>
            <a:br>
              <a:rPr lang="en-US"/>
            </a:br>
            <a:r>
              <a:rPr lang="en-US"/>
              <a:t>Next is where we deepen the product only after validation: more advanced CV customisation, richer workflows, advanced analytics and expanded AI decision support.</a:t>
            </a:r>
            <a:br>
              <a:rPr lang="en-US"/>
            </a:br>
            <a:br>
              <a:rPr lang="en-US"/>
            </a:br>
            <a:r>
              <a:rPr lang="en-US"/>
              <a:t>Later is mainly about reducing manual work through integrations. And Won't Do protects the product boundary: CareerPilot is not a job marketplace, not an employer platform and not an autonomous application agent.</a:t>
            </a:r>
            <a:br>
              <a:rPr lang="en-US"/>
            </a:br>
            <a:br>
              <a:rPr lang="en-US"/>
            </a:br>
            <a:r>
              <a:rPr lang="en-US"/>
              <a:t>AI accelerated roadmap and backlog organisation with Rovo. I made the scope, prioritisation and product-boundary decisions.</a:t>
            </a:r>
            <a:br>
              <a:rPr lang="en-US"/>
            </a:br>
            <a:br>
              <a:rPr lang="en-US"/>
            </a:br>
            <a:r>
              <a:rPr lang="en-US"/>
              <a:t>Transition: To make that principle buildable, it needed to become explicit product behaviour.</a:t>
            </a:r>
            <a:endParaRPr/>
          </a:p>
        </p:txBody>
      </p:sp>
      <p:sp>
        <p:nvSpPr>
          <p:cNvPr id="146" name="Google Shape;1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One user story captures the product philosophy especially well: As an active job seeker, I want to review the context and reasoning behind an AI recommendation so that I can decide whether it is relevant before taking any action.</a:t>
            </a:r>
            <a:br>
              <a:rPr lang="en-US"/>
            </a:br>
            <a:br>
              <a:rPr lang="en-US"/>
            </a:br>
            <a:r>
              <a:rPr lang="en-US"/>
              <a:t>The acceptance criteria require the recommendation to show its supporting context, distinguish recorded evidence from AI interpretation, expose relevant uncertainty and, importantly, never execute the recommendation automatically.</a:t>
            </a:r>
            <a:br>
              <a:rPr lang="en-US"/>
            </a:br>
            <a:br>
              <a:rPr lang="en-US"/>
            </a:br>
            <a:r>
              <a:rPr lang="en-US"/>
              <a:t>So human review isn't just a Responsible AI statement. It's an implementation requirement.</a:t>
            </a:r>
            <a:br>
              <a:rPr lang="en-US"/>
            </a:br>
            <a:br>
              <a:rPr lang="en-US"/>
            </a:br>
            <a:r>
              <a:rPr lang="en-US"/>
              <a:t>AI helped structure the story and acceptance criteria; I kept the requirements around provenance, uncertainty and human control.</a:t>
            </a:r>
            <a:br>
              <a:rPr lang="en-US"/>
            </a:br>
            <a:br>
              <a:rPr lang="en-US"/>
            </a:br>
            <a:r>
              <a:rPr lang="en-US"/>
              <a:t>Transition: Rather than explain the rest of that in Jira, I'll show you how it behaves in the product.</a:t>
            </a:r>
            <a:endParaRPr/>
          </a:p>
        </p:txBody>
      </p:sp>
      <p:sp>
        <p:nvSpPr>
          <p:cNvPr id="241" name="Google Shape;2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Rather than showing every CareerPilot feature, I'm going to show the core decision-support loop.</a:t>
            </a:r>
            <a:br>
              <a:rPr lang="en-US"/>
            </a:br>
            <a:br>
              <a:rPr lang="en-US"/>
            </a:br>
            <a:r>
              <a:rPr lang="en-US"/>
              <a:t>For the demo, I am using my own professional context and CV with a real job posting, so the analysis is based on realistic data rather than a fictional scenario.</a:t>
            </a:r>
            <a:br>
              <a:rPr lang="en-US"/>
            </a:br>
            <a:br>
              <a:rPr lang="en-US"/>
            </a:br>
            <a:r>
              <a:rPr lang="en-US"/>
              <a:t>Start on the prepared saved-job detail page.</a:t>
            </a:r>
            <a:br>
              <a:rPr lang="en-US"/>
            </a:br>
            <a:r>
              <a:rPr lang="en-US"/>
              <a:t>1) OVERVIEW — This user already has their professional profile, goals and CV stored in CareerPilot. They have saved this opportunity and now need to decide how much effort it deserves.</a:t>
            </a:r>
            <a:br>
              <a:rPr lang="en-US"/>
            </a:br>
            <a:r>
              <a:rPr lang="en-US"/>
              <a:t>2) CV MATCH — The user can select one of their CVs and compare it with the opportunity. This is a CareerPilot CV–Job Match Assessment. It isn't an employer ATS score and it doesn't predict an interview or offer. Its purpose is to help the user understand how their CV relates to this specific job.</a:t>
            </a:r>
            <a:br>
              <a:rPr lang="en-US"/>
            </a:br>
            <a:r>
              <a:rPr lang="en-US"/>
              <a:t>3) INSIGHTS — CareerPilot combines the available career context with the opportunity. Instead of returning only a score, it separates documented alignment, possible gaps, goal considerations, effort considerations and uncertainty. Pause on uncertainty: CareerPilot shouldn't turn incomplete evidence into certainty.</a:t>
            </a:r>
            <a:br>
              <a:rPr lang="en-US"/>
            </a:br>
            <a:r>
              <a:rPr lang="en-US"/>
              <a:t>4) RECOMMENDATION — Based on that context, CareerPilot can suggest a possible next action. The recommendation is advisory. Nothing happens automatically.</a:t>
            </a:r>
            <a:br>
              <a:rPr lang="en-US"/>
            </a:br>
            <a:r>
              <a:rPr lang="en-US"/>
              <a:t>5) REVIEW — Before acting, the user can review why CareerPilot is making the recommendation and see the evidence it is based on. AI provides the interpretation. The user evaluates whether it makes sense.</a:t>
            </a:r>
            <a:br>
              <a:rPr lang="en-US"/>
            </a:br>
            <a:r>
              <a:rPr lang="en-US"/>
              <a:t>6) FEEDBACK — Click Helpful or Not Helpful. Helpful means perceived usefulness. It doesn't prove the recommendation was objectively correct, and it doesn't mean the user followed it. Reviewing or rating does not apply for the job, modify the CV or change the application record.</a:t>
            </a:r>
            <a:br>
              <a:rPr lang="en-US"/>
            </a:br>
            <a:br>
              <a:rPr lang="en-US"/>
            </a:br>
            <a:r>
              <a:rPr lang="en-US"/>
              <a:t>Close: That is the CareerPilot loop: user-controlled context becomes interpretation, interpretation becomes a possible next action, and the job seeker remains responsible for the decision.</a:t>
            </a:r>
            <a:br>
              <a:rPr lang="en-US"/>
            </a:br>
            <a:br>
              <a:rPr lang="en-US"/>
            </a:br>
            <a:r>
              <a:rPr lang="en-US"/>
              <a:t>Transition: But a working flow isn't the same as a validated product. The next question is whether real users actually find these recommendations useful.</a:t>
            </a:r>
            <a:br>
              <a:rPr lang="en-US"/>
            </a:br>
            <a:br>
              <a:rPr lang="en-US"/>
            </a:br>
            <a:r>
              <a:rPr lang="en-US"/>
              <a:t>Demo method: live product with pre-generated analysis. If a click fails twice, switch to prepared screenshots rather than troubleshoot.</a:t>
            </a:r>
            <a:endParaRPr/>
          </a:p>
        </p:txBody>
      </p:sp>
      <p:sp>
        <p:nvSpPr>
          <p:cNvPr id="282" name="Google Shape;2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primary validation question isn't how many AI outputs CareerPilot creates or how many jobs a user saves. It's whether users perceive the recommendations as useful.</a:t>
            </a:r>
            <a:br>
              <a:rPr lang="en-US"/>
            </a:br>
            <a:br>
              <a:rPr lang="en-US"/>
            </a:br>
            <a:r>
              <a:rPr lang="en-US"/>
              <a:t>Recommendation Usefulness Rate is therefore the MVP North Star.</a:t>
            </a:r>
            <a:br>
              <a:rPr lang="en-US"/>
            </a:br>
            <a:br>
              <a:rPr lang="en-US"/>
            </a:br>
            <a:r>
              <a:rPr lang="en-US"/>
              <a:t>But it only makes sense alongside supporting behaviour. Review Rate tells me whether people engage with recommendations. Feedback Coverage tells me whether enough reviewed recommendations are rated to interpret usefulness. Context Readiness tells me whether users reach the point where CareerPilot has enough relevant information to create meaningful recommendations.</a:t>
            </a:r>
            <a:br>
              <a:rPr lang="en-US"/>
            </a:br>
            <a:br>
              <a:rPr lang="en-US"/>
            </a:br>
            <a:r>
              <a:rPr lang="en-US"/>
              <a:t>For example, high review but low usefulness would point me toward recommendation quality or grounding. Healthy context readiness but low review would make me investigate presentation or relevance.</a:t>
            </a:r>
            <a:br>
              <a:rPr lang="en-US"/>
            </a:br>
            <a:br>
              <a:rPr lang="en-US"/>
            </a:br>
            <a:r>
              <a:rPr lang="en-US"/>
              <a:t>The numbers currently shown in the monitoring dashboard are simulated demonstration data, not real validation results. Interview and offer rates can be observed, but I would not claim CareerPilot caused those outcomes.</a:t>
            </a:r>
            <a:br>
              <a:rPr lang="en-US"/>
            </a:br>
            <a:br>
              <a:rPr lang="en-US"/>
            </a:br>
            <a:r>
              <a:rPr lang="en-US"/>
              <a:t>Transition: And because CareerPilot is interpreting personal career information, usefulness by itself isn't enough.</a:t>
            </a:r>
            <a:endParaRPr/>
          </a:p>
        </p:txBody>
      </p:sp>
      <p:sp>
        <p:nvSpPr>
          <p:cNvPr id="334" name="Google Shape;3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 defined four main boundaries.</a:t>
            </a:r>
            <a:br>
              <a:rPr lang="en-US"/>
            </a:br>
            <a:br>
              <a:rPr lang="en-US"/>
            </a:br>
            <a:r>
              <a:rPr lang="en-US"/>
              <a:t>Only the minimum information needed for an AI task should be used.</a:t>
            </a:r>
            <a:br>
              <a:rPr lang="en-US"/>
            </a:br>
            <a:br>
              <a:rPr lang="en-US"/>
            </a:br>
            <a:r>
              <a:rPr lang="en-US"/>
              <a:t>Recorded facts and explicit employer feedback have to remain distinguishable from AI interpretation.</a:t>
            </a:r>
            <a:br>
              <a:rPr lang="en-US"/>
            </a:br>
            <a:br>
              <a:rPr lang="en-US"/>
            </a:br>
            <a:r>
              <a:rPr lang="en-US"/>
              <a:t>If CareerPilot doesn't know something — such as the actual reason for a rejection — it shouldn't invent it.</a:t>
            </a:r>
            <a:br>
              <a:rPr lang="en-US"/>
            </a:br>
            <a:br>
              <a:rPr lang="en-US"/>
            </a:br>
            <a:r>
              <a:rPr lang="en-US"/>
              <a:t>And no consequential action, including applying to a job, is performed autonomously.</a:t>
            </a:r>
            <a:br>
              <a:rPr lang="en-US"/>
            </a:br>
            <a:br>
              <a:rPr lang="en-US"/>
            </a:br>
            <a:r>
              <a:rPr lang="en-US"/>
              <a:t>Certain failures aren't simply UX issues. Fabricating professional experience, presenting unsupported hiring guarantees or using sensitive attributes for decisioning would be blockers for the capability.</a:t>
            </a:r>
            <a:br>
              <a:rPr lang="en-US"/>
            </a:br>
            <a:br>
              <a:rPr lang="en-US"/>
            </a:br>
            <a:r>
              <a:rPr lang="en-US"/>
              <a:t>Responsible AI isn't separate from the product. The recommendation-review step you just saw is one of the product controls.</a:t>
            </a:r>
            <a:br>
              <a:rPr lang="en-US"/>
            </a:br>
            <a:br>
              <a:rPr lang="en-US"/>
            </a:br>
            <a:r>
              <a:rPr lang="en-US"/>
              <a:t>AI accelerated drafting and consistency review. I made the final guardrail and escalation decisions.</a:t>
            </a:r>
            <a:br>
              <a:rPr lang="en-US"/>
            </a:br>
            <a:br>
              <a:rPr lang="en-US"/>
            </a:br>
            <a:r>
              <a:rPr lang="en-US"/>
              <a:t>Transition: So the remaining milestone isn't adding more functionality. It's getting real evidence.</a:t>
            </a:r>
            <a:endParaRPr/>
          </a:p>
        </p:txBody>
      </p:sp>
      <p:sp>
        <p:nvSpPr>
          <p:cNvPr id="357" name="Google Shape;3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MVP is ready to move into real-user validation.</a:t>
            </a:r>
            <a:br>
              <a:rPr lang="en-US"/>
            </a:br>
            <a:br>
              <a:rPr lang="en-US"/>
            </a:br>
            <a:r>
              <a:rPr lang="en-US"/>
              <a:t>Initial recruitment would focus on relevant active job seekers through direct outreach and existing networks. Educational and career-support organisations are a promising future distribution hypothesis, but I'm not treating them as validated partnerships.</a:t>
            </a:r>
            <a:br>
              <a:rPr lang="en-US"/>
            </a:br>
            <a:br>
              <a:rPr lang="en-US"/>
            </a:br>
            <a:r>
              <a:rPr lang="en-US"/>
              <a:t>I would combine the behavioural metrics with qualitative observation to decide whether the core direction should be strengthened, iterated or reconsidered.</a:t>
            </a:r>
            <a:br>
              <a:rPr lang="en-US"/>
            </a:br>
            <a:br>
              <a:rPr lang="en-US"/>
            </a:br>
            <a:r>
              <a:rPr lang="en-US"/>
              <a:t>If users reach the experience, understand it, trust it and consistently find the recommendations useful, Expanded AI Decision Support becomes a logical next area to explore.</a:t>
            </a:r>
            <a:br>
              <a:rPr lang="en-US"/>
            </a:br>
            <a:br>
              <a:rPr lang="en-US"/>
            </a:br>
            <a:r>
              <a:rPr lang="en-US"/>
              <a:t>Final line: CareerPilot doesn't make career decisions for job seekers. It gives them better evidence for making those decisions themselves.</a:t>
            </a:r>
            <a:endParaRPr/>
          </a:p>
        </p:txBody>
      </p:sp>
      <p:sp>
        <p:nvSpPr>
          <p:cNvPr id="406" name="Google Shape;4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8FAFF"/>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3.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9.png"/><Relationship Id="rId5" Type="http://schemas.openxmlformats.org/officeDocument/2006/relationships/image" Target="../media/image36.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33.png"/><Relationship Id="rId6" Type="http://schemas.openxmlformats.org/officeDocument/2006/relationships/image" Target="../media/image15.png"/><Relationship Id="rId7" Type="http://schemas.openxmlformats.org/officeDocument/2006/relationships/image" Target="../media/image11.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6.png"/><Relationship Id="rId11" Type="http://schemas.openxmlformats.org/officeDocument/2006/relationships/image" Target="../media/image3.png"/><Relationship Id="rId10" Type="http://schemas.openxmlformats.org/officeDocument/2006/relationships/image" Target="../media/image13.png"/><Relationship Id="rId12" Type="http://schemas.openxmlformats.org/officeDocument/2006/relationships/image" Target="../media/image21.png"/><Relationship Id="rId9" Type="http://schemas.openxmlformats.org/officeDocument/2006/relationships/image" Target="../media/image30.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32.png"/><Relationship Id="rId8"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hyperlink" Target="https://docs.google.com/spreadsheets/d/1bowbgyWSaPp2jZqKohKhEEDQY7AKwWrj_OnJmoB1HBw/edit?gid=304795899#gid=304795899" TargetMode="External"/><Relationship Id="rId5" Type="http://schemas.openxmlformats.org/officeDocument/2006/relationships/image" Target="../media/image23.png"/><Relationship Id="rId6" Type="http://schemas.openxmlformats.org/officeDocument/2006/relationships/hyperlink" Target="https://docs.google.com/spreadsheets/d/1bowbgyWSaPp2jZqKohKhEEDQY7AKwWrj_OnJmoB1HBw/edit?gid=304795899#gid=30479589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34.png"/><Relationship Id="rId11" Type="http://schemas.openxmlformats.org/officeDocument/2006/relationships/image" Target="../media/image2.png"/><Relationship Id="rId10" Type="http://schemas.openxmlformats.org/officeDocument/2006/relationships/image" Target="../media/image3.png"/><Relationship Id="rId9" Type="http://schemas.openxmlformats.org/officeDocument/2006/relationships/image" Target="../media/image13.png"/><Relationship Id="rId5" Type="http://schemas.openxmlformats.org/officeDocument/2006/relationships/image" Target="../media/image27.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25.pn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F"/>
        </a:solidFill>
      </p:bgPr>
    </p:bg>
    <p:spTree>
      <p:nvGrpSpPr>
        <p:cNvPr id="16" name="Shape 16"/>
        <p:cNvGrpSpPr/>
        <p:nvPr/>
      </p:nvGrpSpPr>
      <p:grpSpPr>
        <a:xfrm>
          <a:off x="0" y="0"/>
          <a:ext cx="0" cy="0"/>
          <a:chOff x="0" y="0"/>
          <a:chExt cx="0" cy="0"/>
        </a:xfrm>
      </p:grpSpPr>
      <p:pic>
        <p:nvPicPr>
          <p:cNvPr id="17" name="Google Shape;17;p1" title="CareerPilot_Visual Identity (1).png"/>
          <p:cNvPicPr preferRelativeResize="0"/>
          <p:nvPr/>
        </p:nvPicPr>
        <p:blipFill rotWithShape="1">
          <a:blip r:embed="rId3">
            <a:alphaModFix/>
          </a:blip>
          <a:srcRect b="1428" l="0" r="0" t="1428"/>
          <a:stretch/>
        </p:blipFill>
        <p:spPr>
          <a:xfrm>
            <a:off x="749800" y="1371600"/>
            <a:ext cx="6446527" cy="1245800"/>
          </a:xfrm>
          <a:prstGeom prst="rect">
            <a:avLst/>
          </a:prstGeom>
          <a:noFill/>
          <a:ln>
            <a:noFill/>
          </a:ln>
        </p:spPr>
      </p:pic>
      <p:sp>
        <p:nvSpPr>
          <p:cNvPr id="18" name="Google Shape;18;p1"/>
          <p:cNvSpPr/>
          <p:nvPr/>
        </p:nvSpPr>
        <p:spPr>
          <a:xfrm>
            <a:off x="822960" y="2816352"/>
            <a:ext cx="8138160" cy="9601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800"/>
              <a:buFont typeface="Inter"/>
              <a:buNone/>
            </a:pPr>
            <a:r>
              <a:rPr b="1" i="0" lang="en-US" sz="2800" u="none" cap="none" strike="noStrike">
                <a:solidFill>
                  <a:srgbClr val="08163D"/>
                </a:solidFill>
                <a:latin typeface="Inter"/>
                <a:ea typeface="Inter"/>
                <a:cs typeface="Inter"/>
                <a:sym typeface="Inter"/>
              </a:rPr>
              <a:t>Turning job-search evidence into</a:t>
            </a:r>
            <a:endParaRPr b="0"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8163D"/>
              </a:buClr>
              <a:buSzPts val="2800"/>
              <a:buFont typeface="Inter"/>
              <a:buNone/>
            </a:pPr>
            <a:r>
              <a:rPr b="1" i="0" lang="en-US" sz="2800" u="none" cap="none" strike="noStrike">
                <a:solidFill>
                  <a:srgbClr val="08163D"/>
                </a:solidFill>
                <a:latin typeface="Inter"/>
                <a:ea typeface="Inter"/>
                <a:cs typeface="Inter"/>
                <a:sym typeface="Inter"/>
              </a:rPr>
              <a:t>better-informed decisions</a:t>
            </a:r>
            <a:endParaRPr b="0" i="0" sz="2800" u="none" cap="none" strike="noStrike">
              <a:solidFill>
                <a:schemeClr val="dk1"/>
              </a:solidFill>
              <a:latin typeface="Inter"/>
              <a:ea typeface="Inter"/>
              <a:cs typeface="Inter"/>
              <a:sym typeface="Inter"/>
            </a:endParaRPr>
          </a:p>
        </p:txBody>
      </p:sp>
      <p:sp>
        <p:nvSpPr>
          <p:cNvPr id="19" name="Google Shape;19;p1"/>
          <p:cNvSpPr/>
          <p:nvPr/>
        </p:nvSpPr>
        <p:spPr>
          <a:xfrm>
            <a:off x="841248" y="4078224"/>
            <a:ext cx="7086600" cy="2743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1150"/>
              <a:buFont typeface="Inter"/>
              <a:buNone/>
            </a:pPr>
            <a:r>
              <a:rPr b="0" i="0" lang="en-US" sz="1150" u="none" cap="none" strike="noStrike">
                <a:solidFill>
                  <a:srgbClr val="64708B"/>
                </a:solidFill>
                <a:latin typeface="Inter"/>
                <a:ea typeface="Inter"/>
                <a:cs typeface="Inter"/>
                <a:sym typeface="Inter"/>
              </a:rPr>
              <a:t>Ironhack AI Product Manager Final Project  ·  Jose Manuel Lozano Barba</a:t>
            </a:r>
            <a:endParaRPr b="0" i="0" sz="1150" u="none" cap="none" strike="noStrike">
              <a:solidFill>
                <a:schemeClr val="dk1"/>
              </a:solidFill>
              <a:latin typeface="Inter"/>
              <a:ea typeface="Inter"/>
              <a:cs typeface="Inter"/>
              <a:sym typeface="Inter"/>
            </a:endParaRPr>
          </a:p>
        </p:txBody>
      </p:sp>
      <p:sp>
        <p:nvSpPr>
          <p:cNvPr id="20" name="Google Shape;20;p1"/>
          <p:cNvSpPr/>
          <p:nvPr/>
        </p:nvSpPr>
        <p:spPr>
          <a:xfrm>
            <a:off x="822960" y="6419088"/>
            <a:ext cx="539496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21" name="Google Shape;21;p1"/>
          <p:cNvSpPr/>
          <p:nvPr/>
        </p:nvSpPr>
        <p:spPr>
          <a:xfrm>
            <a:off x="8641080" y="4800600"/>
            <a:ext cx="3063240" cy="960120"/>
          </a:xfrm>
          <a:prstGeom prst="rect">
            <a:avLst/>
          </a:prstGeom>
          <a:solidFill>
            <a:srgbClr val="F8FA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2"/>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01  ·  PROBLEM &amp; USER</a:t>
            </a:r>
            <a:endParaRPr b="0" i="0" sz="950" u="none" cap="none" strike="noStrike">
              <a:solidFill>
                <a:schemeClr val="dk1"/>
              </a:solidFill>
              <a:latin typeface="Inter"/>
              <a:ea typeface="Inter"/>
              <a:cs typeface="Inter"/>
              <a:sym typeface="Inter"/>
            </a:endParaRPr>
          </a:p>
        </p:txBody>
      </p:sp>
      <p:sp>
        <p:nvSpPr>
          <p:cNvPr id="28" name="Google Shape;28;p2"/>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02</a:t>
            </a:r>
            <a:endParaRPr b="0" i="0" sz="850" u="none" cap="none" strike="noStrike">
              <a:solidFill>
                <a:schemeClr val="dk1"/>
              </a:solidFill>
              <a:latin typeface="Inter"/>
              <a:ea typeface="Inter"/>
              <a:cs typeface="Inter"/>
              <a:sym typeface="Inter"/>
            </a:endParaRPr>
          </a:p>
        </p:txBody>
      </p:sp>
      <p:sp>
        <p:nvSpPr>
          <p:cNvPr id="29" name="Google Shape;29;p2"/>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30" name="Google Shape;30;p2"/>
          <p:cNvSpPr/>
          <p:nvPr/>
        </p:nvSpPr>
        <p:spPr>
          <a:xfrm>
            <a:off x="402325" y="658375"/>
            <a:ext cx="10927200" cy="502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3100"/>
              <a:buFont typeface="Inter"/>
              <a:buNone/>
            </a:pPr>
            <a:r>
              <a:rPr b="1" i="0" lang="en-US" sz="3100" u="none" cap="none" strike="noStrike">
                <a:solidFill>
                  <a:srgbClr val="08163D"/>
                </a:solidFill>
                <a:latin typeface="Inter"/>
                <a:ea typeface="Inter"/>
                <a:cs typeface="Inter"/>
                <a:sym typeface="Inter"/>
              </a:rPr>
              <a:t>Meet Alex.</a:t>
            </a:r>
            <a:endParaRPr b="0" i="0" sz="3100" u="none" cap="none" strike="noStrike">
              <a:solidFill>
                <a:schemeClr val="dk1"/>
              </a:solidFill>
              <a:latin typeface="Inter"/>
              <a:ea typeface="Inter"/>
              <a:cs typeface="Inter"/>
              <a:sym typeface="Inter"/>
            </a:endParaRPr>
          </a:p>
        </p:txBody>
      </p:sp>
      <p:sp>
        <p:nvSpPr>
          <p:cNvPr id="31" name="Google Shape;31;p2"/>
          <p:cNvSpPr/>
          <p:nvPr/>
        </p:nvSpPr>
        <p:spPr>
          <a:xfrm>
            <a:off x="411480" y="1225296"/>
            <a:ext cx="4709160" cy="512064"/>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1530"/>
              <a:buFont typeface="Inter"/>
              <a:buNone/>
            </a:pPr>
            <a:r>
              <a:rPr b="0" i="0" lang="en-US" sz="1530" u="none" cap="none" strike="noStrike">
                <a:solidFill>
                  <a:srgbClr val="64708B"/>
                </a:solidFill>
                <a:latin typeface="Inter"/>
                <a:ea typeface="Inter"/>
                <a:cs typeface="Inter"/>
                <a:sym typeface="Inter"/>
              </a:rPr>
              <a:t>An active job seeker managing multiple applications at the same time.</a:t>
            </a:r>
            <a:endParaRPr b="0" i="0" sz="1530" u="none" cap="none" strike="noStrike">
              <a:solidFill>
                <a:schemeClr val="dk1"/>
              </a:solidFill>
              <a:latin typeface="Inter"/>
              <a:ea typeface="Inter"/>
              <a:cs typeface="Inter"/>
              <a:sym typeface="Inter"/>
            </a:endParaRPr>
          </a:p>
        </p:txBody>
      </p:sp>
      <p:sp>
        <p:nvSpPr>
          <p:cNvPr id="32" name="Google Shape;32;p2"/>
          <p:cNvSpPr/>
          <p:nvPr/>
        </p:nvSpPr>
        <p:spPr>
          <a:xfrm>
            <a:off x="411480" y="1965960"/>
            <a:ext cx="2304288" cy="3867912"/>
          </a:xfrm>
          <a:prstGeom prst="roundRect">
            <a:avLst>
              <a:gd fmla="val 4762" name="adj"/>
            </a:avLst>
          </a:prstGeom>
          <a:solidFill>
            <a:srgbClr val="FFFFFF"/>
          </a:solidFill>
          <a:ln cap="flat" cmpd="sng" w="10150">
            <a:solidFill>
              <a:srgbClr val="E0E6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mnt/data/a_clean_studio_style_3d_cgi_portrait_illustration.png" id="33" name="Google Shape;33;p2"/>
          <p:cNvPicPr preferRelativeResize="0"/>
          <p:nvPr/>
        </p:nvPicPr>
        <p:blipFill rotWithShape="1">
          <a:blip r:embed="rId3">
            <a:alphaModFix/>
          </a:blip>
          <a:srcRect b="0" l="0" r="0" t="0"/>
          <a:stretch/>
        </p:blipFill>
        <p:spPr>
          <a:xfrm>
            <a:off x="996696" y="2157984"/>
            <a:ext cx="1170433" cy="1170433"/>
          </a:xfrm>
          <a:prstGeom prst="rect">
            <a:avLst/>
          </a:prstGeom>
          <a:noFill/>
          <a:ln>
            <a:noFill/>
          </a:ln>
        </p:spPr>
      </p:pic>
      <p:sp>
        <p:nvSpPr>
          <p:cNvPr id="34" name="Google Shape;34;p2"/>
          <p:cNvSpPr/>
          <p:nvPr/>
        </p:nvSpPr>
        <p:spPr>
          <a:xfrm>
            <a:off x="749808" y="3410712"/>
            <a:ext cx="1627632"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8163D"/>
              </a:buClr>
              <a:buSzPts val="2100"/>
              <a:buFont typeface="Inter"/>
              <a:buNone/>
            </a:pPr>
            <a:r>
              <a:rPr b="1" i="0" lang="en-US" sz="2100" u="none" cap="none" strike="noStrike">
                <a:solidFill>
                  <a:srgbClr val="08163D"/>
                </a:solidFill>
                <a:latin typeface="Inter"/>
                <a:ea typeface="Inter"/>
                <a:cs typeface="Inter"/>
                <a:sym typeface="Inter"/>
              </a:rPr>
              <a:t>Alex</a:t>
            </a:r>
            <a:endParaRPr b="0" i="0" sz="2100" u="none" cap="none" strike="noStrike">
              <a:solidFill>
                <a:schemeClr val="dk1"/>
              </a:solidFill>
              <a:latin typeface="Inter"/>
              <a:ea typeface="Inter"/>
              <a:cs typeface="Inter"/>
              <a:sym typeface="Inter"/>
            </a:endParaRPr>
          </a:p>
        </p:txBody>
      </p:sp>
      <p:sp>
        <p:nvSpPr>
          <p:cNvPr id="35" name="Google Shape;35;p2"/>
          <p:cNvSpPr/>
          <p:nvPr/>
        </p:nvSpPr>
        <p:spPr>
          <a:xfrm>
            <a:off x="640080" y="3776472"/>
            <a:ext cx="1856232"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2DFF"/>
              </a:buClr>
              <a:buSzPts val="1020"/>
              <a:buFont typeface="Inter"/>
              <a:buNone/>
            </a:pPr>
            <a:r>
              <a:rPr b="1" i="0" lang="en-US" sz="1020" u="none" cap="none" strike="noStrike">
                <a:solidFill>
                  <a:srgbClr val="5A2DFF"/>
                </a:solidFill>
                <a:latin typeface="Inter"/>
                <a:ea typeface="Inter"/>
                <a:cs typeface="Inter"/>
                <a:sym typeface="Inter"/>
              </a:rPr>
              <a:t>Active job seeker</a:t>
            </a:r>
            <a:endParaRPr b="0" i="0" sz="1020" u="none" cap="none" strike="noStrike">
              <a:solidFill>
                <a:schemeClr val="dk1"/>
              </a:solidFill>
              <a:latin typeface="Inter"/>
              <a:ea typeface="Inter"/>
              <a:cs typeface="Inter"/>
              <a:sym typeface="Inter"/>
            </a:endParaRPr>
          </a:p>
        </p:txBody>
      </p:sp>
      <p:cxnSp>
        <p:nvCxnSpPr>
          <p:cNvPr id="36" name="Google Shape;36;p2"/>
          <p:cNvCxnSpPr/>
          <p:nvPr/>
        </p:nvCxnSpPr>
        <p:spPr>
          <a:xfrm>
            <a:off x="749808" y="4187952"/>
            <a:ext cx="1627632" cy="0"/>
          </a:xfrm>
          <a:prstGeom prst="straightConnector1">
            <a:avLst/>
          </a:prstGeom>
          <a:noFill/>
          <a:ln cap="flat" cmpd="sng" w="12700">
            <a:solidFill>
              <a:srgbClr val="E4E9F3"/>
            </a:solidFill>
            <a:prstDash val="solid"/>
            <a:round/>
            <a:headEnd len="sm" w="sm" type="none"/>
            <a:tailEnd len="sm" w="sm" type="none"/>
          </a:ln>
        </p:spPr>
      </p:cxnSp>
      <p:sp>
        <p:nvSpPr>
          <p:cNvPr id="37" name="Google Shape;37;p2"/>
          <p:cNvSpPr/>
          <p:nvPr/>
        </p:nvSpPr>
        <p:spPr>
          <a:xfrm>
            <a:off x="658368" y="4370832"/>
            <a:ext cx="1810512" cy="43891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64708B"/>
              </a:buClr>
              <a:buSzPts val="939"/>
              <a:buFont typeface="Inter"/>
              <a:buNone/>
            </a:pPr>
            <a:r>
              <a:rPr b="0" i="0" lang="en-US" sz="940" u="none" cap="none" strike="noStrike">
                <a:solidFill>
                  <a:srgbClr val="64708B"/>
                </a:solidFill>
                <a:latin typeface="Inter"/>
                <a:ea typeface="Inter"/>
                <a:cs typeface="Inter"/>
                <a:sym typeface="Inter"/>
              </a:rPr>
              <a:t>Multiple roles  ·  Multiple decisions</a:t>
            </a:r>
            <a:endParaRPr b="0" i="0" sz="940" u="none" cap="none" strike="noStrike">
              <a:solidFill>
                <a:schemeClr val="dk1"/>
              </a:solidFill>
              <a:latin typeface="Inter"/>
              <a:ea typeface="Inter"/>
              <a:cs typeface="Inter"/>
              <a:sym typeface="Inter"/>
            </a:endParaRPr>
          </a:p>
        </p:txBody>
      </p:sp>
      <p:sp>
        <p:nvSpPr>
          <p:cNvPr id="38" name="Google Shape;38;p2"/>
          <p:cNvSpPr/>
          <p:nvPr/>
        </p:nvSpPr>
        <p:spPr>
          <a:xfrm>
            <a:off x="786384" y="4903673"/>
            <a:ext cx="1572900" cy="164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769FF"/>
                </a:solidFill>
                <a:latin typeface="Arial"/>
                <a:ea typeface="Arial"/>
                <a:cs typeface="Arial"/>
                <a:sym typeface="Arial"/>
              </a:rPr>
              <a:t>CORE NEED</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411475" y="5096450"/>
            <a:ext cx="2304300" cy="411600"/>
          </a:xfrm>
          <a:prstGeom prst="rect">
            <a:avLst/>
          </a:prstGeom>
          <a:no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81B4B"/>
                </a:solidFill>
                <a:latin typeface="Arial"/>
                <a:ea typeface="Arial"/>
                <a:cs typeface="Arial"/>
                <a:sym typeface="Arial"/>
              </a:rPr>
              <a:t>Know where to focus next.</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3054096" y="1965960"/>
            <a:ext cx="8275320" cy="1408176"/>
          </a:xfrm>
          <a:prstGeom prst="roundRect">
            <a:avLst>
              <a:gd fmla="val 7792" name="adj"/>
            </a:avLst>
          </a:prstGeom>
          <a:solidFill>
            <a:srgbClr val="F3F4FF"/>
          </a:solidFill>
          <a:ln cap="flat" cmpd="sng" w="10150">
            <a:solidFill>
              <a:srgbClr val="ECEE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41" name="Google Shape;41;p2"/>
          <p:cNvSpPr/>
          <p:nvPr/>
        </p:nvSpPr>
        <p:spPr>
          <a:xfrm>
            <a:off x="3456432" y="2267712"/>
            <a:ext cx="7443216" cy="80467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8163D"/>
              </a:buClr>
              <a:buSzPts val="2150"/>
              <a:buFont typeface="Inter"/>
              <a:buNone/>
            </a:pPr>
            <a:r>
              <a:rPr b="1" i="0" lang="en-US" sz="2150" u="none" cap="none" strike="noStrike">
                <a:solidFill>
                  <a:srgbClr val="08163D"/>
                </a:solidFill>
                <a:latin typeface="Inter"/>
                <a:ea typeface="Inter"/>
                <a:cs typeface="Inter"/>
                <a:sym typeface="Inter"/>
              </a:rPr>
              <a:t>Alex has the information.</a:t>
            </a:r>
            <a:endParaRPr b="0" i="0" sz="2150" u="none" cap="none" strike="noStrike">
              <a:solidFill>
                <a:schemeClr val="dk1"/>
              </a:solidFill>
              <a:latin typeface="Inter"/>
              <a:ea typeface="Inter"/>
              <a:cs typeface="Inter"/>
              <a:sym typeface="Inter"/>
            </a:endParaRPr>
          </a:p>
          <a:p>
            <a:pPr indent="0" lvl="0" marL="0" marR="0" rtl="0" algn="ctr">
              <a:lnSpc>
                <a:spcPct val="100000"/>
              </a:lnSpc>
              <a:spcBef>
                <a:spcPts val="0"/>
              </a:spcBef>
              <a:spcAft>
                <a:spcPts val="0"/>
              </a:spcAft>
              <a:buClr>
                <a:srgbClr val="08163D"/>
              </a:buClr>
              <a:buSzPts val="2150"/>
              <a:buFont typeface="Inter"/>
              <a:buNone/>
            </a:pPr>
            <a:r>
              <a:rPr b="1" i="0" lang="en-US" sz="2150" u="none" cap="none" strike="noStrike">
                <a:solidFill>
                  <a:srgbClr val="08163D"/>
                </a:solidFill>
                <a:latin typeface="Inter"/>
                <a:ea typeface="Inter"/>
                <a:cs typeface="Inter"/>
                <a:sym typeface="Inter"/>
              </a:rPr>
              <a:t>But not always the clarity to act on it.</a:t>
            </a:r>
            <a:endParaRPr b="0" i="0" sz="2150" u="none" cap="none" strike="noStrike">
              <a:solidFill>
                <a:schemeClr val="dk1"/>
              </a:solidFill>
              <a:latin typeface="Inter"/>
              <a:ea typeface="Inter"/>
              <a:cs typeface="Inter"/>
              <a:sym typeface="Inter"/>
            </a:endParaRPr>
          </a:p>
        </p:txBody>
      </p:sp>
      <p:sp>
        <p:nvSpPr>
          <p:cNvPr id="42" name="Google Shape;42;p2"/>
          <p:cNvSpPr/>
          <p:nvPr/>
        </p:nvSpPr>
        <p:spPr>
          <a:xfrm>
            <a:off x="3054096" y="3675888"/>
            <a:ext cx="2578608" cy="2157984"/>
          </a:xfrm>
          <a:prstGeom prst="roundRect">
            <a:avLst>
              <a:gd fmla="val 5085" name="adj"/>
            </a:avLst>
          </a:prstGeom>
          <a:solidFill>
            <a:srgbClr val="FFFFFF"/>
          </a:solidFill>
          <a:ln cap="flat" cmpd="sng" w="10150">
            <a:solidFill>
              <a:srgbClr val="E0E6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43" name="Google Shape;43;p2"/>
          <p:cNvSpPr/>
          <p:nvPr/>
        </p:nvSpPr>
        <p:spPr>
          <a:xfrm>
            <a:off x="3255264" y="4126054"/>
            <a:ext cx="475500" cy="475500"/>
          </a:xfrm>
          <a:prstGeom prst="ellipse">
            <a:avLst/>
          </a:prstGeom>
          <a:solidFill>
            <a:srgbClr val="EEF4FF"/>
          </a:solidFill>
          <a:ln cap="flat" cmpd="sng" w="12700">
            <a:solidFill>
              <a:srgbClr val="EEF4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44" name="Google Shape;44;p2"/>
          <p:cNvPicPr preferRelativeResize="0"/>
          <p:nvPr/>
        </p:nvPicPr>
        <p:blipFill rotWithShape="1">
          <a:blip r:embed="rId4">
            <a:alphaModFix/>
          </a:blip>
          <a:srcRect b="0" l="0" r="0" t="0"/>
          <a:stretch/>
        </p:blipFill>
        <p:spPr>
          <a:xfrm>
            <a:off x="3369381" y="4240171"/>
            <a:ext cx="247254" cy="247254"/>
          </a:xfrm>
          <a:prstGeom prst="rect">
            <a:avLst/>
          </a:prstGeom>
          <a:noFill/>
          <a:ln>
            <a:noFill/>
          </a:ln>
        </p:spPr>
      </p:pic>
      <p:sp>
        <p:nvSpPr>
          <p:cNvPr id="45" name="Google Shape;45;p2"/>
          <p:cNvSpPr/>
          <p:nvPr/>
        </p:nvSpPr>
        <p:spPr>
          <a:xfrm>
            <a:off x="3840480" y="4281499"/>
            <a:ext cx="15546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A2DFF"/>
              </a:buClr>
              <a:buSzPts val="839"/>
              <a:buFont typeface="Inter"/>
              <a:buNone/>
            </a:pPr>
            <a:r>
              <a:rPr b="1" i="0" lang="en-US" sz="840" u="none" cap="none" strike="noStrike">
                <a:solidFill>
                  <a:srgbClr val="5A2DFF"/>
                </a:solidFill>
                <a:latin typeface="Inter"/>
                <a:ea typeface="Inter"/>
                <a:cs typeface="Inter"/>
                <a:sym typeface="Inter"/>
              </a:rPr>
              <a:t>OPPORTUNITIES</a:t>
            </a:r>
            <a:endParaRPr b="0" i="0" sz="840" u="none" cap="none" strike="noStrike">
              <a:solidFill>
                <a:schemeClr val="dk1"/>
              </a:solidFill>
              <a:latin typeface="Inter"/>
              <a:ea typeface="Inter"/>
              <a:cs typeface="Inter"/>
              <a:sym typeface="Inter"/>
            </a:endParaRPr>
          </a:p>
        </p:txBody>
      </p:sp>
      <p:sp>
        <p:nvSpPr>
          <p:cNvPr id="46" name="Google Shape;46;p2"/>
          <p:cNvSpPr/>
          <p:nvPr/>
        </p:nvSpPr>
        <p:spPr>
          <a:xfrm>
            <a:off x="3273552" y="4793566"/>
            <a:ext cx="2139600" cy="530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300"/>
              <a:buFont typeface="Inter"/>
              <a:buNone/>
            </a:pPr>
            <a:r>
              <a:rPr b="1" i="0" lang="en-US" sz="1300" u="none" cap="none" strike="noStrike">
                <a:solidFill>
                  <a:srgbClr val="08163D"/>
                </a:solidFill>
                <a:latin typeface="Inter"/>
                <a:ea typeface="Inter"/>
                <a:cs typeface="Inter"/>
                <a:sym typeface="Inter"/>
              </a:rPr>
              <a:t>Which roles are worth</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8163D"/>
              </a:buClr>
              <a:buSzPts val="1300"/>
              <a:buFont typeface="Inter"/>
              <a:buNone/>
            </a:pPr>
            <a:r>
              <a:rPr b="1" i="0" lang="en-US" sz="1300" u="none" cap="none" strike="noStrike">
                <a:solidFill>
                  <a:srgbClr val="08163D"/>
                </a:solidFill>
                <a:latin typeface="Inter"/>
                <a:ea typeface="Inter"/>
                <a:cs typeface="Inter"/>
                <a:sym typeface="Inter"/>
              </a:rPr>
              <a:t>the effort?</a:t>
            </a:r>
            <a:endParaRPr b="0" i="0" sz="1300" u="none" cap="none" strike="noStrike">
              <a:solidFill>
                <a:schemeClr val="dk1"/>
              </a:solidFill>
              <a:latin typeface="Inter"/>
              <a:ea typeface="Inter"/>
              <a:cs typeface="Inter"/>
              <a:sym typeface="Inter"/>
            </a:endParaRPr>
          </a:p>
        </p:txBody>
      </p:sp>
      <p:sp>
        <p:nvSpPr>
          <p:cNvPr id="47" name="Google Shape;47;p2"/>
          <p:cNvSpPr/>
          <p:nvPr/>
        </p:nvSpPr>
        <p:spPr>
          <a:xfrm>
            <a:off x="5833872" y="3675888"/>
            <a:ext cx="2578608" cy="2157984"/>
          </a:xfrm>
          <a:prstGeom prst="roundRect">
            <a:avLst>
              <a:gd fmla="val 5085" name="adj"/>
            </a:avLst>
          </a:prstGeom>
          <a:solidFill>
            <a:srgbClr val="FFFFFF"/>
          </a:solidFill>
          <a:ln cap="flat" cmpd="sng" w="10150">
            <a:solidFill>
              <a:srgbClr val="E0E6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48" name="Google Shape;48;p2"/>
          <p:cNvSpPr/>
          <p:nvPr/>
        </p:nvSpPr>
        <p:spPr>
          <a:xfrm>
            <a:off x="6035040" y="4126054"/>
            <a:ext cx="475500" cy="475500"/>
          </a:xfrm>
          <a:prstGeom prst="ellipse">
            <a:avLst/>
          </a:prstGeom>
          <a:solidFill>
            <a:srgbClr val="F0ECFF"/>
          </a:solidFill>
          <a:ln cap="flat" cmpd="sng" w="12700">
            <a:solidFill>
              <a:srgbClr val="F0E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49" name="Google Shape;49;p2"/>
          <p:cNvPicPr preferRelativeResize="0"/>
          <p:nvPr/>
        </p:nvPicPr>
        <p:blipFill rotWithShape="1">
          <a:blip r:embed="rId5">
            <a:alphaModFix/>
          </a:blip>
          <a:srcRect b="0" l="0" r="0" t="0"/>
          <a:stretch/>
        </p:blipFill>
        <p:spPr>
          <a:xfrm>
            <a:off x="6149157" y="4240171"/>
            <a:ext cx="247254" cy="247254"/>
          </a:xfrm>
          <a:prstGeom prst="rect">
            <a:avLst/>
          </a:prstGeom>
          <a:noFill/>
          <a:ln>
            <a:noFill/>
          </a:ln>
        </p:spPr>
      </p:pic>
      <p:sp>
        <p:nvSpPr>
          <p:cNvPr id="50" name="Google Shape;50;p2"/>
          <p:cNvSpPr/>
          <p:nvPr/>
        </p:nvSpPr>
        <p:spPr>
          <a:xfrm>
            <a:off x="6620319" y="4281499"/>
            <a:ext cx="15546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A2DFF"/>
              </a:buClr>
              <a:buSzPts val="839"/>
              <a:buFont typeface="Inter"/>
              <a:buNone/>
            </a:pPr>
            <a:r>
              <a:rPr b="1" i="0" lang="en-US" sz="840" u="none" cap="none" strike="noStrike">
                <a:solidFill>
                  <a:srgbClr val="5A2DFF"/>
                </a:solidFill>
                <a:latin typeface="Inter"/>
                <a:ea typeface="Inter"/>
                <a:cs typeface="Inter"/>
                <a:sym typeface="Inter"/>
              </a:rPr>
              <a:t>APPLICATIONS</a:t>
            </a:r>
            <a:endParaRPr b="0" i="0" sz="840" u="none" cap="none" strike="noStrike">
              <a:solidFill>
                <a:schemeClr val="dk1"/>
              </a:solidFill>
              <a:latin typeface="Inter"/>
              <a:ea typeface="Inter"/>
              <a:cs typeface="Inter"/>
              <a:sym typeface="Inter"/>
            </a:endParaRPr>
          </a:p>
        </p:txBody>
      </p:sp>
      <p:sp>
        <p:nvSpPr>
          <p:cNvPr id="51" name="Google Shape;51;p2"/>
          <p:cNvSpPr/>
          <p:nvPr/>
        </p:nvSpPr>
        <p:spPr>
          <a:xfrm>
            <a:off x="6053328" y="4793566"/>
            <a:ext cx="2139600" cy="530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300"/>
              <a:buFont typeface="Inter"/>
              <a:buNone/>
            </a:pPr>
            <a:r>
              <a:rPr b="1" i="0" lang="en-US" sz="1300" u="none" cap="none" strike="noStrike">
                <a:solidFill>
                  <a:srgbClr val="08163D"/>
                </a:solidFill>
                <a:latin typeface="Inter"/>
                <a:ea typeface="Inter"/>
                <a:cs typeface="Inter"/>
                <a:sym typeface="Inter"/>
              </a:rPr>
              <a:t>What should I tailor</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8163D"/>
              </a:buClr>
              <a:buSzPts val="1300"/>
              <a:buFont typeface="Inter"/>
              <a:buNone/>
            </a:pPr>
            <a:r>
              <a:rPr b="1" i="0" lang="en-US" sz="1300" u="none" cap="none" strike="noStrike">
                <a:solidFill>
                  <a:srgbClr val="08163D"/>
                </a:solidFill>
                <a:latin typeface="Inter"/>
                <a:ea typeface="Inter"/>
                <a:cs typeface="Inter"/>
                <a:sym typeface="Inter"/>
              </a:rPr>
              <a:t>or change?</a:t>
            </a:r>
            <a:endParaRPr b="0" i="0" sz="1300" u="none" cap="none" strike="noStrike">
              <a:solidFill>
                <a:schemeClr val="dk1"/>
              </a:solidFill>
              <a:latin typeface="Inter"/>
              <a:ea typeface="Inter"/>
              <a:cs typeface="Inter"/>
              <a:sym typeface="Inter"/>
            </a:endParaRPr>
          </a:p>
        </p:txBody>
      </p:sp>
      <p:sp>
        <p:nvSpPr>
          <p:cNvPr id="52" name="Google Shape;52;p2"/>
          <p:cNvSpPr/>
          <p:nvPr/>
        </p:nvSpPr>
        <p:spPr>
          <a:xfrm>
            <a:off x="8613648" y="3675888"/>
            <a:ext cx="2578608" cy="2157984"/>
          </a:xfrm>
          <a:prstGeom prst="roundRect">
            <a:avLst>
              <a:gd fmla="val 5085" name="adj"/>
            </a:avLst>
          </a:prstGeom>
          <a:solidFill>
            <a:srgbClr val="FFFFFF"/>
          </a:solidFill>
          <a:ln cap="flat" cmpd="sng" w="10150">
            <a:solidFill>
              <a:srgbClr val="E0E6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53" name="Google Shape;53;p2"/>
          <p:cNvSpPr/>
          <p:nvPr/>
        </p:nvSpPr>
        <p:spPr>
          <a:xfrm>
            <a:off x="8814816" y="4126054"/>
            <a:ext cx="475500" cy="475500"/>
          </a:xfrm>
          <a:prstGeom prst="ellipse">
            <a:avLst/>
          </a:prstGeom>
          <a:solidFill>
            <a:srgbClr val="ECF8FF"/>
          </a:solidFill>
          <a:ln cap="flat" cmpd="sng" w="12700">
            <a:solidFill>
              <a:srgbClr val="ECF8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54" name="Google Shape;54;p2"/>
          <p:cNvPicPr preferRelativeResize="0"/>
          <p:nvPr/>
        </p:nvPicPr>
        <p:blipFill rotWithShape="1">
          <a:blip r:embed="rId6">
            <a:alphaModFix/>
          </a:blip>
          <a:srcRect b="0" l="0" r="0" t="0"/>
          <a:stretch/>
        </p:blipFill>
        <p:spPr>
          <a:xfrm>
            <a:off x="8928933" y="4240171"/>
            <a:ext cx="247254" cy="247254"/>
          </a:xfrm>
          <a:prstGeom prst="rect">
            <a:avLst/>
          </a:prstGeom>
          <a:noFill/>
          <a:ln>
            <a:noFill/>
          </a:ln>
        </p:spPr>
      </p:pic>
      <p:sp>
        <p:nvSpPr>
          <p:cNvPr id="55" name="Google Shape;55;p2"/>
          <p:cNvSpPr/>
          <p:nvPr/>
        </p:nvSpPr>
        <p:spPr>
          <a:xfrm>
            <a:off x="9400182" y="4281499"/>
            <a:ext cx="15546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5A2DFF"/>
              </a:buClr>
              <a:buSzPts val="839"/>
              <a:buFont typeface="Inter"/>
              <a:buNone/>
            </a:pPr>
            <a:r>
              <a:rPr b="1" i="0" lang="en-US" sz="840" u="none" cap="none" strike="noStrike">
                <a:solidFill>
                  <a:srgbClr val="5A2DFF"/>
                </a:solidFill>
                <a:latin typeface="Inter"/>
                <a:ea typeface="Inter"/>
                <a:cs typeface="Inter"/>
                <a:sym typeface="Inter"/>
              </a:rPr>
              <a:t>OUTCOMES</a:t>
            </a:r>
            <a:endParaRPr b="0" i="0" sz="840" u="none" cap="none" strike="noStrike">
              <a:solidFill>
                <a:schemeClr val="dk1"/>
              </a:solidFill>
              <a:latin typeface="Inter"/>
              <a:ea typeface="Inter"/>
              <a:cs typeface="Inter"/>
              <a:sym typeface="Inter"/>
            </a:endParaRPr>
          </a:p>
        </p:txBody>
      </p:sp>
      <p:sp>
        <p:nvSpPr>
          <p:cNvPr id="56" name="Google Shape;56;p2"/>
          <p:cNvSpPr/>
          <p:nvPr/>
        </p:nvSpPr>
        <p:spPr>
          <a:xfrm>
            <a:off x="8833104" y="4793566"/>
            <a:ext cx="2139600" cy="530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300"/>
              <a:buFont typeface="Inter"/>
              <a:buNone/>
            </a:pPr>
            <a:r>
              <a:rPr b="1" i="0" lang="en-US" sz="1300" u="none" cap="none" strike="noStrike">
                <a:solidFill>
                  <a:srgbClr val="08163D"/>
                </a:solidFill>
                <a:latin typeface="Inter"/>
                <a:ea typeface="Inter"/>
                <a:cs typeface="Inter"/>
                <a:sym typeface="Inter"/>
              </a:rPr>
              <a:t>What might my results</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8163D"/>
              </a:buClr>
              <a:buSzPts val="1300"/>
              <a:buFont typeface="Inter"/>
              <a:buNone/>
            </a:pPr>
            <a:r>
              <a:rPr b="1" i="0" lang="en-US" sz="1300" u="none" cap="none" strike="noStrike">
                <a:solidFill>
                  <a:srgbClr val="08163D"/>
                </a:solidFill>
                <a:latin typeface="Inter"/>
                <a:ea typeface="Inter"/>
                <a:cs typeface="Inter"/>
                <a:sym typeface="Inter"/>
              </a:rPr>
              <a:t>be telling me?</a:t>
            </a:r>
            <a:endParaRPr b="0" i="0" sz="1300" u="none" cap="none" strike="noStrike">
              <a:solidFill>
                <a:schemeClr val="dk1"/>
              </a:solidFill>
              <a:latin typeface="Inter"/>
              <a:ea typeface="Inter"/>
              <a:cs typeface="Inter"/>
              <a:sym typeface="Inter"/>
            </a:endParaRPr>
          </a:p>
        </p:txBody>
      </p:sp>
      <p:pic>
        <p:nvPicPr>
          <p:cNvPr id="57" name="Google Shape;57;p2" title="CareerPilot_Visual Identity (2).png"/>
          <p:cNvPicPr preferRelativeResize="0"/>
          <p:nvPr/>
        </p:nvPicPr>
        <p:blipFill rotWithShape="1">
          <a:blip r:embed="rId7">
            <a:alphaModFix amt="50000"/>
          </a:blip>
          <a:srcRect b="0" l="0" r="0" t="0"/>
          <a:stretch/>
        </p:blipFill>
        <p:spPr>
          <a:xfrm>
            <a:off x="11192248" y="265173"/>
            <a:ext cx="539500" cy="5621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02  ·  DISCOVERY</a:t>
            </a:r>
            <a:endParaRPr b="0" i="0" sz="950" u="none" cap="none" strike="noStrike">
              <a:solidFill>
                <a:schemeClr val="dk1"/>
              </a:solidFill>
              <a:latin typeface="Inter"/>
              <a:ea typeface="Inter"/>
              <a:cs typeface="Inter"/>
              <a:sym typeface="Inter"/>
            </a:endParaRPr>
          </a:p>
        </p:txBody>
      </p:sp>
      <p:sp>
        <p:nvSpPr>
          <p:cNvPr id="64" name="Google Shape;64;p3"/>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03</a:t>
            </a:r>
            <a:endParaRPr b="0" i="0" sz="850" u="none" cap="none" strike="noStrike">
              <a:solidFill>
                <a:schemeClr val="dk1"/>
              </a:solidFill>
              <a:latin typeface="Inter"/>
              <a:ea typeface="Inter"/>
              <a:cs typeface="Inter"/>
              <a:sym typeface="Inter"/>
            </a:endParaRPr>
          </a:p>
        </p:txBody>
      </p:sp>
      <p:sp>
        <p:nvSpPr>
          <p:cNvPr id="65" name="Google Shape;65;p3"/>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66" name="Google Shape;66;p3"/>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3000"/>
              <a:buFont typeface="Inter"/>
              <a:buNone/>
            </a:pPr>
            <a:r>
              <a:rPr b="1" i="0" lang="en-US" sz="3000" u="none" cap="none" strike="noStrike">
                <a:solidFill>
                  <a:srgbClr val="08163D"/>
                </a:solidFill>
                <a:latin typeface="Inter"/>
                <a:ea typeface="Inter"/>
                <a:cs typeface="Inter"/>
                <a:sym typeface="Inter"/>
              </a:rPr>
              <a:t>Research changed the product.</a:t>
            </a:r>
            <a:endParaRPr b="0" i="0" sz="3000" u="none" cap="none" strike="noStrike">
              <a:solidFill>
                <a:schemeClr val="dk1"/>
              </a:solidFill>
              <a:latin typeface="Inter"/>
              <a:ea typeface="Inter"/>
              <a:cs typeface="Inter"/>
              <a:sym typeface="Inter"/>
            </a:endParaRPr>
          </a:p>
        </p:txBody>
      </p:sp>
      <p:sp>
        <p:nvSpPr>
          <p:cNvPr id="67" name="Google Shape;67;p3"/>
          <p:cNvSpPr/>
          <p:nvPr/>
        </p:nvSpPr>
        <p:spPr>
          <a:xfrm>
            <a:off x="411480" y="1225296"/>
            <a:ext cx="79552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1250"/>
              <a:buFont typeface="Inter"/>
              <a:buNone/>
            </a:pPr>
            <a:r>
              <a:rPr b="0" i="0" lang="en-US" sz="1250" u="none" cap="none" strike="noStrike">
                <a:solidFill>
                  <a:srgbClr val="64708B"/>
                </a:solidFill>
                <a:latin typeface="Inter"/>
                <a:ea typeface="Inter"/>
                <a:cs typeface="Inter"/>
                <a:sym typeface="Inter"/>
              </a:rPr>
              <a:t>The evidence did not validate the original idea unchanged — it redirected it.</a:t>
            </a:r>
            <a:endParaRPr b="0" i="0" sz="1250" u="none" cap="none" strike="noStrike">
              <a:solidFill>
                <a:schemeClr val="dk1"/>
              </a:solidFill>
              <a:latin typeface="Inter"/>
              <a:ea typeface="Inter"/>
              <a:cs typeface="Inter"/>
              <a:sym typeface="Inter"/>
            </a:endParaRPr>
          </a:p>
        </p:txBody>
      </p:sp>
      <p:sp>
        <p:nvSpPr>
          <p:cNvPr id="68" name="Google Shape;68;p3"/>
          <p:cNvSpPr/>
          <p:nvPr/>
        </p:nvSpPr>
        <p:spPr>
          <a:xfrm>
            <a:off x="411480" y="1874520"/>
            <a:ext cx="2880360" cy="3401568"/>
          </a:xfrm>
          <a:prstGeom prst="roundRect">
            <a:avLst>
              <a:gd fmla="val 3810" name="adj"/>
            </a:avLst>
          </a:prstGeom>
          <a:solidFill>
            <a:srgbClr val="FFFFFF"/>
          </a:solidFill>
          <a:ln cap="flat" cmpd="sng" w="10150">
            <a:solidFill>
              <a:srgbClr val="E0E6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69" name="Google Shape;69;p3"/>
          <p:cNvSpPr/>
          <p:nvPr/>
        </p:nvSpPr>
        <p:spPr>
          <a:xfrm>
            <a:off x="658368" y="2130552"/>
            <a:ext cx="219456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STARTED WITH</a:t>
            </a:r>
            <a:endParaRPr b="0" i="0" sz="850" u="none" cap="none" strike="noStrike">
              <a:solidFill>
                <a:schemeClr val="dk1"/>
              </a:solidFill>
              <a:latin typeface="Inter"/>
              <a:ea typeface="Inter"/>
              <a:cs typeface="Inter"/>
              <a:sym typeface="Inter"/>
            </a:endParaRPr>
          </a:p>
        </p:txBody>
      </p:sp>
      <p:sp>
        <p:nvSpPr>
          <p:cNvPr id="70" name="Google Shape;70;p3"/>
          <p:cNvSpPr/>
          <p:nvPr/>
        </p:nvSpPr>
        <p:spPr>
          <a:xfrm>
            <a:off x="676656" y="2532888"/>
            <a:ext cx="566928" cy="566928"/>
          </a:xfrm>
          <a:prstGeom prst="ellipse">
            <a:avLst/>
          </a:prstGeom>
          <a:solidFill>
            <a:srgbClr val="EEF4FF"/>
          </a:solidFill>
          <a:ln cap="flat" cmpd="sng" w="12700">
            <a:solidFill>
              <a:srgbClr val="EEF4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71" name="Google Shape;71;p3"/>
          <p:cNvPicPr preferRelativeResize="0"/>
          <p:nvPr/>
        </p:nvPicPr>
        <p:blipFill rotWithShape="1">
          <a:blip r:embed="rId3">
            <a:alphaModFix/>
          </a:blip>
          <a:srcRect b="0" l="0" r="0" t="0"/>
          <a:stretch/>
        </p:blipFill>
        <p:spPr>
          <a:xfrm>
            <a:off x="812719" y="2668951"/>
            <a:ext cx="294803" cy="294803"/>
          </a:xfrm>
          <a:prstGeom prst="rect">
            <a:avLst/>
          </a:prstGeom>
          <a:noFill/>
          <a:ln>
            <a:noFill/>
          </a:ln>
        </p:spPr>
      </p:pic>
      <p:sp>
        <p:nvSpPr>
          <p:cNvPr id="72" name="Google Shape;72;p3"/>
          <p:cNvSpPr/>
          <p:nvPr/>
        </p:nvSpPr>
        <p:spPr>
          <a:xfrm>
            <a:off x="1389888" y="2514600"/>
            <a:ext cx="1554480" cy="64008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950"/>
              <a:buFont typeface="Inter"/>
              <a:buNone/>
            </a:pPr>
            <a:r>
              <a:rPr b="1" i="0" lang="en-US" sz="1950" u="none" cap="none" strike="noStrike">
                <a:solidFill>
                  <a:srgbClr val="08163D"/>
                </a:solidFill>
                <a:latin typeface="Inter"/>
                <a:ea typeface="Inter"/>
                <a:cs typeface="Inter"/>
                <a:sym typeface="Inter"/>
              </a:rPr>
              <a:t>CV Builder</a:t>
            </a:r>
            <a:endParaRPr b="0" i="0" sz="195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8163D"/>
              </a:buClr>
              <a:buSzPts val="1950"/>
              <a:buFont typeface="Inter"/>
              <a:buNone/>
            </a:pPr>
            <a:r>
              <a:rPr b="1" i="0" lang="en-US" sz="1950" u="none" cap="none" strike="noStrike">
                <a:solidFill>
                  <a:srgbClr val="08163D"/>
                </a:solidFill>
                <a:latin typeface="Inter"/>
                <a:ea typeface="Inter"/>
                <a:cs typeface="Inter"/>
                <a:sym typeface="Inter"/>
              </a:rPr>
              <a:t>+ Job Tracker</a:t>
            </a:r>
            <a:endParaRPr b="0" i="0" sz="1950" u="none" cap="none" strike="noStrike">
              <a:solidFill>
                <a:schemeClr val="dk1"/>
              </a:solidFill>
              <a:latin typeface="Inter"/>
              <a:ea typeface="Inter"/>
              <a:cs typeface="Inter"/>
              <a:sym typeface="Inter"/>
            </a:endParaRPr>
          </a:p>
        </p:txBody>
      </p:sp>
      <p:sp>
        <p:nvSpPr>
          <p:cNvPr id="73" name="Google Shape;73;p3"/>
          <p:cNvSpPr/>
          <p:nvPr/>
        </p:nvSpPr>
        <p:spPr>
          <a:xfrm>
            <a:off x="676656" y="3307369"/>
            <a:ext cx="2011800" cy="201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5B34FF"/>
                </a:solidFill>
                <a:latin typeface="Arial"/>
                <a:ea typeface="Arial"/>
                <a:cs typeface="Arial"/>
                <a:sym typeface="Arial"/>
              </a:rPr>
              <a:t>SECONDARY RESEARCH</a:t>
            </a:r>
            <a:endParaRPr b="0" i="0" sz="1400" u="none" cap="none" strike="noStrike">
              <a:solidFill>
                <a:srgbClr val="000000"/>
              </a:solidFill>
              <a:latin typeface="Arial"/>
              <a:ea typeface="Arial"/>
              <a:cs typeface="Arial"/>
              <a:sym typeface="Arial"/>
            </a:endParaRPr>
          </a:p>
        </p:txBody>
      </p:sp>
      <p:cxnSp>
        <p:nvCxnSpPr>
          <p:cNvPr id="74" name="Google Shape;74;p3"/>
          <p:cNvCxnSpPr/>
          <p:nvPr/>
        </p:nvCxnSpPr>
        <p:spPr>
          <a:xfrm>
            <a:off x="676656" y="3538728"/>
            <a:ext cx="2011680" cy="0"/>
          </a:xfrm>
          <a:prstGeom prst="straightConnector1">
            <a:avLst/>
          </a:prstGeom>
          <a:noFill/>
          <a:ln cap="flat" cmpd="sng" w="12700">
            <a:solidFill>
              <a:srgbClr val="E4E9F3"/>
            </a:solidFill>
            <a:prstDash val="solid"/>
            <a:round/>
            <a:headEnd len="sm" w="sm" type="none"/>
            <a:tailEnd len="sm" w="sm" type="none"/>
          </a:ln>
        </p:spPr>
      </p:cxnSp>
      <p:sp>
        <p:nvSpPr>
          <p:cNvPr id="75" name="Google Shape;75;p3"/>
          <p:cNvSpPr/>
          <p:nvPr/>
        </p:nvSpPr>
        <p:spPr>
          <a:xfrm>
            <a:off x="676656" y="3675887"/>
            <a:ext cx="2057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lang="en-US" sz="950">
                <a:solidFill>
                  <a:srgbClr val="1B60FF"/>
                </a:solidFill>
              </a:rPr>
              <a:t>US</a:t>
            </a:r>
            <a:r>
              <a:rPr b="1" i="0" lang="en-US" sz="950" u="none" cap="none" strike="noStrike">
                <a:solidFill>
                  <a:srgbClr val="1B60FF"/>
                </a:solidFill>
                <a:latin typeface="Arial"/>
                <a:ea typeface="Arial"/>
                <a:cs typeface="Arial"/>
                <a:sym typeface="Arial"/>
              </a:rPr>
              <a:t>BLS · 2025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81B49"/>
                </a:solidFill>
                <a:latin typeface="Arial"/>
                <a:ea typeface="Arial"/>
                <a:cs typeface="Arial"/>
                <a:sym typeface="Arial"/>
              </a:rPr>
              <a:t>Job seekers use multiple active search methods.</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676656" y="4224528"/>
            <a:ext cx="2057400" cy="65836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00000"/>
              </a:buClr>
              <a:buSzPts val="918"/>
              <a:buFont typeface="Arial"/>
              <a:buNone/>
            </a:pPr>
            <a:r>
              <a:rPr b="1" i="0" lang="en-US" sz="919" u="none" cap="none" strike="noStrike">
                <a:solidFill>
                  <a:srgbClr val="5B34FF"/>
                </a:solidFill>
                <a:latin typeface="Arial"/>
                <a:ea typeface="Arial"/>
                <a:cs typeface="Arial"/>
                <a:sym typeface="Arial"/>
              </a:rPr>
              <a:t>NBER · 2025 field experiment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68"/>
              <a:buFont typeface="Arial"/>
              <a:buNone/>
            </a:pPr>
            <a:r>
              <a:rPr b="0" i="0" lang="en-US" sz="969" u="none" cap="none" strike="noStrike">
                <a:solidFill>
                  <a:srgbClr val="081B49"/>
                </a:solidFill>
                <a:latin typeface="Arial"/>
                <a:ea typeface="Arial"/>
                <a:cs typeface="Arial"/>
                <a:sym typeface="Arial"/>
              </a:rPr>
              <a:t>Personalised labour-market information improved outcomes in a specific context.</a:t>
            </a:r>
            <a:endParaRPr b="0" i="0" sz="1400" u="none" cap="none" strike="noStrike">
              <a:solidFill>
                <a:srgbClr val="000000"/>
              </a:solidFill>
              <a:latin typeface="Arial"/>
              <a:ea typeface="Arial"/>
              <a:cs typeface="Arial"/>
              <a:sym typeface="Arial"/>
            </a:endParaRPr>
          </a:p>
        </p:txBody>
      </p:sp>
      <p:sp>
        <p:nvSpPr>
          <p:cNvPr id="77" name="Google Shape;77;p3"/>
          <p:cNvSpPr/>
          <p:nvPr/>
        </p:nvSpPr>
        <p:spPr>
          <a:xfrm>
            <a:off x="3675888" y="1874520"/>
            <a:ext cx="3794760" cy="3401568"/>
          </a:xfrm>
          <a:prstGeom prst="roundRect">
            <a:avLst>
              <a:gd fmla="val 3226" name="adj"/>
            </a:avLst>
          </a:prstGeom>
          <a:solidFill>
            <a:srgbClr val="F6F7FF"/>
          </a:solidFill>
          <a:ln cap="flat" cmpd="sng" w="10150">
            <a:solidFill>
              <a:srgbClr val="EAE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78" name="Google Shape;78;p3"/>
          <p:cNvSpPr/>
          <p:nvPr/>
        </p:nvSpPr>
        <p:spPr>
          <a:xfrm>
            <a:off x="3931920" y="2130552"/>
            <a:ext cx="25603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5B34FF"/>
                </a:solidFill>
                <a:latin typeface="Arial"/>
                <a:ea typeface="Arial"/>
                <a:cs typeface="Arial"/>
                <a:sym typeface="Arial"/>
              </a:rPr>
              <a:t>DIRECTIONAL SIGNALS · SURVEY n=5</a:t>
            </a:r>
            <a:endParaRPr b="0" i="0" sz="1400" u="none" cap="none" strike="noStrike">
              <a:solidFill>
                <a:srgbClr val="000000"/>
              </a:solidFill>
              <a:latin typeface="Arial"/>
              <a:ea typeface="Arial"/>
              <a:cs typeface="Arial"/>
              <a:sym typeface="Arial"/>
            </a:endParaRPr>
          </a:p>
        </p:txBody>
      </p:sp>
      <p:sp>
        <p:nvSpPr>
          <p:cNvPr id="79" name="Google Shape;79;p3"/>
          <p:cNvSpPr/>
          <p:nvPr/>
        </p:nvSpPr>
        <p:spPr>
          <a:xfrm>
            <a:off x="3968496" y="2615184"/>
            <a:ext cx="777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2050"/>
              <a:buFont typeface="Inter"/>
              <a:buNone/>
            </a:pPr>
            <a:r>
              <a:rPr b="1" i="0" lang="en-US" sz="2050" u="none" cap="none" strike="noStrike">
                <a:solidFill>
                  <a:srgbClr val="5A2DFF"/>
                </a:solidFill>
                <a:latin typeface="Inter"/>
                <a:ea typeface="Inter"/>
                <a:cs typeface="Inter"/>
                <a:sym typeface="Inter"/>
              </a:rPr>
              <a:t>4/5</a:t>
            </a:r>
            <a:endParaRPr b="0" i="0" sz="2050" u="none" cap="none" strike="noStrike">
              <a:solidFill>
                <a:schemeClr val="dk1"/>
              </a:solidFill>
              <a:latin typeface="Inter"/>
              <a:ea typeface="Inter"/>
              <a:cs typeface="Inter"/>
              <a:sym typeface="Inter"/>
            </a:endParaRPr>
          </a:p>
        </p:txBody>
      </p:sp>
      <p:sp>
        <p:nvSpPr>
          <p:cNvPr id="80" name="Google Shape;80;p3"/>
          <p:cNvSpPr/>
          <p:nvPr/>
        </p:nvSpPr>
        <p:spPr>
          <a:xfrm>
            <a:off x="4873752" y="2642616"/>
            <a:ext cx="2267712" cy="29260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70"/>
              <a:buFont typeface="Inter"/>
              <a:buNone/>
            </a:pPr>
            <a:r>
              <a:rPr b="0" i="0" lang="en-US" sz="1070" u="none" cap="none" strike="noStrike">
                <a:solidFill>
                  <a:srgbClr val="08163D"/>
                </a:solidFill>
                <a:latin typeface="Inter"/>
                <a:ea typeface="Inter"/>
                <a:cs typeface="Inter"/>
                <a:sym typeface="Inter"/>
              </a:rPr>
              <a:t>unclear what works</a:t>
            </a:r>
            <a:endParaRPr b="0" i="0" sz="1070" u="none" cap="none" strike="noStrike">
              <a:solidFill>
                <a:schemeClr val="dk1"/>
              </a:solidFill>
              <a:latin typeface="Inter"/>
              <a:ea typeface="Inter"/>
              <a:cs typeface="Inter"/>
              <a:sym typeface="Inter"/>
            </a:endParaRPr>
          </a:p>
        </p:txBody>
      </p:sp>
      <p:sp>
        <p:nvSpPr>
          <p:cNvPr id="81" name="Google Shape;81;p3"/>
          <p:cNvSpPr/>
          <p:nvPr/>
        </p:nvSpPr>
        <p:spPr>
          <a:xfrm>
            <a:off x="3968496" y="3364992"/>
            <a:ext cx="777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CFF"/>
              </a:buClr>
              <a:buSzPts val="2050"/>
              <a:buFont typeface="Inter"/>
              <a:buNone/>
            </a:pPr>
            <a:r>
              <a:rPr b="1" i="0" lang="en-US" sz="2050" u="none" cap="none" strike="noStrike">
                <a:solidFill>
                  <a:srgbClr val="1B5CFF"/>
                </a:solidFill>
                <a:latin typeface="Inter"/>
                <a:ea typeface="Inter"/>
                <a:cs typeface="Inter"/>
                <a:sym typeface="Inter"/>
              </a:rPr>
              <a:t>4/5</a:t>
            </a:r>
            <a:endParaRPr b="0" i="0" sz="2050" u="none" cap="none" strike="noStrike">
              <a:solidFill>
                <a:schemeClr val="dk1"/>
              </a:solidFill>
              <a:latin typeface="Inter"/>
              <a:ea typeface="Inter"/>
              <a:cs typeface="Inter"/>
              <a:sym typeface="Inter"/>
            </a:endParaRPr>
          </a:p>
        </p:txBody>
      </p:sp>
      <p:sp>
        <p:nvSpPr>
          <p:cNvPr id="82" name="Google Shape;82;p3"/>
          <p:cNvSpPr/>
          <p:nvPr/>
        </p:nvSpPr>
        <p:spPr>
          <a:xfrm>
            <a:off x="4873752" y="3392424"/>
            <a:ext cx="2267712" cy="29260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70"/>
              <a:buFont typeface="Inter"/>
              <a:buNone/>
            </a:pPr>
            <a:r>
              <a:rPr b="0" i="0" lang="en-US" sz="1070" u="none" cap="none" strike="noStrike">
                <a:solidFill>
                  <a:srgbClr val="08163D"/>
                </a:solidFill>
                <a:latin typeface="Inter"/>
                <a:ea typeface="Inter"/>
                <a:cs typeface="Inter"/>
                <a:sym typeface="Inter"/>
              </a:rPr>
              <a:t>change strategy from results</a:t>
            </a:r>
            <a:endParaRPr b="0" i="0" sz="1070" u="none" cap="none" strike="noStrike">
              <a:solidFill>
                <a:schemeClr val="dk1"/>
              </a:solidFill>
              <a:latin typeface="Inter"/>
              <a:ea typeface="Inter"/>
              <a:cs typeface="Inter"/>
              <a:sym typeface="Inter"/>
            </a:endParaRPr>
          </a:p>
        </p:txBody>
      </p:sp>
      <p:sp>
        <p:nvSpPr>
          <p:cNvPr id="83" name="Google Shape;83;p3"/>
          <p:cNvSpPr/>
          <p:nvPr/>
        </p:nvSpPr>
        <p:spPr>
          <a:xfrm>
            <a:off x="3968496" y="4114800"/>
            <a:ext cx="777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2050"/>
              <a:buFont typeface="Inter"/>
              <a:buNone/>
            </a:pPr>
            <a:r>
              <a:rPr b="1" i="0" lang="en-US" sz="2050" u="none" cap="none" strike="noStrike">
                <a:solidFill>
                  <a:srgbClr val="5A2DFF"/>
                </a:solidFill>
                <a:latin typeface="Inter"/>
                <a:ea typeface="Inter"/>
                <a:cs typeface="Inter"/>
                <a:sym typeface="Inter"/>
              </a:rPr>
              <a:t>4/5</a:t>
            </a:r>
            <a:endParaRPr b="0" i="0" sz="2050" u="none" cap="none" strike="noStrike">
              <a:solidFill>
                <a:schemeClr val="dk1"/>
              </a:solidFill>
              <a:latin typeface="Inter"/>
              <a:ea typeface="Inter"/>
              <a:cs typeface="Inter"/>
              <a:sym typeface="Inter"/>
            </a:endParaRPr>
          </a:p>
        </p:txBody>
      </p:sp>
      <p:sp>
        <p:nvSpPr>
          <p:cNvPr id="84" name="Google Shape;84;p3"/>
          <p:cNvSpPr/>
          <p:nvPr/>
        </p:nvSpPr>
        <p:spPr>
          <a:xfrm>
            <a:off x="4873752" y="4142232"/>
            <a:ext cx="2267712" cy="29260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70"/>
              <a:buFont typeface="Inter"/>
              <a:buNone/>
            </a:pPr>
            <a:r>
              <a:rPr b="0" i="0" lang="en-US" sz="1070" u="none" cap="none" strike="noStrike">
                <a:solidFill>
                  <a:srgbClr val="08163D"/>
                </a:solidFill>
                <a:latin typeface="Inter"/>
                <a:ea typeface="Inter"/>
                <a:cs typeface="Inter"/>
                <a:sym typeface="Inter"/>
              </a:rPr>
              <a:t>want to better understand rejection</a:t>
            </a:r>
            <a:endParaRPr b="0" i="0" sz="1070" u="none" cap="none" strike="noStrike">
              <a:solidFill>
                <a:schemeClr val="dk1"/>
              </a:solidFill>
              <a:latin typeface="Inter"/>
              <a:ea typeface="Inter"/>
              <a:cs typeface="Inter"/>
              <a:sym typeface="Inter"/>
            </a:endParaRPr>
          </a:p>
        </p:txBody>
      </p:sp>
      <p:sp>
        <p:nvSpPr>
          <p:cNvPr id="85" name="Google Shape;85;p3"/>
          <p:cNvSpPr/>
          <p:nvPr/>
        </p:nvSpPr>
        <p:spPr>
          <a:xfrm>
            <a:off x="3968496" y="4684704"/>
            <a:ext cx="3154800" cy="310800"/>
          </a:xfrm>
          <a:prstGeom prst="roundRect">
            <a:avLst>
              <a:gd fmla="val 36364" name="adj"/>
            </a:avLst>
          </a:prstGeom>
          <a:solidFill>
            <a:srgbClr val="FFFFFF"/>
          </a:solidFill>
          <a:ln cap="flat" cmpd="sng" w="10150">
            <a:solidFill>
              <a:srgbClr val="E4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86" name="Google Shape;86;p3"/>
          <p:cNvSpPr/>
          <p:nvPr/>
        </p:nvSpPr>
        <p:spPr>
          <a:xfrm>
            <a:off x="3968600" y="4703000"/>
            <a:ext cx="31548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5E6F95"/>
                </a:solidFill>
                <a:latin typeface="Arial"/>
                <a:ea typeface="Arial"/>
                <a:cs typeface="Arial"/>
                <a:sym typeface="Arial"/>
              </a:rPr>
              <a:t>Small sample — used as directional evidence</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a:off x="7863840" y="1874520"/>
            <a:ext cx="3465576" cy="3401568"/>
          </a:xfrm>
          <a:prstGeom prst="roundRect">
            <a:avLst>
              <a:gd fmla="val 3226" name="adj"/>
            </a:avLst>
          </a:prstGeom>
          <a:solidFill>
            <a:srgbClr val="FFFFFF"/>
          </a:solidFill>
          <a:ln cap="flat" cmpd="sng" w="10150">
            <a:solidFill>
              <a:srgbClr val="DDE6F7"/>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88" name="Google Shape;88;p3"/>
          <p:cNvPicPr preferRelativeResize="0"/>
          <p:nvPr/>
        </p:nvPicPr>
        <p:blipFill rotWithShape="1">
          <a:blip r:embed="rId4">
            <a:alphaModFix/>
          </a:blip>
          <a:srcRect b="0" l="0" r="0" t="0"/>
          <a:stretch/>
        </p:blipFill>
        <p:spPr>
          <a:xfrm>
            <a:off x="8101584" y="2331720"/>
            <a:ext cx="2980944" cy="640080"/>
          </a:xfrm>
          <a:prstGeom prst="rect">
            <a:avLst/>
          </a:prstGeom>
          <a:noFill/>
          <a:ln>
            <a:noFill/>
          </a:ln>
        </p:spPr>
      </p:pic>
      <p:sp>
        <p:nvSpPr>
          <p:cNvPr id="89" name="Google Shape;89;p3"/>
          <p:cNvSpPr/>
          <p:nvPr/>
        </p:nvSpPr>
        <p:spPr>
          <a:xfrm>
            <a:off x="8101525" y="2574050"/>
            <a:ext cx="2981100" cy="155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80"/>
              <a:buFont typeface="Inter"/>
              <a:buNone/>
            </a:pPr>
            <a:r>
              <a:rPr b="1" i="0" lang="en-US" sz="1480" u="none" cap="none" strike="noStrike">
                <a:solidFill>
                  <a:srgbClr val="FFFFFF"/>
                </a:solidFill>
                <a:latin typeface="Inter"/>
                <a:ea typeface="Inter"/>
                <a:cs typeface="Inter"/>
                <a:sym typeface="Inter"/>
              </a:rPr>
              <a:t>REFOCUSED ON</a:t>
            </a:r>
            <a:endParaRPr b="0" i="0" sz="1480" u="none" cap="none" strike="noStrike">
              <a:solidFill>
                <a:schemeClr val="dk1"/>
              </a:solidFill>
              <a:latin typeface="Inter"/>
              <a:ea typeface="Inter"/>
              <a:cs typeface="Inter"/>
              <a:sym typeface="Inter"/>
            </a:endParaRPr>
          </a:p>
        </p:txBody>
      </p:sp>
      <p:sp>
        <p:nvSpPr>
          <p:cNvPr id="90" name="Google Shape;90;p3"/>
          <p:cNvSpPr/>
          <p:nvPr/>
        </p:nvSpPr>
        <p:spPr>
          <a:xfrm>
            <a:off x="8211312" y="3227832"/>
            <a:ext cx="2724912"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8163D"/>
              </a:buClr>
              <a:buSzPts val="2250"/>
              <a:buFont typeface="Inter"/>
              <a:buNone/>
            </a:pPr>
            <a:r>
              <a:rPr b="1" i="0" lang="en-US" sz="2250" u="none" cap="none" strike="noStrike">
                <a:solidFill>
                  <a:srgbClr val="08163D"/>
                </a:solidFill>
                <a:latin typeface="Inter"/>
                <a:ea typeface="Inter"/>
                <a:cs typeface="Inter"/>
                <a:sym typeface="Inter"/>
              </a:rPr>
              <a:t>Decision support</a:t>
            </a:r>
            <a:endParaRPr b="0" i="0" sz="2250" u="none" cap="none" strike="noStrike">
              <a:solidFill>
                <a:schemeClr val="dk1"/>
              </a:solidFill>
              <a:latin typeface="Inter"/>
              <a:ea typeface="Inter"/>
              <a:cs typeface="Inter"/>
              <a:sym typeface="Inter"/>
            </a:endParaRPr>
          </a:p>
        </p:txBody>
      </p:sp>
      <p:sp>
        <p:nvSpPr>
          <p:cNvPr id="91" name="Google Shape;91;p3"/>
          <p:cNvSpPr/>
          <p:nvPr/>
        </p:nvSpPr>
        <p:spPr>
          <a:xfrm>
            <a:off x="8321040" y="3803904"/>
            <a:ext cx="2487168" cy="84124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64708B"/>
              </a:buClr>
              <a:buSzPts val="1200"/>
              <a:buFont typeface="Inter"/>
              <a:buNone/>
            </a:pPr>
            <a:r>
              <a:rPr b="0" i="0" lang="en-US" sz="1200" u="none" cap="none" strike="noStrike">
                <a:solidFill>
                  <a:srgbClr val="64708B"/>
                </a:solidFill>
                <a:latin typeface="Inter"/>
                <a:ea typeface="Inter"/>
                <a:cs typeface="Inter"/>
                <a:sym typeface="Inter"/>
              </a:rPr>
              <a:t>Job-search evidence</a:t>
            </a:r>
            <a:endParaRPr b="0" i="0" sz="1200" u="none" cap="none" strike="noStrike">
              <a:solidFill>
                <a:schemeClr val="dk1"/>
              </a:solidFill>
              <a:latin typeface="Inter"/>
              <a:ea typeface="Inter"/>
              <a:cs typeface="Inter"/>
              <a:sym typeface="Inter"/>
            </a:endParaRPr>
          </a:p>
          <a:p>
            <a:pPr indent="0" lvl="0" marL="0" marR="0" rtl="0" algn="ctr">
              <a:lnSpc>
                <a:spcPct val="100000"/>
              </a:lnSpc>
              <a:spcBef>
                <a:spcPts val="0"/>
              </a:spcBef>
              <a:spcAft>
                <a:spcPts val="0"/>
              </a:spcAft>
              <a:buClr>
                <a:srgbClr val="64708B"/>
              </a:buClr>
              <a:buSzPts val="1200"/>
              <a:buFont typeface="Inter"/>
              <a:buNone/>
            </a:pPr>
            <a:r>
              <a:rPr b="0" i="0" lang="en-US" sz="1200" u="none" cap="none" strike="noStrike">
                <a:solidFill>
                  <a:srgbClr val="64708B"/>
                </a:solidFill>
                <a:latin typeface="Inter"/>
                <a:ea typeface="Inter"/>
                <a:cs typeface="Inter"/>
                <a:sym typeface="Inter"/>
              </a:rPr>
              <a:t>→ interpretation</a:t>
            </a:r>
            <a:endParaRPr b="0" i="0" sz="1200" u="none" cap="none" strike="noStrike">
              <a:solidFill>
                <a:schemeClr val="dk1"/>
              </a:solidFill>
              <a:latin typeface="Inter"/>
              <a:ea typeface="Inter"/>
              <a:cs typeface="Inter"/>
              <a:sym typeface="Inter"/>
            </a:endParaRPr>
          </a:p>
          <a:p>
            <a:pPr indent="0" lvl="0" marL="0" marR="0" rtl="0" algn="ctr">
              <a:lnSpc>
                <a:spcPct val="100000"/>
              </a:lnSpc>
              <a:spcBef>
                <a:spcPts val="0"/>
              </a:spcBef>
              <a:spcAft>
                <a:spcPts val="0"/>
              </a:spcAft>
              <a:buClr>
                <a:srgbClr val="64708B"/>
              </a:buClr>
              <a:buSzPts val="1200"/>
              <a:buFont typeface="Inter"/>
              <a:buNone/>
            </a:pPr>
            <a:r>
              <a:rPr b="0" i="0" lang="en-US" sz="1200" u="none" cap="none" strike="noStrike">
                <a:solidFill>
                  <a:srgbClr val="64708B"/>
                </a:solidFill>
                <a:latin typeface="Inter"/>
                <a:ea typeface="Inter"/>
                <a:cs typeface="Inter"/>
                <a:sym typeface="Inter"/>
              </a:rPr>
              <a:t>→ possible next action</a:t>
            </a:r>
            <a:endParaRPr b="0" i="0" sz="1200" u="none" cap="none" strike="noStrike">
              <a:solidFill>
                <a:schemeClr val="dk1"/>
              </a:solidFill>
              <a:latin typeface="Inter"/>
              <a:ea typeface="Inter"/>
              <a:cs typeface="Inter"/>
              <a:sym typeface="Inter"/>
            </a:endParaRPr>
          </a:p>
        </p:txBody>
      </p:sp>
      <p:cxnSp>
        <p:nvCxnSpPr>
          <p:cNvPr id="92" name="Google Shape;92;p3"/>
          <p:cNvCxnSpPr/>
          <p:nvPr/>
        </p:nvCxnSpPr>
        <p:spPr>
          <a:xfrm>
            <a:off x="3364992" y="3575304"/>
            <a:ext cx="237744" cy="0"/>
          </a:xfrm>
          <a:prstGeom prst="straightConnector1">
            <a:avLst/>
          </a:prstGeom>
          <a:noFill/>
          <a:ln cap="flat" cmpd="sng" w="30475">
            <a:solidFill>
              <a:srgbClr val="1B5CFF"/>
            </a:solidFill>
            <a:prstDash val="solid"/>
            <a:round/>
            <a:headEnd len="sm" w="sm" type="none"/>
            <a:tailEnd len="med" w="med" type="triangle"/>
          </a:ln>
        </p:spPr>
      </p:cxnSp>
      <p:cxnSp>
        <p:nvCxnSpPr>
          <p:cNvPr id="93" name="Google Shape;93;p3"/>
          <p:cNvCxnSpPr/>
          <p:nvPr/>
        </p:nvCxnSpPr>
        <p:spPr>
          <a:xfrm>
            <a:off x="7525512" y="3575304"/>
            <a:ext cx="237744" cy="0"/>
          </a:xfrm>
          <a:prstGeom prst="straightConnector1">
            <a:avLst/>
          </a:prstGeom>
          <a:noFill/>
          <a:ln cap="flat" cmpd="sng" w="30475">
            <a:solidFill>
              <a:srgbClr val="5A2DFF"/>
            </a:solidFill>
            <a:prstDash val="solid"/>
            <a:round/>
            <a:headEnd len="sm" w="sm" type="none"/>
            <a:tailEnd len="med" w="med" type="triangle"/>
          </a:ln>
        </p:spPr>
      </p:cxnSp>
      <p:sp>
        <p:nvSpPr>
          <p:cNvPr id="94" name="Google Shape;94;p3"/>
          <p:cNvSpPr/>
          <p:nvPr/>
        </p:nvSpPr>
        <p:spPr>
          <a:xfrm>
            <a:off x="402336" y="6025896"/>
            <a:ext cx="11018520" cy="347472"/>
          </a:xfrm>
          <a:prstGeom prst="roundRect">
            <a:avLst>
              <a:gd fmla="val 31579" name="adj"/>
            </a:avLst>
          </a:prstGeom>
          <a:solidFill>
            <a:srgbClr val="FFFFFF"/>
          </a:solidFill>
          <a:ln cap="flat" cmpd="sng" w="10150">
            <a:solidFill>
              <a:srgbClr val="DCE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95" name="Google Shape;95;p3"/>
          <p:cNvPicPr preferRelativeResize="0"/>
          <p:nvPr/>
        </p:nvPicPr>
        <p:blipFill rotWithShape="1">
          <a:blip r:embed="rId5">
            <a:alphaModFix/>
          </a:blip>
          <a:srcRect b="0" l="0" r="0" t="0"/>
          <a:stretch/>
        </p:blipFill>
        <p:spPr>
          <a:xfrm>
            <a:off x="585216" y="6103620"/>
            <a:ext cx="146304" cy="146304"/>
          </a:xfrm>
          <a:prstGeom prst="rect">
            <a:avLst/>
          </a:prstGeom>
          <a:noFill/>
          <a:ln>
            <a:noFill/>
          </a:ln>
        </p:spPr>
      </p:pic>
      <p:sp>
        <p:nvSpPr>
          <p:cNvPr id="96" name="Google Shape;96;p3"/>
          <p:cNvSpPr/>
          <p:nvPr/>
        </p:nvSpPr>
        <p:spPr>
          <a:xfrm>
            <a:off x="786384" y="6101050"/>
            <a:ext cx="9600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780"/>
              <a:buFont typeface="Inter"/>
              <a:buNone/>
            </a:pPr>
            <a:r>
              <a:rPr b="1" i="0" lang="en-US" sz="780" u="none" cap="none" strike="noStrike">
                <a:solidFill>
                  <a:srgbClr val="5A2DFF"/>
                </a:solidFill>
                <a:latin typeface="Inter"/>
                <a:ea typeface="Inter"/>
                <a:cs typeface="Inter"/>
                <a:sym typeface="Inter"/>
              </a:rPr>
              <a:t>AI accelerated</a:t>
            </a:r>
            <a:endParaRPr b="0" i="0" sz="780" u="none" cap="none" strike="noStrike">
              <a:solidFill>
                <a:schemeClr val="dk1"/>
              </a:solidFill>
              <a:latin typeface="Inter"/>
              <a:ea typeface="Inter"/>
              <a:cs typeface="Inter"/>
              <a:sym typeface="Inter"/>
            </a:endParaRPr>
          </a:p>
        </p:txBody>
      </p:sp>
      <p:sp>
        <p:nvSpPr>
          <p:cNvPr id="97" name="Google Shape;97;p3"/>
          <p:cNvSpPr/>
          <p:nvPr/>
        </p:nvSpPr>
        <p:spPr>
          <a:xfrm>
            <a:off x="1719072" y="6094287"/>
            <a:ext cx="30906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80"/>
              <a:buFont typeface="Inter"/>
              <a:buNone/>
            </a:pPr>
            <a:r>
              <a:rPr b="0" i="0" lang="en-US" sz="780" u="none" cap="none" strike="noStrike">
                <a:solidFill>
                  <a:srgbClr val="64708B"/>
                </a:solidFill>
                <a:latin typeface="Inter"/>
                <a:ea typeface="Inter"/>
                <a:cs typeface="Inter"/>
                <a:sym typeface="Inter"/>
              </a:rPr>
              <a:t>research synthesis + hypothesis organisation</a:t>
            </a:r>
            <a:endParaRPr b="0" i="0" sz="780" u="none" cap="none" strike="noStrike">
              <a:solidFill>
                <a:schemeClr val="dk1"/>
              </a:solidFill>
              <a:latin typeface="Inter"/>
              <a:ea typeface="Inter"/>
              <a:cs typeface="Inter"/>
              <a:sym typeface="Inter"/>
            </a:endParaRPr>
          </a:p>
        </p:txBody>
      </p:sp>
      <p:cxnSp>
        <p:nvCxnSpPr>
          <p:cNvPr id="98" name="Google Shape;98;p3"/>
          <p:cNvCxnSpPr/>
          <p:nvPr/>
        </p:nvCxnSpPr>
        <p:spPr>
          <a:xfrm>
            <a:off x="5010912" y="6099048"/>
            <a:ext cx="0" cy="201168"/>
          </a:xfrm>
          <a:prstGeom prst="straightConnector1">
            <a:avLst/>
          </a:prstGeom>
          <a:noFill/>
          <a:ln cap="flat" cmpd="sng" w="12700">
            <a:solidFill>
              <a:srgbClr val="D9E1F1"/>
            </a:solidFill>
            <a:prstDash val="solid"/>
            <a:round/>
            <a:headEnd len="sm" w="sm" type="none"/>
            <a:tailEnd len="sm" w="sm" type="none"/>
          </a:ln>
        </p:spPr>
      </p:cxnSp>
      <p:pic>
        <p:nvPicPr>
          <p:cNvPr descr="preencoded.png" id="99" name="Google Shape;99;p3"/>
          <p:cNvPicPr preferRelativeResize="0"/>
          <p:nvPr/>
        </p:nvPicPr>
        <p:blipFill rotWithShape="1">
          <a:blip r:embed="rId6">
            <a:alphaModFix/>
          </a:blip>
          <a:srcRect b="0" l="0" r="0" t="0"/>
          <a:stretch/>
        </p:blipFill>
        <p:spPr>
          <a:xfrm>
            <a:off x="5230368" y="6103620"/>
            <a:ext cx="146304" cy="146304"/>
          </a:xfrm>
          <a:prstGeom prst="rect">
            <a:avLst/>
          </a:prstGeom>
          <a:noFill/>
          <a:ln>
            <a:noFill/>
          </a:ln>
        </p:spPr>
      </p:pic>
      <p:sp>
        <p:nvSpPr>
          <p:cNvPr id="100" name="Google Shape;100;p3"/>
          <p:cNvSpPr/>
          <p:nvPr/>
        </p:nvSpPr>
        <p:spPr>
          <a:xfrm>
            <a:off x="5431536" y="6087523"/>
            <a:ext cx="10059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CFF"/>
              </a:buClr>
              <a:buSzPts val="780"/>
              <a:buFont typeface="Inter"/>
              <a:buNone/>
            </a:pPr>
            <a:r>
              <a:rPr b="1" i="0" lang="en-US" sz="780" u="none" cap="none" strike="noStrike">
                <a:solidFill>
                  <a:srgbClr val="1B5CFF"/>
                </a:solidFill>
                <a:latin typeface="Inter"/>
                <a:ea typeface="Inter"/>
                <a:cs typeface="Inter"/>
                <a:sym typeface="Inter"/>
              </a:rPr>
              <a:t>Human decision</a:t>
            </a:r>
            <a:endParaRPr b="0" i="0" sz="780" u="none" cap="none" strike="noStrike">
              <a:solidFill>
                <a:schemeClr val="dk1"/>
              </a:solidFill>
              <a:latin typeface="Inter"/>
              <a:ea typeface="Inter"/>
              <a:cs typeface="Inter"/>
              <a:sym typeface="Inter"/>
            </a:endParaRPr>
          </a:p>
        </p:txBody>
      </p:sp>
      <p:sp>
        <p:nvSpPr>
          <p:cNvPr id="101" name="Google Shape;101;p3"/>
          <p:cNvSpPr/>
          <p:nvPr/>
        </p:nvSpPr>
        <p:spPr>
          <a:xfrm>
            <a:off x="6492240" y="6087523"/>
            <a:ext cx="45264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80"/>
              <a:buFont typeface="Inter"/>
              <a:buNone/>
            </a:pPr>
            <a:r>
              <a:rPr b="0" i="0" lang="en-US" sz="780" u="none" cap="none" strike="noStrike">
                <a:solidFill>
                  <a:srgbClr val="64708B"/>
                </a:solidFill>
                <a:latin typeface="Inter"/>
                <a:ea typeface="Inter"/>
                <a:cs typeface="Inter"/>
                <a:sym typeface="Inter"/>
              </a:rPr>
              <a:t>changed the original concept instead of defending it</a:t>
            </a:r>
            <a:endParaRPr b="0" i="0" sz="780" u="none" cap="none" strike="noStrike">
              <a:solidFill>
                <a:schemeClr val="dk1"/>
              </a:solidFill>
              <a:latin typeface="Inter"/>
              <a:ea typeface="Inter"/>
              <a:cs typeface="Inter"/>
              <a:sym typeface="Inter"/>
            </a:endParaRPr>
          </a:p>
        </p:txBody>
      </p:sp>
      <p:pic>
        <p:nvPicPr>
          <p:cNvPr id="102" name="Google Shape;102;p3" title="CareerPilot_Visual Identity (2).png"/>
          <p:cNvPicPr preferRelativeResize="0"/>
          <p:nvPr/>
        </p:nvPicPr>
        <p:blipFill rotWithShape="1">
          <a:blip r:embed="rId7">
            <a:alphaModFix amt="50000"/>
          </a:blip>
          <a:srcRect b="0" l="0" r="0" t="0"/>
          <a:stretch/>
        </p:blipFill>
        <p:spPr>
          <a:xfrm>
            <a:off x="11192248" y="265173"/>
            <a:ext cx="539500" cy="562113"/>
          </a:xfrm>
          <a:prstGeom prst="rect">
            <a:avLst/>
          </a:prstGeom>
          <a:noFill/>
          <a:ln>
            <a:noFill/>
          </a:ln>
        </p:spPr>
      </p:pic>
      <p:sp>
        <p:nvSpPr>
          <p:cNvPr id="103" name="Google Shape;103;p3"/>
          <p:cNvSpPr txBox="1"/>
          <p:nvPr/>
        </p:nvSpPr>
        <p:spPr>
          <a:xfrm>
            <a:off x="411475" y="4938148"/>
            <a:ext cx="2880300" cy="22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30"/>
              <a:buFont typeface="Arial"/>
              <a:buNone/>
            </a:pPr>
            <a:r>
              <a:rPr b="0" i="1" lang="en-US" sz="830" u="none" cap="none" strike="noStrike">
                <a:solidFill>
                  <a:srgbClr val="5E6F95"/>
                </a:solidFill>
                <a:latin typeface="Arial"/>
                <a:ea typeface="Arial"/>
                <a:cs typeface="Arial"/>
                <a:sym typeface="Arial"/>
              </a:rPr>
              <a:t>Contextual evidence — not CareerPilot validation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03  ·  COMPETITIVE INSIGHT</a:t>
            </a:r>
            <a:endParaRPr b="0" i="0" sz="950" u="none" cap="none" strike="noStrike">
              <a:solidFill>
                <a:schemeClr val="dk1"/>
              </a:solidFill>
              <a:latin typeface="Inter"/>
              <a:ea typeface="Inter"/>
              <a:cs typeface="Inter"/>
              <a:sym typeface="Inter"/>
            </a:endParaRPr>
          </a:p>
        </p:txBody>
      </p:sp>
      <p:sp>
        <p:nvSpPr>
          <p:cNvPr id="110" name="Google Shape;110;p4"/>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04</a:t>
            </a:r>
            <a:endParaRPr b="0" i="0" sz="850" u="none" cap="none" strike="noStrike">
              <a:solidFill>
                <a:schemeClr val="dk1"/>
              </a:solidFill>
              <a:latin typeface="Inter"/>
              <a:ea typeface="Inter"/>
              <a:cs typeface="Inter"/>
              <a:sym typeface="Inter"/>
            </a:endParaRPr>
          </a:p>
        </p:txBody>
      </p:sp>
      <p:sp>
        <p:nvSpPr>
          <p:cNvPr id="111" name="Google Shape;111;p4"/>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112" name="Google Shape;112;p4"/>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750"/>
              <a:buFont typeface="Inter"/>
              <a:buNone/>
            </a:pPr>
            <a:r>
              <a:rPr b="1" i="0" lang="en-US" sz="2750" u="none" cap="none" strike="noStrike">
                <a:solidFill>
                  <a:srgbClr val="08163D"/>
                </a:solidFill>
                <a:latin typeface="Inter"/>
                <a:ea typeface="Inter"/>
                <a:cs typeface="Inter"/>
                <a:sym typeface="Inter"/>
              </a:rPr>
              <a:t>Competitors confirmed the need to differentiate.</a:t>
            </a:r>
            <a:endParaRPr b="0" i="0" sz="2750" u="none" cap="none" strike="noStrike">
              <a:solidFill>
                <a:schemeClr val="dk1"/>
              </a:solidFill>
              <a:latin typeface="Inter"/>
              <a:ea typeface="Inter"/>
              <a:cs typeface="Inter"/>
              <a:sym typeface="Inter"/>
            </a:endParaRPr>
          </a:p>
        </p:txBody>
      </p:sp>
      <p:sp>
        <p:nvSpPr>
          <p:cNvPr id="113" name="Google Shape;113;p4"/>
          <p:cNvSpPr/>
          <p:nvPr/>
        </p:nvSpPr>
        <p:spPr>
          <a:xfrm>
            <a:off x="411480" y="1207008"/>
            <a:ext cx="10058400" cy="31089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1170"/>
              <a:buFont typeface="Inter"/>
              <a:buNone/>
            </a:pPr>
            <a:r>
              <a:rPr b="0" i="0" lang="en-US" sz="1170" u="none" cap="none" strike="noStrike">
                <a:solidFill>
                  <a:srgbClr val="64708B"/>
                </a:solidFill>
                <a:latin typeface="Inter"/>
                <a:ea typeface="Inter"/>
                <a:cs typeface="Inter"/>
                <a:sym typeface="Inter"/>
              </a:rPr>
              <a:t>The opportunity was not to copy existing workflow tools — it was to connect evidence with interpretation and next actions.</a:t>
            </a:r>
            <a:endParaRPr b="0" i="0" sz="1170" u="none" cap="none" strike="noStrike">
              <a:solidFill>
                <a:schemeClr val="dk1"/>
              </a:solidFill>
              <a:latin typeface="Inter"/>
              <a:ea typeface="Inter"/>
              <a:cs typeface="Inter"/>
              <a:sym typeface="Inter"/>
            </a:endParaRPr>
          </a:p>
        </p:txBody>
      </p:sp>
      <p:sp>
        <p:nvSpPr>
          <p:cNvPr id="114" name="Google Shape;114;p4"/>
          <p:cNvSpPr/>
          <p:nvPr/>
        </p:nvSpPr>
        <p:spPr>
          <a:xfrm>
            <a:off x="658368" y="1847088"/>
            <a:ext cx="10881360" cy="3602736"/>
          </a:xfrm>
          <a:prstGeom prst="roundRect">
            <a:avLst>
              <a:gd fmla="val 3046" name="adj"/>
            </a:avLst>
          </a:prstGeom>
          <a:solidFill>
            <a:srgbClr val="FFFFFF"/>
          </a:solidFill>
          <a:ln cap="flat" cmpd="sng" w="10150">
            <a:solidFill>
              <a:srgbClr val="DDE5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115" name="Google Shape;115;p4"/>
          <p:cNvSpPr/>
          <p:nvPr/>
        </p:nvSpPr>
        <p:spPr>
          <a:xfrm>
            <a:off x="658368" y="1847088"/>
            <a:ext cx="10881360" cy="438912"/>
          </a:xfrm>
          <a:prstGeom prst="rect">
            <a:avLst/>
          </a:prstGeom>
          <a:solidFill>
            <a:srgbClr val="EAF4FF"/>
          </a:solidFill>
          <a:ln cap="flat" cmpd="sng" w="12700">
            <a:solidFill>
              <a:srgbClr val="DDE5F2">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116" name="Google Shape;116;p4"/>
          <p:cNvSpPr/>
          <p:nvPr/>
        </p:nvSpPr>
        <p:spPr>
          <a:xfrm>
            <a:off x="859536" y="1993392"/>
            <a:ext cx="132588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5CFF"/>
              </a:buClr>
              <a:buSzPts val="870"/>
              <a:buFont typeface="Inter"/>
              <a:buNone/>
            </a:pPr>
            <a:r>
              <a:rPr b="1" i="0" lang="en-US" sz="870" u="none" cap="none" strike="noStrike">
                <a:solidFill>
                  <a:srgbClr val="1B5CFF"/>
                </a:solidFill>
                <a:latin typeface="Inter"/>
                <a:ea typeface="Inter"/>
                <a:cs typeface="Inter"/>
                <a:sym typeface="Inter"/>
              </a:rPr>
              <a:t>Tool</a:t>
            </a:r>
            <a:endParaRPr b="0" i="0" sz="870" u="none" cap="none" strike="noStrike">
              <a:solidFill>
                <a:schemeClr val="dk1"/>
              </a:solidFill>
              <a:latin typeface="Inter"/>
              <a:ea typeface="Inter"/>
              <a:cs typeface="Inter"/>
              <a:sym typeface="Inter"/>
            </a:endParaRPr>
          </a:p>
        </p:txBody>
      </p:sp>
      <p:sp>
        <p:nvSpPr>
          <p:cNvPr id="117" name="Google Shape;117;p4"/>
          <p:cNvSpPr/>
          <p:nvPr/>
        </p:nvSpPr>
        <p:spPr>
          <a:xfrm>
            <a:off x="2505456" y="1993392"/>
            <a:ext cx="210312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5CFF"/>
              </a:buClr>
              <a:buSzPts val="870"/>
              <a:buFont typeface="Inter"/>
              <a:buNone/>
            </a:pPr>
            <a:r>
              <a:rPr b="1" i="0" lang="en-US" sz="870" u="none" cap="none" strike="noStrike">
                <a:solidFill>
                  <a:srgbClr val="1B5CFF"/>
                </a:solidFill>
                <a:latin typeface="Inter"/>
                <a:ea typeface="Inter"/>
                <a:cs typeface="Inter"/>
                <a:sym typeface="Inter"/>
              </a:rPr>
              <a:t>Strong in</a:t>
            </a:r>
            <a:endParaRPr b="0" i="0" sz="870" u="none" cap="none" strike="noStrike">
              <a:solidFill>
                <a:schemeClr val="dk1"/>
              </a:solidFill>
              <a:latin typeface="Inter"/>
              <a:ea typeface="Inter"/>
              <a:cs typeface="Inter"/>
              <a:sym typeface="Inter"/>
            </a:endParaRPr>
          </a:p>
        </p:txBody>
      </p:sp>
      <p:sp>
        <p:nvSpPr>
          <p:cNvPr id="118" name="Google Shape;118;p4"/>
          <p:cNvSpPr/>
          <p:nvPr/>
        </p:nvSpPr>
        <p:spPr>
          <a:xfrm>
            <a:off x="5230368" y="1993392"/>
            <a:ext cx="265176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5CFF"/>
              </a:buClr>
              <a:buSzPts val="870"/>
              <a:buFont typeface="Inter"/>
              <a:buNone/>
            </a:pPr>
            <a:r>
              <a:rPr b="1" i="0" lang="en-US" sz="870" u="none" cap="none" strike="noStrike">
                <a:solidFill>
                  <a:srgbClr val="1B5CFF"/>
                </a:solidFill>
                <a:latin typeface="Inter"/>
                <a:ea typeface="Inter"/>
                <a:cs typeface="Inter"/>
                <a:sym typeface="Inter"/>
              </a:rPr>
              <a:t>What it proved</a:t>
            </a:r>
            <a:endParaRPr b="0" i="0" sz="870" u="none" cap="none" strike="noStrike">
              <a:solidFill>
                <a:schemeClr val="dk1"/>
              </a:solidFill>
              <a:latin typeface="Inter"/>
              <a:ea typeface="Inter"/>
              <a:cs typeface="Inter"/>
              <a:sym typeface="Inter"/>
            </a:endParaRPr>
          </a:p>
        </p:txBody>
      </p:sp>
      <p:sp>
        <p:nvSpPr>
          <p:cNvPr id="119" name="Google Shape;119;p4"/>
          <p:cNvSpPr/>
          <p:nvPr/>
        </p:nvSpPr>
        <p:spPr>
          <a:xfrm>
            <a:off x="8467344" y="1993392"/>
            <a:ext cx="260604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5CFF"/>
              </a:buClr>
              <a:buSzPts val="870"/>
              <a:buFont typeface="Inter"/>
              <a:buNone/>
            </a:pPr>
            <a:r>
              <a:rPr b="1" i="0" lang="en-US" sz="870" u="none" cap="none" strike="noStrike">
                <a:solidFill>
                  <a:srgbClr val="1B5CFF"/>
                </a:solidFill>
                <a:latin typeface="Inter"/>
                <a:ea typeface="Inter"/>
                <a:cs typeface="Inter"/>
                <a:sym typeface="Inter"/>
              </a:rPr>
              <a:t>CareerPilot decision</a:t>
            </a:r>
            <a:endParaRPr b="0" i="0" sz="870" u="none" cap="none" strike="noStrike">
              <a:solidFill>
                <a:schemeClr val="dk1"/>
              </a:solidFill>
              <a:latin typeface="Inter"/>
              <a:ea typeface="Inter"/>
              <a:cs typeface="Inter"/>
              <a:sym typeface="Inter"/>
            </a:endParaRPr>
          </a:p>
        </p:txBody>
      </p:sp>
      <p:sp>
        <p:nvSpPr>
          <p:cNvPr id="120" name="Google Shape;120;p4"/>
          <p:cNvSpPr/>
          <p:nvPr/>
        </p:nvSpPr>
        <p:spPr>
          <a:xfrm>
            <a:off x="2286000" y="2286000"/>
            <a:ext cx="2743200" cy="9327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01A3A"/>
              </a:buClr>
              <a:buSzPts val="939"/>
              <a:buFont typeface="Inter"/>
              <a:buNone/>
            </a:pPr>
            <a:r>
              <a:rPr b="0" i="0" lang="en-US" sz="940" u="none" cap="none" strike="noStrike">
                <a:solidFill>
                  <a:srgbClr val="101A3A"/>
                </a:solidFill>
                <a:latin typeface="Inter"/>
                <a:ea typeface="Inter"/>
                <a:cs typeface="Inter"/>
                <a:sym typeface="Inter"/>
              </a:rPr>
              <a:t>CV and cover-letter creation</a:t>
            </a:r>
            <a:endParaRPr b="0" i="0" sz="940" u="none" cap="none" strike="noStrike">
              <a:solidFill>
                <a:schemeClr val="dk1"/>
              </a:solidFill>
              <a:latin typeface="Inter"/>
              <a:ea typeface="Inter"/>
              <a:cs typeface="Inter"/>
              <a:sym typeface="Inter"/>
            </a:endParaRPr>
          </a:p>
        </p:txBody>
      </p:sp>
      <p:sp>
        <p:nvSpPr>
          <p:cNvPr id="121" name="Google Shape;121;p4"/>
          <p:cNvSpPr/>
          <p:nvPr/>
        </p:nvSpPr>
        <p:spPr>
          <a:xfrm>
            <a:off x="5230375" y="2286049"/>
            <a:ext cx="2743200" cy="9327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01A3A"/>
              </a:buClr>
              <a:buSzPts val="939"/>
              <a:buFont typeface="Inter"/>
              <a:buNone/>
            </a:pPr>
            <a:r>
              <a:rPr b="0" i="0" lang="en-US" sz="940" u="none" cap="none" strike="noStrike">
                <a:solidFill>
                  <a:srgbClr val="101A3A"/>
                </a:solidFill>
                <a:latin typeface="Inter"/>
                <a:ea typeface="Inter"/>
                <a:cs typeface="Inter"/>
                <a:sym typeface="Inter"/>
              </a:rPr>
              <a:t>CV creation is already well served.</a:t>
            </a:r>
            <a:endParaRPr b="0" i="0" sz="940" u="none" cap="none" strike="noStrike">
              <a:solidFill>
                <a:schemeClr val="dk1"/>
              </a:solidFill>
              <a:latin typeface="Inter"/>
              <a:ea typeface="Inter"/>
              <a:cs typeface="Inter"/>
              <a:sym typeface="Inter"/>
            </a:endParaRPr>
          </a:p>
        </p:txBody>
      </p:sp>
      <p:sp>
        <p:nvSpPr>
          <p:cNvPr id="122" name="Google Shape;122;p4"/>
          <p:cNvSpPr/>
          <p:nvPr/>
        </p:nvSpPr>
        <p:spPr>
          <a:xfrm>
            <a:off x="8499350" y="2286049"/>
            <a:ext cx="2541900" cy="9327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B5CFF"/>
              </a:buClr>
              <a:buSzPts val="939"/>
              <a:buFont typeface="Inter"/>
              <a:buNone/>
            </a:pPr>
            <a:r>
              <a:rPr b="1" i="0" lang="en-US" sz="940" u="none" cap="none" strike="noStrike">
                <a:solidFill>
                  <a:srgbClr val="1B5CFF"/>
                </a:solidFill>
                <a:latin typeface="Inter"/>
                <a:ea typeface="Inter"/>
                <a:cs typeface="Inter"/>
                <a:sym typeface="Inter"/>
              </a:rPr>
              <a:t>Do not compete on advanced visual CV building.</a:t>
            </a:r>
            <a:endParaRPr b="0" i="0" sz="940" u="none" cap="none" strike="noStrike">
              <a:solidFill>
                <a:schemeClr val="dk1"/>
              </a:solidFill>
              <a:latin typeface="Inter"/>
              <a:ea typeface="Inter"/>
              <a:cs typeface="Inter"/>
              <a:sym typeface="Inter"/>
            </a:endParaRPr>
          </a:p>
        </p:txBody>
      </p:sp>
      <p:cxnSp>
        <p:nvCxnSpPr>
          <p:cNvPr id="123" name="Google Shape;123;p4"/>
          <p:cNvCxnSpPr/>
          <p:nvPr/>
        </p:nvCxnSpPr>
        <p:spPr>
          <a:xfrm>
            <a:off x="841248" y="3218688"/>
            <a:ext cx="10469880" cy="0"/>
          </a:xfrm>
          <a:prstGeom prst="straightConnector1">
            <a:avLst/>
          </a:prstGeom>
          <a:noFill/>
          <a:ln cap="flat" cmpd="sng" w="12700">
            <a:solidFill>
              <a:srgbClr val="E5EAF4"/>
            </a:solidFill>
            <a:prstDash val="solid"/>
            <a:round/>
            <a:headEnd len="sm" w="sm" type="none"/>
            <a:tailEnd len="sm" w="sm" type="none"/>
          </a:ln>
        </p:spPr>
      </p:cxnSp>
      <p:sp>
        <p:nvSpPr>
          <p:cNvPr id="124" name="Google Shape;124;p4"/>
          <p:cNvSpPr/>
          <p:nvPr/>
        </p:nvSpPr>
        <p:spPr>
          <a:xfrm>
            <a:off x="2505450" y="3218698"/>
            <a:ext cx="2240400" cy="932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01A3A"/>
              </a:buClr>
              <a:buSzPts val="939"/>
              <a:buFont typeface="Inter"/>
              <a:buNone/>
            </a:pPr>
            <a:r>
              <a:rPr b="0" i="0" lang="en-US" sz="940" u="none" cap="none" strike="noStrike">
                <a:solidFill>
                  <a:srgbClr val="101A3A"/>
                </a:solidFill>
                <a:latin typeface="Inter"/>
                <a:ea typeface="Inter"/>
                <a:cs typeface="Inter"/>
                <a:sym typeface="Inter"/>
              </a:rPr>
              <a:t>Job capture, tracking, workflow and AI docs</a:t>
            </a:r>
            <a:endParaRPr b="0" i="0" sz="940" u="none" cap="none" strike="noStrike">
              <a:solidFill>
                <a:schemeClr val="dk1"/>
              </a:solidFill>
              <a:latin typeface="Inter"/>
              <a:ea typeface="Inter"/>
              <a:cs typeface="Inter"/>
              <a:sym typeface="Inter"/>
            </a:endParaRPr>
          </a:p>
        </p:txBody>
      </p:sp>
      <p:sp>
        <p:nvSpPr>
          <p:cNvPr id="125" name="Google Shape;125;p4"/>
          <p:cNvSpPr/>
          <p:nvPr/>
        </p:nvSpPr>
        <p:spPr>
          <a:xfrm>
            <a:off x="5230375" y="3218698"/>
            <a:ext cx="2743200" cy="9327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01A3A"/>
              </a:buClr>
              <a:buSzPts val="939"/>
              <a:buFont typeface="Inter"/>
              <a:buNone/>
            </a:pPr>
            <a:r>
              <a:rPr b="0" i="0" lang="en-US" sz="940" u="none" cap="none" strike="noStrike">
                <a:solidFill>
                  <a:srgbClr val="101A3A"/>
                </a:solidFill>
                <a:latin typeface="Inter"/>
                <a:ea typeface="Inter"/>
                <a:cs typeface="Inter"/>
                <a:sym typeface="Inter"/>
              </a:rPr>
              <a:t>Tracker + AI is already an established proposition.</a:t>
            </a:r>
            <a:endParaRPr b="0" i="0" sz="940" u="none" cap="none" strike="noStrike">
              <a:solidFill>
                <a:schemeClr val="dk1"/>
              </a:solidFill>
              <a:latin typeface="Inter"/>
              <a:ea typeface="Inter"/>
              <a:cs typeface="Inter"/>
              <a:sym typeface="Inter"/>
            </a:endParaRPr>
          </a:p>
        </p:txBody>
      </p:sp>
      <p:sp>
        <p:nvSpPr>
          <p:cNvPr id="126" name="Google Shape;126;p4"/>
          <p:cNvSpPr/>
          <p:nvPr/>
        </p:nvSpPr>
        <p:spPr>
          <a:xfrm>
            <a:off x="8467350" y="3200398"/>
            <a:ext cx="2541900" cy="9510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B5CFF"/>
              </a:buClr>
              <a:buSzPts val="939"/>
              <a:buFont typeface="Inter"/>
              <a:buNone/>
            </a:pPr>
            <a:r>
              <a:rPr b="1" i="0" lang="en-US" sz="940" u="none" cap="none" strike="noStrike">
                <a:solidFill>
                  <a:srgbClr val="1B5CFF"/>
                </a:solidFill>
                <a:latin typeface="Inter"/>
                <a:ea typeface="Inter"/>
                <a:cs typeface="Inter"/>
                <a:sym typeface="Inter"/>
              </a:rPr>
              <a:t>Make tracking support interpretation, not define the product.</a:t>
            </a:r>
            <a:endParaRPr b="0" i="0" sz="940" u="none" cap="none" strike="noStrike">
              <a:solidFill>
                <a:schemeClr val="dk1"/>
              </a:solidFill>
              <a:latin typeface="Inter"/>
              <a:ea typeface="Inter"/>
              <a:cs typeface="Inter"/>
              <a:sym typeface="Inter"/>
            </a:endParaRPr>
          </a:p>
        </p:txBody>
      </p:sp>
      <p:cxnSp>
        <p:nvCxnSpPr>
          <p:cNvPr id="127" name="Google Shape;127;p4"/>
          <p:cNvCxnSpPr/>
          <p:nvPr/>
        </p:nvCxnSpPr>
        <p:spPr>
          <a:xfrm>
            <a:off x="841248" y="4151376"/>
            <a:ext cx="10469880" cy="0"/>
          </a:xfrm>
          <a:prstGeom prst="straightConnector1">
            <a:avLst/>
          </a:prstGeom>
          <a:noFill/>
          <a:ln cap="flat" cmpd="sng" w="12700">
            <a:solidFill>
              <a:srgbClr val="E5EAF4"/>
            </a:solidFill>
            <a:prstDash val="solid"/>
            <a:round/>
            <a:headEnd len="sm" w="sm" type="none"/>
            <a:tailEnd len="sm" w="sm" type="none"/>
          </a:ln>
        </p:spPr>
      </p:cxnSp>
      <p:sp>
        <p:nvSpPr>
          <p:cNvPr id="128" name="Google Shape;128;p4"/>
          <p:cNvSpPr/>
          <p:nvPr/>
        </p:nvSpPr>
        <p:spPr>
          <a:xfrm>
            <a:off x="2505450" y="4151400"/>
            <a:ext cx="2240400" cy="1298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01A3A"/>
              </a:buClr>
              <a:buSzPts val="939"/>
              <a:buFont typeface="Inter"/>
              <a:buNone/>
            </a:pPr>
            <a:r>
              <a:rPr b="0" i="0" lang="en-US" sz="940" u="none" cap="none" strike="noStrike">
                <a:solidFill>
                  <a:srgbClr val="101A3A"/>
                </a:solidFill>
                <a:latin typeface="Inter"/>
                <a:ea typeface="Inter"/>
                <a:cs typeface="Inter"/>
                <a:sym typeface="Inter"/>
              </a:rPr>
              <a:t>Integrated job-search workspace, resume tools and metrics</a:t>
            </a:r>
            <a:endParaRPr b="0" i="0" sz="940" u="none" cap="none" strike="noStrike">
              <a:solidFill>
                <a:schemeClr val="dk1"/>
              </a:solidFill>
              <a:latin typeface="Inter"/>
              <a:ea typeface="Inter"/>
              <a:cs typeface="Inter"/>
              <a:sym typeface="Inter"/>
            </a:endParaRPr>
          </a:p>
        </p:txBody>
      </p:sp>
      <p:sp>
        <p:nvSpPr>
          <p:cNvPr id="129" name="Google Shape;129;p4"/>
          <p:cNvSpPr/>
          <p:nvPr/>
        </p:nvSpPr>
        <p:spPr>
          <a:xfrm>
            <a:off x="5230375" y="4151425"/>
            <a:ext cx="2743200" cy="12984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01A3A"/>
              </a:buClr>
              <a:buSzPts val="939"/>
              <a:buFont typeface="Inter"/>
              <a:buNone/>
            </a:pPr>
            <a:r>
              <a:rPr b="0" i="0" lang="en-US" sz="940" u="none" cap="none" strike="noStrike">
                <a:solidFill>
                  <a:srgbClr val="101A3A"/>
                </a:solidFill>
                <a:latin typeface="Inter"/>
                <a:ea typeface="Inter"/>
                <a:cs typeface="Inter"/>
                <a:sym typeface="Inter"/>
              </a:rPr>
              <a:t>All-in-one workspace alone is not enough differentiation.</a:t>
            </a:r>
            <a:endParaRPr b="0" i="0" sz="940" u="none" cap="none" strike="noStrike">
              <a:solidFill>
                <a:schemeClr val="dk1"/>
              </a:solidFill>
              <a:latin typeface="Inter"/>
              <a:ea typeface="Inter"/>
              <a:cs typeface="Inter"/>
              <a:sym typeface="Inter"/>
            </a:endParaRPr>
          </a:p>
        </p:txBody>
      </p:sp>
      <p:sp>
        <p:nvSpPr>
          <p:cNvPr id="130" name="Google Shape;130;p4"/>
          <p:cNvSpPr/>
          <p:nvPr/>
        </p:nvSpPr>
        <p:spPr>
          <a:xfrm>
            <a:off x="8467350" y="4151425"/>
            <a:ext cx="2541900" cy="12984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5A2DFF"/>
              </a:buClr>
              <a:buSzPts val="939"/>
              <a:buFont typeface="Inter"/>
              <a:buNone/>
            </a:pPr>
            <a:r>
              <a:rPr b="1" i="0" lang="en-US" sz="940" u="none" cap="none" strike="noStrike">
                <a:solidFill>
                  <a:srgbClr val="1B5CFF"/>
                </a:solidFill>
                <a:latin typeface="Inter"/>
                <a:ea typeface="Inter"/>
                <a:cs typeface="Inter"/>
                <a:sym typeface="Inter"/>
              </a:rPr>
              <a:t>Focus on evidence-based decision support and next actions.</a:t>
            </a:r>
            <a:endParaRPr b="0" i="0" sz="940" u="none" cap="none" strike="noStrike">
              <a:solidFill>
                <a:srgbClr val="1B5CFF"/>
              </a:solidFill>
              <a:latin typeface="Inter"/>
              <a:ea typeface="Inter"/>
              <a:cs typeface="Inter"/>
              <a:sym typeface="Inter"/>
            </a:endParaRPr>
          </a:p>
        </p:txBody>
      </p:sp>
      <p:cxnSp>
        <p:nvCxnSpPr>
          <p:cNvPr id="131" name="Google Shape;131;p4"/>
          <p:cNvCxnSpPr/>
          <p:nvPr/>
        </p:nvCxnSpPr>
        <p:spPr>
          <a:xfrm>
            <a:off x="2286000" y="1901952"/>
            <a:ext cx="0" cy="3493008"/>
          </a:xfrm>
          <a:prstGeom prst="straightConnector1">
            <a:avLst/>
          </a:prstGeom>
          <a:noFill/>
          <a:ln cap="flat" cmpd="sng" w="12700">
            <a:solidFill>
              <a:srgbClr val="E5EAF4"/>
            </a:solidFill>
            <a:prstDash val="solid"/>
            <a:round/>
            <a:headEnd len="sm" w="sm" type="none"/>
            <a:tailEnd len="sm" w="sm" type="none"/>
          </a:ln>
        </p:spPr>
      </p:cxnSp>
      <p:cxnSp>
        <p:nvCxnSpPr>
          <p:cNvPr id="132" name="Google Shape;132;p4"/>
          <p:cNvCxnSpPr/>
          <p:nvPr/>
        </p:nvCxnSpPr>
        <p:spPr>
          <a:xfrm>
            <a:off x="5029200" y="1901952"/>
            <a:ext cx="0" cy="3493008"/>
          </a:xfrm>
          <a:prstGeom prst="straightConnector1">
            <a:avLst/>
          </a:prstGeom>
          <a:noFill/>
          <a:ln cap="flat" cmpd="sng" w="12700">
            <a:solidFill>
              <a:srgbClr val="E5EAF4"/>
            </a:solidFill>
            <a:prstDash val="solid"/>
            <a:round/>
            <a:headEnd len="sm" w="sm" type="none"/>
            <a:tailEnd len="sm" w="sm" type="none"/>
          </a:ln>
        </p:spPr>
      </p:cxnSp>
      <p:cxnSp>
        <p:nvCxnSpPr>
          <p:cNvPr id="133" name="Google Shape;133;p4"/>
          <p:cNvCxnSpPr/>
          <p:nvPr/>
        </p:nvCxnSpPr>
        <p:spPr>
          <a:xfrm>
            <a:off x="8275320" y="1901952"/>
            <a:ext cx="0" cy="3493008"/>
          </a:xfrm>
          <a:prstGeom prst="straightConnector1">
            <a:avLst/>
          </a:prstGeom>
          <a:noFill/>
          <a:ln cap="flat" cmpd="sng" w="12700">
            <a:solidFill>
              <a:srgbClr val="E5EAF4"/>
            </a:solidFill>
            <a:prstDash val="solid"/>
            <a:round/>
            <a:headEnd len="sm" w="sm" type="none"/>
            <a:tailEnd len="sm" w="sm" type="none"/>
          </a:ln>
        </p:spPr>
      </p:cxnSp>
      <p:sp>
        <p:nvSpPr>
          <p:cNvPr id="134" name="Google Shape;134;p4"/>
          <p:cNvSpPr/>
          <p:nvPr/>
        </p:nvSpPr>
        <p:spPr>
          <a:xfrm>
            <a:off x="2084832" y="5669280"/>
            <a:ext cx="8028432" cy="438912"/>
          </a:xfrm>
          <a:prstGeom prst="roundRect">
            <a:avLst>
              <a:gd fmla="val 25000" name="adj"/>
            </a:avLst>
          </a:prstGeom>
          <a:solidFill>
            <a:srgbClr val="F2F6FF"/>
          </a:solidFill>
          <a:ln cap="flat" cmpd="sng" w="10150">
            <a:solidFill>
              <a:srgbClr val="E0E8F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135" name="Google Shape;135;p4"/>
          <p:cNvSpPr/>
          <p:nvPr/>
        </p:nvSpPr>
        <p:spPr>
          <a:xfrm>
            <a:off x="2322576" y="5797296"/>
            <a:ext cx="7552944" cy="16459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8163D"/>
              </a:buClr>
              <a:buSzPts val="930"/>
              <a:buFont typeface="Inter"/>
              <a:buNone/>
            </a:pPr>
            <a:r>
              <a:rPr b="1" i="0" lang="en-US" sz="930" u="none" cap="none" strike="noStrike">
                <a:solidFill>
                  <a:srgbClr val="08163D"/>
                </a:solidFill>
                <a:latin typeface="Inter"/>
                <a:ea typeface="Inter"/>
                <a:cs typeface="Inter"/>
                <a:sym typeface="Inter"/>
              </a:rPr>
              <a:t>Strategic conclusion: CareerPilot should not be another CV builder, tracker or analytics dashboard.</a:t>
            </a:r>
            <a:endParaRPr b="0" i="0" sz="930" u="none" cap="none" strike="noStrike">
              <a:solidFill>
                <a:schemeClr val="dk1"/>
              </a:solidFill>
              <a:latin typeface="Inter"/>
              <a:ea typeface="Inter"/>
              <a:cs typeface="Inter"/>
              <a:sym typeface="Inter"/>
            </a:endParaRPr>
          </a:p>
        </p:txBody>
      </p:sp>
      <p:sp>
        <p:nvSpPr>
          <p:cNvPr id="136" name="Google Shape;136;p4"/>
          <p:cNvSpPr/>
          <p:nvPr/>
        </p:nvSpPr>
        <p:spPr>
          <a:xfrm>
            <a:off x="786384" y="2331720"/>
            <a:ext cx="1325880" cy="8229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137" name="Google Shape;137;p4"/>
          <p:cNvSpPr/>
          <p:nvPr/>
        </p:nvSpPr>
        <p:spPr>
          <a:xfrm>
            <a:off x="786384" y="3310128"/>
            <a:ext cx="1325880" cy="74980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138" name="Google Shape;138;p4"/>
          <p:cNvSpPr/>
          <p:nvPr/>
        </p:nvSpPr>
        <p:spPr>
          <a:xfrm>
            <a:off x="786384" y="4279392"/>
            <a:ext cx="1325880" cy="84124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id="139" name="Google Shape;139;p4" title="Logo.png"/>
          <p:cNvPicPr preferRelativeResize="0"/>
          <p:nvPr/>
        </p:nvPicPr>
        <p:blipFill rotWithShape="1">
          <a:blip r:embed="rId3">
            <a:alphaModFix/>
          </a:blip>
          <a:srcRect b="0" l="0" r="0" t="0"/>
          <a:stretch/>
        </p:blipFill>
        <p:spPr>
          <a:xfrm>
            <a:off x="772418" y="2500895"/>
            <a:ext cx="1473744" cy="502925"/>
          </a:xfrm>
          <a:prstGeom prst="rect">
            <a:avLst/>
          </a:prstGeom>
          <a:noFill/>
          <a:ln>
            <a:noFill/>
          </a:ln>
        </p:spPr>
      </p:pic>
      <p:pic>
        <p:nvPicPr>
          <p:cNvPr id="140" name="Google Shape;140;p4" title="id35L7AeFX_1788343263506.png"/>
          <p:cNvPicPr preferRelativeResize="0"/>
          <p:nvPr/>
        </p:nvPicPr>
        <p:blipFill rotWithShape="1">
          <a:blip r:embed="rId4">
            <a:alphaModFix/>
          </a:blip>
          <a:srcRect b="0" l="-150" r="-160" t="0"/>
          <a:stretch/>
        </p:blipFill>
        <p:spPr>
          <a:xfrm>
            <a:off x="796475" y="3499092"/>
            <a:ext cx="1425625" cy="371908"/>
          </a:xfrm>
          <a:prstGeom prst="rect">
            <a:avLst/>
          </a:prstGeom>
          <a:noFill/>
          <a:ln>
            <a:noFill/>
          </a:ln>
        </p:spPr>
      </p:pic>
      <p:pic>
        <p:nvPicPr>
          <p:cNvPr id="141" name="Google Shape;141;p4" title="teal-seeklogo.png"/>
          <p:cNvPicPr preferRelativeResize="0"/>
          <p:nvPr/>
        </p:nvPicPr>
        <p:blipFill rotWithShape="1">
          <a:blip r:embed="rId5">
            <a:alphaModFix/>
          </a:blip>
          <a:srcRect b="0" l="0" r="0" t="0"/>
          <a:stretch/>
        </p:blipFill>
        <p:spPr>
          <a:xfrm>
            <a:off x="796475" y="4653106"/>
            <a:ext cx="1425625" cy="340720"/>
          </a:xfrm>
          <a:prstGeom prst="rect">
            <a:avLst/>
          </a:prstGeom>
          <a:noFill/>
          <a:ln>
            <a:noFill/>
          </a:ln>
        </p:spPr>
      </p:pic>
      <p:pic>
        <p:nvPicPr>
          <p:cNvPr id="142" name="Google Shape;142;p4" title="CareerPilot_Visual Identity (2).png"/>
          <p:cNvPicPr preferRelativeResize="0"/>
          <p:nvPr/>
        </p:nvPicPr>
        <p:blipFill rotWithShape="1">
          <a:blip r:embed="rId6">
            <a:alphaModFix amt="50000"/>
          </a:blip>
          <a:srcRect b="0" l="0" r="0" t="0"/>
          <a:stretch/>
        </p:blipFill>
        <p:spPr>
          <a:xfrm>
            <a:off x="11192248" y="265173"/>
            <a:ext cx="539500" cy="5621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04  ·  PLAN</a:t>
            </a:r>
            <a:endParaRPr b="0" i="0" sz="950" u="none" cap="none" strike="noStrike">
              <a:solidFill>
                <a:schemeClr val="dk1"/>
              </a:solidFill>
              <a:latin typeface="Inter"/>
              <a:ea typeface="Inter"/>
              <a:cs typeface="Inter"/>
              <a:sym typeface="Inter"/>
            </a:endParaRPr>
          </a:p>
        </p:txBody>
      </p:sp>
      <p:sp>
        <p:nvSpPr>
          <p:cNvPr id="149" name="Google Shape;149;p5"/>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05</a:t>
            </a:r>
            <a:endParaRPr b="0" i="0" sz="850" u="none" cap="none" strike="noStrike">
              <a:solidFill>
                <a:schemeClr val="dk1"/>
              </a:solidFill>
              <a:latin typeface="Inter"/>
              <a:ea typeface="Inter"/>
              <a:cs typeface="Inter"/>
              <a:sym typeface="Inter"/>
            </a:endParaRPr>
          </a:p>
        </p:txBody>
      </p:sp>
      <p:sp>
        <p:nvSpPr>
          <p:cNvPr id="150" name="Google Shape;150;p5"/>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151" name="Google Shape;151;p5"/>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800"/>
              <a:buFont typeface="Inter"/>
              <a:buNone/>
            </a:pPr>
            <a:r>
              <a:rPr b="1" i="0" lang="en-US" sz="2800" u="none" cap="none" strike="noStrike">
                <a:solidFill>
                  <a:srgbClr val="08163D"/>
                </a:solidFill>
                <a:latin typeface="Inter"/>
                <a:ea typeface="Inter"/>
                <a:cs typeface="Inter"/>
                <a:sym typeface="Inter"/>
              </a:rPr>
              <a:t>Roadmap: focus first, expand after validation.</a:t>
            </a:r>
            <a:endParaRPr b="0" i="0" sz="2800" u="none" cap="none" strike="noStrike">
              <a:solidFill>
                <a:schemeClr val="dk1"/>
              </a:solidFill>
              <a:latin typeface="Inter"/>
              <a:ea typeface="Inter"/>
              <a:cs typeface="Inter"/>
              <a:sym typeface="Inter"/>
            </a:endParaRPr>
          </a:p>
        </p:txBody>
      </p:sp>
      <p:sp>
        <p:nvSpPr>
          <p:cNvPr id="152" name="Google Shape;152;p5"/>
          <p:cNvSpPr/>
          <p:nvPr/>
        </p:nvSpPr>
        <p:spPr>
          <a:xfrm>
            <a:off x="411480" y="1090030"/>
            <a:ext cx="8412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1220"/>
              <a:buFont typeface="Inter"/>
              <a:buNone/>
            </a:pPr>
            <a:r>
              <a:rPr b="0" i="0" lang="en-US" sz="1220" u="none" cap="none" strike="noStrike">
                <a:solidFill>
                  <a:srgbClr val="64708B"/>
                </a:solidFill>
                <a:latin typeface="Inter"/>
                <a:ea typeface="Inter"/>
                <a:cs typeface="Inter"/>
                <a:sym typeface="Inter"/>
              </a:rPr>
              <a:t>The roadmap protects the MVP from becoming a full job-search platform too early.</a:t>
            </a:r>
            <a:endParaRPr b="0" i="0" sz="1220" u="none" cap="none" strike="noStrike">
              <a:solidFill>
                <a:schemeClr val="dk1"/>
              </a:solidFill>
              <a:latin typeface="Inter"/>
              <a:ea typeface="Inter"/>
              <a:cs typeface="Inter"/>
              <a:sym typeface="Inter"/>
            </a:endParaRPr>
          </a:p>
        </p:txBody>
      </p:sp>
      <p:sp>
        <p:nvSpPr>
          <p:cNvPr id="153" name="Google Shape;153;p5"/>
          <p:cNvSpPr/>
          <p:nvPr/>
        </p:nvSpPr>
        <p:spPr>
          <a:xfrm>
            <a:off x="2157984" y="5925312"/>
            <a:ext cx="7882128" cy="347472"/>
          </a:xfrm>
          <a:prstGeom prst="roundRect">
            <a:avLst>
              <a:gd fmla="val 31579" name="adj"/>
            </a:avLst>
          </a:prstGeom>
          <a:solidFill>
            <a:srgbClr val="FFFFFF"/>
          </a:solidFill>
          <a:ln cap="flat" cmpd="sng" w="10150">
            <a:solidFill>
              <a:srgbClr val="DFE7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154" name="Google Shape;154;p5"/>
          <p:cNvPicPr preferRelativeResize="0"/>
          <p:nvPr/>
        </p:nvPicPr>
        <p:blipFill rotWithShape="1">
          <a:blip r:embed="rId3">
            <a:alphaModFix/>
          </a:blip>
          <a:srcRect b="0" l="0" r="0" t="0"/>
          <a:stretch/>
        </p:blipFill>
        <p:spPr>
          <a:xfrm>
            <a:off x="2359152" y="6021324"/>
            <a:ext cx="128016" cy="128016"/>
          </a:xfrm>
          <a:prstGeom prst="rect">
            <a:avLst/>
          </a:prstGeom>
          <a:noFill/>
          <a:ln>
            <a:noFill/>
          </a:ln>
        </p:spPr>
      </p:pic>
      <p:sp>
        <p:nvSpPr>
          <p:cNvPr id="155" name="Google Shape;155;p5"/>
          <p:cNvSpPr/>
          <p:nvPr/>
        </p:nvSpPr>
        <p:spPr>
          <a:xfrm>
            <a:off x="2560320" y="6021314"/>
            <a:ext cx="8961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730"/>
              <a:buFont typeface="Inter"/>
              <a:buNone/>
            </a:pPr>
            <a:r>
              <a:rPr b="1" i="0" lang="en-US" sz="730" u="none" cap="none" strike="noStrike">
                <a:solidFill>
                  <a:srgbClr val="5A2DFF"/>
                </a:solidFill>
                <a:latin typeface="Inter"/>
                <a:ea typeface="Inter"/>
                <a:cs typeface="Inter"/>
                <a:sym typeface="Inter"/>
              </a:rPr>
              <a:t>AI accelerated</a:t>
            </a:r>
            <a:endParaRPr b="0" i="0" sz="730" u="none" cap="none" strike="noStrike">
              <a:solidFill>
                <a:schemeClr val="dk1"/>
              </a:solidFill>
              <a:latin typeface="Inter"/>
              <a:ea typeface="Inter"/>
              <a:cs typeface="Inter"/>
              <a:sym typeface="Inter"/>
            </a:endParaRPr>
          </a:p>
        </p:txBody>
      </p:sp>
      <p:sp>
        <p:nvSpPr>
          <p:cNvPr id="156" name="Google Shape;156;p5"/>
          <p:cNvSpPr/>
          <p:nvPr/>
        </p:nvSpPr>
        <p:spPr>
          <a:xfrm>
            <a:off x="3428975" y="6021314"/>
            <a:ext cx="2240400" cy="146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30"/>
              <a:buFont typeface="Inter"/>
              <a:buNone/>
            </a:pPr>
            <a:r>
              <a:rPr b="0" i="0" lang="en-US" sz="730" u="none" cap="none" strike="noStrike">
                <a:solidFill>
                  <a:srgbClr val="64708B"/>
                </a:solidFill>
                <a:latin typeface="Inter"/>
                <a:ea typeface="Inter"/>
                <a:cs typeface="Inter"/>
                <a:sym typeface="Inter"/>
              </a:rPr>
              <a:t>Rovo organised roadmap + backlog</a:t>
            </a:r>
            <a:endParaRPr b="0" i="0" sz="730" u="none" cap="none" strike="noStrike">
              <a:solidFill>
                <a:schemeClr val="dk1"/>
              </a:solidFill>
              <a:latin typeface="Inter"/>
              <a:ea typeface="Inter"/>
              <a:cs typeface="Inter"/>
              <a:sym typeface="Inter"/>
            </a:endParaRPr>
          </a:p>
        </p:txBody>
      </p:sp>
      <p:cxnSp>
        <p:nvCxnSpPr>
          <p:cNvPr id="157" name="Google Shape;157;p5"/>
          <p:cNvCxnSpPr/>
          <p:nvPr/>
        </p:nvCxnSpPr>
        <p:spPr>
          <a:xfrm>
            <a:off x="5888736" y="5998464"/>
            <a:ext cx="0" cy="164592"/>
          </a:xfrm>
          <a:prstGeom prst="straightConnector1">
            <a:avLst/>
          </a:prstGeom>
          <a:noFill/>
          <a:ln cap="flat" cmpd="sng" w="12700">
            <a:solidFill>
              <a:srgbClr val="D9E1F1"/>
            </a:solidFill>
            <a:prstDash val="solid"/>
            <a:round/>
            <a:headEnd len="sm" w="sm" type="none"/>
            <a:tailEnd len="sm" w="sm" type="none"/>
          </a:ln>
        </p:spPr>
      </p:cxnSp>
      <p:pic>
        <p:nvPicPr>
          <p:cNvPr descr="preencoded.png" id="158" name="Google Shape;158;p5"/>
          <p:cNvPicPr preferRelativeResize="0"/>
          <p:nvPr/>
        </p:nvPicPr>
        <p:blipFill rotWithShape="1">
          <a:blip r:embed="rId4">
            <a:alphaModFix/>
          </a:blip>
          <a:srcRect b="0" l="0" r="0" t="0"/>
          <a:stretch/>
        </p:blipFill>
        <p:spPr>
          <a:xfrm>
            <a:off x="6108192" y="6021324"/>
            <a:ext cx="128016" cy="128016"/>
          </a:xfrm>
          <a:prstGeom prst="rect">
            <a:avLst/>
          </a:prstGeom>
          <a:noFill/>
          <a:ln>
            <a:noFill/>
          </a:ln>
        </p:spPr>
      </p:pic>
      <p:sp>
        <p:nvSpPr>
          <p:cNvPr id="159" name="Google Shape;159;p5"/>
          <p:cNvSpPr/>
          <p:nvPr/>
        </p:nvSpPr>
        <p:spPr>
          <a:xfrm>
            <a:off x="6286485" y="6035014"/>
            <a:ext cx="960000" cy="1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CFF"/>
              </a:buClr>
              <a:buSzPts val="730"/>
              <a:buFont typeface="Inter"/>
              <a:buNone/>
            </a:pPr>
            <a:r>
              <a:rPr b="1" i="0" lang="en-US" sz="730" u="none" cap="none" strike="noStrike">
                <a:solidFill>
                  <a:srgbClr val="1B5CFF"/>
                </a:solidFill>
                <a:latin typeface="Inter"/>
                <a:ea typeface="Inter"/>
                <a:cs typeface="Inter"/>
                <a:sym typeface="Inter"/>
              </a:rPr>
              <a:t>Human decision</a:t>
            </a:r>
            <a:endParaRPr b="0" i="0" sz="730" u="none" cap="none" strike="noStrike">
              <a:solidFill>
                <a:schemeClr val="dk1"/>
              </a:solidFill>
              <a:latin typeface="Inter"/>
              <a:ea typeface="Inter"/>
              <a:cs typeface="Inter"/>
              <a:sym typeface="Inter"/>
            </a:endParaRPr>
          </a:p>
        </p:txBody>
      </p:sp>
      <p:sp>
        <p:nvSpPr>
          <p:cNvPr id="160" name="Google Shape;160;p5"/>
          <p:cNvSpPr/>
          <p:nvPr/>
        </p:nvSpPr>
        <p:spPr>
          <a:xfrm>
            <a:off x="7296762" y="6035014"/>
            <a:ext cx="2541900" cy="146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30"/>
              <a:buFont typeface="Inter"/>
              <a:buNone/>
            </a:pPr>
            <a:r>
              <a:rPr b="0" i="0" lang="en-US" sz="730" u="none" cap="none" strike="noStrike">
                <a:solidFill>
                  <a:srgbClr val="64708B"/>
                </a:solidFill>
                <a:latin typeface="Inter"/>
                <a:ea typeface="Inter"/>
                <a:cs typeface="Inter"/>
                <a:sym typeface="Inter"/>
              </a:rPr>
              <a:t>set scope, priorities and strategic boundaries</a:t>
            </a:r>
            <a:endParaRPr b="0" i="0" sz="730" u="none" cap="none" strike="noStrike">
              <a:solidFill>
                <a:schemeClr val="dk1"/>
              </a:solidFill>
              <a:latin typeface="Inter"/>
              <a:ea typeface="Inter"/>
              <a:cs typeface="Inter"/>
              <a:sym typeface="Inter"/>
            </a:endParaRPr>
          </a:p>
        </p:txBody>
      </p:sp>
      <p:pic>
        <p:nvPicPr>
          <p:cNvPr id="161" name="Google Shape;161;p5" title="CareerPilot_Visual Identity (2).png"/>
          <p:cNvPicPr preferRelativeResize="0"/>
          <p:nvPr/>
        </p:nvPicPr>
        <p:blipFill rotWithShape="1">
          <a:blip r:embed="rId5">
            <a:alphaModFix amt="50000"/>
          </a:blip>
          <a:srcRect b="0" l="0" r="0" t="0"/>
          <a:stretch/>
        </p:blipFill>
        <p:spPr>
          <a:xfrm>
            <a:off x="11192248" y="265173"/>
            <a:ext cx="539500" cy="562113"/>
          </a:xfrm>
          <a:prstGeom prst="rect">
            <a:avLst/>
          </a:prstGeom>
          <a:noFill/>
          <a:ln>
            <a:noFill/>
          </a:ln>
        </p:spPr>
      </p:pic>
      <p:cxnSp>
        <p:nvCxnSpPr>
          <p:cNvPr id="162" name="Google Shape;162;p5"/>
          <p:cNvCxnSpPr/>
          <p:nvPr/>
        </p:nvCxnSpPr>
        <p:spPr>
          <a:xfrm>
            <a:off x="411480" y="3977639"/>
            <a:ext cx="1188720" cy="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3" name="Google Shape;163;p5"/>
          <p:cNvCxnSpPr/>
          <p:nvPr/>
        </p:nvCxnSpPr>
        <p:spPr>
          <a:xfrm flipH="1" rot="10800000">
            <a:off x="1600200" y="3246120"/>
            <a:ext cx="822960" cy="731519"/>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4" name="Google Shape;164;p5"/>
          <p:cNvCxnSpPr/>
          <p:nvPr/>
        </p:nvCxnSpPr>
        <p:spPr>
          <a:xfrm>
            <a:off x="2423160" y="3246120"/>
            <a:ext cx="1051560" cy="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5" name="Google Shape;165;p5"/>
          <p:cNvCxnSpPr/>
          <p:nvPr/>
        </p:nvCxnSpPr>
        <p:spPr>
          <a:xfrm flipH="1" rot="10800000">
            <a:off x="3474720" y="2331720"/>
            <a:ext cx="777240" cy="91440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6" name="Google Shape;166;p5"/>
          <p:cNvCxnSpPr/>
          <p:nvPr/>
        </p:nvCxnSpPr>
        <p:spPr>
          <a:xfrm>
            <a:off x="4251960" y="2331720"/>
            <a:ext cx="1280160" cy="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7" name="Google Shape;167;p5"/>
          <p:cNvCxnSpPr/>
          <p:nvPr/>
        </p:nvCxnSpPr>
        <p:spPr>
          <a:xfrm>
            <a:off x="5532120" y="2331720"/>
            <a:ext cx="731520" cy="146304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8" name="Google Shape;168;p5"/>
          <p:cNvCxnSpPr/>
          <p:nvPr/>
        </p:nvCxnSpPr>
        <p:spPr>
          <a:xfrm>
            <a:off x="6263640" y="3794760"/>
            <a:ext cx="1280160" cy="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69" name="Google Shape;169;p5"/>
          <p:cNvCxnSpPr/>
          <p:nvPr/>
        </p:nvCxnSpPr>
        <p:spPr>
          <a:xfrm flipH="1" rot="10800000">
            <a:off x="7543800" y="2788920"/>
            <a:ext cx="685800" cy="100584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70" name="Google Shape;170;p5"/>
          <p:cNvCxnSpPr/>
          <p:nvPr/>
        </p:nvCxnSpPr>
        <p:spPr>
          <a:xfrm>
            <a:off x="8229600" y="2788920"/>
            <a:ext cx="1417320" cy="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71" name="Google Shape;171;p5"/>
          <p:cNvCxnSpPr/>
          <p:nvPr/>
        </p:nvCxnSpPr>
        <p:spPr>
          <a:xfrm>
            <a:off x="9646920" y="2788920"/>
            <a:ext cx="640080" cy="82296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72" name="Google Shape;172;p5"/>
          <p:cNvCxnSpPr/>
          <p:nvPr/>
        </p:nvCxnSpPr>
        <p:spPr>
          <a:xfrm>
            <a:off x="10287000" y="3611880"/>
            <a:ext cx="914400" cy="0"/>
          </a:xfrm>
          <a:prstGeom prst="straightConnector1">
            <a:avLst/>
          </a:prstGeom>
          <a:noFill/>
          <a:ln cap="flat" cmpd="sng" w="457200">
            <a:solidFill>
              <a:srgbClr val="5A31FF"/>
            </a:solidFill>
            <a:prstDash val="solid"/>
            <a:round/>
            <a:headEnd len="sm" w="sm" type="none"/>
            <a:tailEnd len="sm" w="sm" type="none"/>
          </a:ln>
          <a:effectLst>
            <a:outerShdw blurRad="40000" rotWithShape="0" dir="5400000" dist="20000">
              <a:srgbClr val="000000">
                <a:alpha val="38039"/>
              </a:srgbClr>
            </a:outerShdw>
          </a:effectLst>
        </p:spPr>
      </p:cxnSp>
      <p:cxnSp>
        <p:nvCxnSpPr>
          <p:cNvPr id="173" name="Google Shape;173;p5"/>
          <p:cNvCxnSpPr/>
          <p:nvPr/>
        </p:nvCxnSpPr>
        <p:spPr>
          <a:xfrm>
            <a:off x="411480" y="3977639"/>
            <a:ext cx="1188720" cy="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74" name="Google Shape;174;p5"/>
          <p:cNvCxnSpPr/>
          <p:nvPr/>
        </p:nvCxnSpPr>
        <p:spPr>
          <a:xfrm flipH="1" rot="10800000">
            <a:off x="1600200" y="3246120"/>
            <a:ext cx="822960" cy="731519"/>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75" name="Google Shape;175;p5"/>
          <p:cNvCxnSpPr/>
          <p:nvPr/>
        </p:nvCxnSpPr>
        <p:spPr>
          <a:xfrm>
            <a:off x="2423160" y="3246120"/>
            <a:ext cx="1051560" cy="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76" name="Google Shape;176;p5"/>
          <p:cNvCxnSpPr/>
          <p:nvPr/>
        </p:nvCxnSpPr>
        <p:spPr>
          <a:xfrm flipH="1" rot="10800000">
            <a:off x="3474720" y="2331720"/>
            <a:ext cx="777240" cy="91440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77" name="Google Shape;177;p5"/>
          <p:cNvCxnSpPr/>
          <p:nvPr/>
        </p:nvCxnSpPr>
        <p:spPr>
          <a:xfrm>
            <a:off x="4251960" y="2331720"/>
            <a:ext cx="1280160" cy="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78" name="Google Shape;178;p5"/>
          <p:cNvCxnSpPr/>
          <p:nvPr/>
        </p:nvCxnSpPr>
        <p:spPr>
          <a:xfrm>
            <a:off x="5532120" y="2331720"/>
            <a:ext cx="731520" cy="146304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79" name="Google Shape;179;p5"/>
          <p:cNvCxnSpPr/>
          <p:nvPr/>
        </p:nvCxnSpPr>
        <p:spPr>
          <a:xfrm>
            <a:off x="6263640" y="3794760"/>
            <a:ext cx="1280160" cy="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80" name="Google Shape;180;p5"/>
          <p:cNvCxnSpPr/>
          <p:nvPr/>
        </p:nvCxnSpPr>
        <p:spPr>
          <a:xfrm flipH="1" rot="10800000">
            <a:off x="7543800" y="2788920"/>
            <a:ext cx="685800" cy="100584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81" name="Google Shape;181;p5"/>
          <p:cNvCxnSpPr/>
          <p:nvPr/>
        </p:nvCxnSpPr>
        <p:spPr>
          <a:xfrm>
            <a:off x="8229600" y="2788920"/>
            <a:ext cx="1417320" cy="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82" name="Google Shape;182;p5"/>
          <p:cNvCxnSpPr/>
          <p:nvPr/>
        </p:nvCxnSpPr>
        <p:spPr>
          <a:xfrm>
            <a:off x="9646920" y="2788920"/>
            <a:ext cx="640080" cy="82296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83" name="Google Shape;183;p5"/>
          <p:cNvCxnSpPr/>
          <p:nvPr/>
        </p:nvCxnSpPr>
        <p:spPr>
          <a:xfrm>
            <a:off x="10287000" y="3611880"/>
            <a:ext cx="914400" cy="0"/>
          </a:xfrm>
          <a:prstGeom prst="straightConnector1">
            <a:avLst/>
          </a:prstGeom>
          <a:noFill/>
          <a:ln cap="flat" cmpd="sng" w="368300">
            <a:solidFill>
              <a:srgbClr val="081B4B"/>
            </a:solidFill>
            <a:prstDash val="solid"/>
            <a:round/>
            <a:headEnd len="sm" w="sm" type="none"/>
            <a:tailEnd len="sm" w="sm" type="none"/>
          </a:ln>
          <a:effectLst>
            <a:outerShdw blurRad="40000" rotWithShape="0" dir="5400000" dist="20000">
              <a:srgbClr val="000000">
                <a:alpha val="38039"/>
              </a:srgbClr>
            </a:outerShdw>
          </a:effectLst>
        </p:spPr>
      </p:cxnSp>
      <p:cxnSp>
        <p:nvCxnSpPr>
          <p:cNvPr id="184" name="Google Shape;184;p5"/>
          <p:cNvCxnSpPr/>
          <p:nvPr/>
        </p:nvCxnSpPr>
        <p:spPr>
          <a:xfrm>
            <a:off x="411480" y="3977639"/>
            <a:ext cx="1188720" cy="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85" name="Google Shape;185;p5"/>
          <p:cNvCxnSpPr/>
          <p:nvPr/>
        </p:nvCxnSpPr>
        <p:spPr>
          <a:xfrm flipH="1" rot="10800000">
            <a:off x="1600200" y="3246120"/>
            <a:ext cx="822960" cy="731519"/>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86" name="Google Shape;186;p5"/>
          <p:cNvCxnSpPr/>
          <p:nvPr/>
        </p:nvCxnSpPr>
        <p:spPr>
          <a:xfrm>
            <a:off x="2423160" y="3246120"/>
            <a:ext cx="1051560" cy="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87" name="Google Shape;187;p5"/>
          <p:cNvCxnSpPr/>
          <p:nvPr/>
        </p:nvCxnSpPr>
        <p:spPr>
          <a:xfrm flipH="1" rot="10800000">
            <a:off x="3474720" y="2331720"/>
            <a:ext cx="777240" cy="91440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88" name="Google Shape;188;p5"/>
          <p:cNvCxnSpPr/>
          <p:nvPr/>
        </p:nvCxnSpPr>
        <p:spPr>
          <a:xfrm>
            <a:off x="4251960" y="2331720"/>
            <a:ext cx="1280160" cy="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89" name="Google Shape;189;p5"/>
          <p:cNvCxnSpPr/>
          <p:nvPr/>
        </p:nvCxnSpPr>
        <p:spPr>
          <a:xfrm>
            <a:off x="5532120" y="2331720"/>
            <a:ext cx="731520" cy="146304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90" name="Google Shape;190;p5"/>
          <p:cNvCxnSpPr/>
          <p:nvPr/>
        </p:nvCxnSpPr>
        <p:spPr>
          <a:xfrm>
            <a:off x="6263640" y="3794760"/>
            <a:ext cx="1280160" cy="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91" name="Google Shape;191;p5"/>
          <p:cNvCxnSpPr/>
          <p:nvPr/>
        </p:nvCxnSpPr>
        <p:spPr>
          <a:xfrm flipH="1" rot="10800000">
            <a:off x="7543800" y="2788920"/>
            <a:ext cx="685800" cy="100584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92" name="Google Shape;192;p5"/>
          <p:cNvCxnSpPr/>
          <p:nvPr/>
        </p:nvCxnSpPr>
        <p:spPr>
          <a:xfrm>
            <a:off x="8229600" y="2788920"/>
            <a:ext cx="1417320" cy="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93" name="Google Shape;193;p5"/>
          <p:cNvCxnSpPr/>
          <p:nvPr/>
        </p:nvCxnSpPr>
        <p:spPr>
          <a:xfrm>
            <a:off x="9646920" y="2788920"/>
            <a:ext cx="640080" cy="82296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cxnSp>
        <p:nvCxnSpPr>
          <p:cNvPr id="194" name="Google Shape;194;p5"/>
          <p:cNvCxnSpPr/>
          <p:nvPr/>
        </p:nvCxnSpPr>
        <p:spPr>
          <a:xfrm>
            <a:off x="10287000" y="3611880"/>
            <a:ext cx="914400" cy="0"/>
          </a:xfrm>
          <a:prstGeom prst="straightConnector1">
            <a:avLst/>
          </a:prstGeom>
          <a:noFill/>
          <a:ln cap="flat" cmpd="sng" w="27925">
            <a:solidFill>
              <a:srgbClr val="FFFFFF"/>
            </a:solidFill>
            <a:prstDash val="dash"/>
            <a:round/>
            <a:headEnd len="sm" w="sm" type="none"/>
            <a:tailEnd len="sm" w="sm" type="none"/>
          </a:ln>
          <a:effectLst>
            <a:outerShdw blurRad="40000" rotWithShape="0" dir="5400000" dist="20000">
              <a:srgbClr val="000000">
                <a:alpha val="38039"/>
              </a:srgbClr>
            </a:outerShdw>
          </a:effectLst>
        </p:spPr>
      </p:cxnSp>
      <p:sp>
        <p:nvSpPr>
          <p:cNvPr id="195" name="Google Shape;195;p5"/>
          <p:cNvSpPr/>
          <p:nvPr/>
        </p:nvSpPr>
        <p:spPr>
          <a:xfrm>
            <a:off x="1408176" y="3785615"/>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p:nvPr/>
        </p:nvSpPr>
        <p:spPr>
          <a:xfrm>
            <a:off x="2231136" y="305409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5"/>
          <p:cNvSpPr/>
          <p:nvPr/>
        </p:nvSpPr>
        <p:spPr>
          <a:xfrm>
            <a:off x="3282696" y="305409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p:nvPr/>
        </p:nvSpPr>
        <p:spPr>
          <a:xfrm>
            <a:off x="4059936" y="213969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5"/>
          <p:cNvSpPr/>
          <p:nvPr/>
        </p:nvSpPr>
        <p:spPr>
          <a:xfrm>
            <a:off x="5340096" y="213969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5"/>
          <p:cNvSpPr/>
          <p:nvPr/>
        </p:nvSpPr>
        <p:spPr>
          <a:xfrm>
            <a:off x="6071616" y="360273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
          <p:cNvSpPr/>
          <p:nvPr/>
        </p:nvSpPr>
        <p:spPr>
          <a:xfrm>
            <a:off x="7351775" y="360273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5"/>
          <p:cNvSpPr/>
          <p:nvPr/>
        </p:nvSpPr>
        <p:spPr>
          <a:xfrm>
            <a:off x="8037575" y="259689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5"/>
          <p:cNvSpPr/>
          <p:nvPr/>
        </p:nvSpPr>
        <p:spPr>
          <a:xfrm>
            <a:off x="9454896" y="259689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5"/>
          <p:cNvSpPr/>
          <p:nvPr/>
        </p:nvSpPr>
        <p:spPr>
          <a:xfrm>
            <a:off x="10094976" y="3419856"/>
            <a:ext cx="384048" cy="384048"/>
          </a:xfrm>
          <a:prstGeom prst="ellipse">
            <a:avLst/>
          </a:prstGeom>
          <a:solidFill>
            <a:srgbClr val="081B4B"/>
          </a:solidFill>
          <a:ln cap="flat" cmpd="sng" w="12700">
            <a:solidFill>
              <a:srgbClr val="081B4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5" name="Google Shape;205;p5"/>
          <p:cNvCxnSpPr/>
          <p:nvPr/>
        </p:nvCxnSpPr>
        <p:spPr>
          <a:xfrm rot="10800000">
            <a:off x="1325880" y="2514600"/>
            <a:ext cx="0" cy="1463039"/>
          </a:xfrm>
          <a:prstGeom prst="straightConnector1">
            <a:avLst/>
          </a:prstGeom>
          <a:noFill/>
          <a:ln cap="flat" cmpd="sng" w="31750">
            <a:solidFill>
              <a:srgbClr val="1769FF"/>
            </a:solidFill>
            <a:prstDash val="solid"/>
            <a:round/>
            <a:headEnd len="sm" w="sm" type="none"/>
            <a:tailEnd len="sm" w="sm" type="none"/>
          </a:ln>
          <a:effectLst>
            <a:outerShdw blurRad="40000" rotWithShape="0" dir="5400000" dist="20000">
              <a:srgbClr val="000000">
                <a:alpha val="38039"/>
              </a:srgbClr>
            </a:outerShdw>
          </a:effectLst>
        </p:spPr>
      </p:cxnSp>
      <p:sp>
        <p:nvSpPr>
          <p:cNvPr id="206" name="Google Shape;206;p5"/>
          <p:cNvSpPr/>
          <p:nvPr/>
        </p:nvSpPr>
        <p:spPr>
          <a:xfrm>
            <a:off x="1069848" y="3721607"/>
            <a:ext cx="512064" cy="512064"/>
          </a:xfrm>
          <a:prstGeom prst="ellipse">
            <a:avLst/>
          </a:prstGeom>
          <a:solidFill>
            <a:srgbClr val="1769FF"/>
          </a:solidFill>
          <a:ln cap="flat" cmpd="sng" w="31750">
            <a:solidFill>
              <a:srgbClr val="FFFF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5"/>
          <p:cNvSpPr txBox="1"/>
          <p:nvPr/>
        </p:nvSpPr>
        <p:spPr>
          <a:xfrm>
            <a:off x="1161288" y="3867911"/>
            <a:ext cx="329184" cy="219456"/>
          </a:xfrm>
          <a:prstGeom prst="rect">
            <a:avLst/>
          </a:prstGeom>
          <a:noFill/>
          <a:ln>
            <a:noFill/>
          </a:ln>
        </p:spPr>
        <p:txBody>
          <a:bodyPr anchorCtr="0" anchor="t" bIns="9125" lIns="27425" spcFirstLastPara="1" rIns="27425" wrap="square" tIns="9125">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08" name="Google Shape;208;p5"/>
          <p:cNvSpPr/>
          <p:nvPr/>
        </p:nvSpPr>
        <p:spPr>
          <a:xfrm>
            <a:off x="566928" y="1527048"/>
            <a:ext cx="2834640" cy="987552"/>
          </a:xfrm>
          <a:prstGeom prst="roundRect">
            <a:avLst>
              <a:gd fmla="val 16667" name="adj"/>
            </a:avLst>
          </a:prstGeom>
          <a:solidFill>
            <a:srgbClr val="FFFFFF"/>
          </a:solidFill>
          <a:ln cap="flat" cmpd="sng" w="13950">
            <a:solidFill>
              <a:srgbClr val="D8E2F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5"/>
          <p:cNvSpPr/>
          <p:nvPr/>
        </p:nvSpPr>
        <p:spPr>
          <a:xfrm>
            <a:off x="713232" y="1655064"/>
            <a:ext cx="566928" cy="237744"/>
          </a:xfrm>
          <a:prstGeom prst="roundRect">
            <a:avLst>
              <a:gd fmla="val 16667" name="adj"/>
            </a:avLst>
          </a:prstGeom>
          <a:solidFill>
            <a:srgbClr val="1769FF"/>
          </a:solidFill>
          <a:ln cap="flat" cmpd="sng" w="9525">
            <a:solidFill>
              <a:srgbClr val="1769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5"/>
          <p:cNvSpPr txBox="1"/>
          <p:nvPr/>
        </p:nvSpPr>
        <p:spPr>
          <a:xfrm>
            <a:off x="713232" y="1682495"/>
            <a:ext cx="566928" cy="155448"/>
          </a:xfrm>
          <a:prstGeom prst="rect">
            <a:avLst/>
          </a:prstGeom>
          <a:noFill/>
          <a:ln>
            <a:noFill/>
          </a:ln>
        </p:spPr>
        <p:txBody>
          <a:bodyPr anchorCtr="0" anchor="ctr" bIns="9125" lIns="27425" spcFirstLastPara="1" rIns="27425" wrap="square" tIns="9125">
            <a:no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FFFF"/>
                </a:solidFill>
                <a:latin typeface="Arial"/>
                <a:ea typeface="Arial"/>
                <a:cs typeface="Arial"/>
                <a:sym typeface="Arial"/>
              </a:rPr>
              <a:t>NOW</a:t>
            </a:r>
            <a:endParaRPr b="0" i="0" sz="1400" u="none" cap="none" strike="noStrike">
              <a:solidFill>
                <a:srgbClr val="000000"/>
              </a:solidFill>
              <a:latin typeface="Arial"/>
              <a:ea typeface="Arial"/>
              <a:cs typeface="Arial"/>
              <a:sym typeface="Arial"/>
            </a:endParaRPr>
          </a:p>
        </p:txBody>
      </p:sp>
      <p:sp>
        <p:nvSpPr>
          <p:cNvPr id="211" name="Google Shape;211;p5"/>
          <p:cNvSpPr txBox="1"/>
          <p:nvPr/>
        </p:nvSpPr>
        <p:spPr>
          <a:xfrm>
            <a:off x="1408176" y="1661449"/>
            <a:ext cx="1865400" cy="203100"/>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81B4B"/>
                </a:solidFill>
                <a:latin typeface="Arial"/>
                <a:ea typeface="Arial"/>
                <a:cs typeface="Arial"/>
                <a:sym typeface="Arial"/>
              </a:rPr>
              <a:t>Implemented MVP</a:t>
            </a:r>
            <a:endParaRPr b="0" i="0" sz="1400" u="none" cap="none" strike="noStrike">
              <a:solidFill>
                <a:srgbClr val="000000"/>
              </a:solidFill>
              <a:latin typeface="Arial"/>
              <a:ea typeface="Arial"/>
              <a:cs typeface="Arial"/>
              <a:sym typeface="Arial"/>
            </a:endParaRPr>
          </a:p>
        </p:txBody>
      </p:sp>
      <p:sp>
        <p:nvSpPr>
          <p:cNvPr id="212" name="Google Shape;212;p5"/>
          <p:cNvSpPr txBox="1"/>
          <p:nvPr/>
        </p:nvSpPr>
        <p:spPr>
          <a:xfrm>
            <a:off x="731520" y="1965960"/>
            <a:ext cx="2505456" cy="484632"/>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960"/>
              <a:buFont typeface="Arial"/>
              <a:buNone/>
            </a:pPr>
            <a:r>
              <a:rPr b="0" i="0" lang="en-US" sz="960" u="none" cap="none" strike="noStrike">
                <a:solidFill>
                  <a:srgbClr val="66738F"/>
                </a:solidFill>
                <a:latin typeface="Arial"/>
                <a:ea typeface="Arial"/>
                <a:cs typeface="Arial"/>
                <a:sym typeface="Arial"/>
              </a:rPr>
              <a:t>Profile + goals  ·  CVs + AI tailoring</a:t>
            </a:r>
            <a:br>
              <a:rPr b="0" i="0" lang="en-US" sz="960" u="none" cap="none" strike="noStrike">
                <a:solidFill>
                  <a:srgbClr val="66738F"/>
                </a:solidFill>
                <a:latin typeface="Arial"/>
                <a:ea typeface="Arial"/>
                <a:cs typeface="Arial"/>
                <a:sym typeface="Arial"/>
              </a:rPr>
            </a:br>
            <a:r>
              <a:rPr b="0" i="0" lang="en-US" sz="960" u="none" cap="none" strike="noStrike">
                <a:solidFill>
                  <a:srgbClr val="66738F"/>
                </a:solidFill>
                <a:latin typeface="Arial"/>
                <a:ea typeface="Arial"/>
                <a:cs typeface="Arial"/>
                <a:sym typeface="Arial"/>
              </a:rPr>
              <a:t>Jobs + applications  ·  Analysis + recommendations</a:t>
            </a:r>
            <a:endParaRPr b="0" i="0" sz="1400" u="none" cap="none" strike="noStrike">
              <a:solidFill>
                <a:srgbClr val="000000"/>
              </a:solidFill>
              <a:latin typeface="Arial"/>
              <a:ea typeface="Arial"/>
              <a:cs typeface="Arial"/>
              <a:sym typeface="Arial"/>
            </a:endParaRPr>
          </a:p>
        </p:txBody>
      </p:sp>
      <p:cxnSp>
        <p:nvCxnSpPr>
          <p:cNvPr id="213" name="Google Shape;213;p5"/>
          <p:cNvCxnSpPr/>
          <p:nvPr/>
        </p:nvCxnSpPr>
        <p:spPr>
          <a:xfrm>
            <a:off x="4526280" y="2331720"/>
            <a:ext cx="0" cy="1764792"/>
          </a:xfrm>
          <a:prstGeom prst="straightConnector1">
            <a:avLst/>
          </a:prstGeom>
          <a:noFill/>
          <a:ln cap="flat" cmpd="sng" w="31750">
            <a:solidFill>
              <a:srgbClr val="5A31FF"/>
            </a:solidFill>
            <a:prstDash val="solid"/>
            <a:round/>
            <a:headEnd len="sm" w="sm" type="none"/>
            <a:tailEnd len="sm" w="sm" type="none"/>
          </a:ln>
          <a:effectLst>
            <a:outerShdw blurRad="40000" rotWithShape="0" dir="5400000" dist="20000">
              <a:srgbClr val="000000">
                <a:alpha val="38039"/>
              </a:srgbClr>
            </a:outerShdw>
          </a:effectLst>
        </p:spPr>
      </p:cxnSp>
      <p:sp>
        <p:nvSpPr>
          <p:cNvPr id="214" name="Google Shape;214;p5"/>
          <p:cNvSpPr/>
          <p:nvPr/>
        </p:nvSpPr>
        <p:spPr>
          <a:xfrm>
            <a:off x="4270248" y="2075687"/>
            <a:ext cx="512064" cy="512064"/>
          </a:xfrm>
          <a:prstGeom prst="ellipse">
            <a:avLst/>
          </a:prstGeom>
          <a:solidFill>
            <a:srgbClr val="5A31FF"/>
          </a:solidFill>
          <a:ln cap="flat" cmpd="sng" w="31750">
            <a:solidFill>
              <a:srgbClr val="FFFF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5"/>
          <p:cNvSpPr txBox="1"/>
          <p:nvPr/>
        </p:nvSpPr>
        <p:spPr>
          <a:xfrm>
            <a:off x="4361688" y="2221991"/>
            <a:ext cx="329184" cy="219456"/>
          </a:xfrm>
          <a:prstGeom prst="rect">
            <a:avLst/>
          </a:prstGeom>
          <a:noFill/>
          <a:ln>
            <a:noFill/>
          </a:ln>
        </p:spPr>
        <p:txBody>
          <a:bodyPr anchorCtr="0" anchor="t" bIns="9125" lIns="27425" spcFirstLastPara="1" rIns="27425" wrap="square" tIns="9125">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16" name="Google Shape;216;p5"/>
          <p:cNvSpPr/>
          <p:nvPr/>
        </p:nvSpPr>
        <p:spPr>
          <a:xfrm>
            <a:off x="3154680" y="4096512"/>
            <a:ext cx="3063240" cy="960120"/>
          </a:xfrm>
          <a:prstGeom prst="roundRect">
            <a:avLst>
              <a:gd fmla="val 16667" name="adj"/>
            </a:avLst>
          </a:prstGeom>
          <a:solidFill>
            <a:srgbClr val="FFFFFF"/>
          </a:solidFill>
          <a:ln cap="flat" cmpd="sng" w="13950">
            <a:solidFill>
              <a:srgbClr val="D8E2F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
          <p:cNvSpPr/>
          <p:nvPr/>
        </p:nvSpPr>
        <p:spPr>
          <a:xfrm>
            <a:off x="3300984" y="4224528"/>
            <a:ext cx="566928" cy="237744"/>
          </a:xfrm>
          <a:prstGeom prst="roundRect">
            <a:avLst>
              <a:gd fmla="val 16667" name="adj"/>
            </a:avLst>
          </a:prstGeom>
          <a:solidFill>
            <a:srgbClr val="5A31FF"/>
          </a:solidFill>
          <a:ln cap="flat" cmpd="sng" w="9525">
            <a:solidFill>
              <a:srgbClr val="5A31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
          <p:cNvSpPr txBox="1"/>
          <p:nvPr/>
        </p:nvSpPr>
        <p:spPr>
          <a:xfrm>
            <a:off x="3300984" y="4251960"/>
            <a:ext cx="566928" cy="155448"/>
          </a:xfrm>
          <a:prstGeom prst="rect">
            <a:avLst/>
          </a:prstGeom>
          <a:noFill/>
          <a:ln>
            <a:noFill/>
          </a:ln>
        </p:spPr>
        <p:txBody>
          <a:bodyPr anchorCtr="0" anchor="ctr" bIns="9125" lIns="27425" spcFirstLastPara="1" rIns="27425" wrap="square" tIns="9125">
            <a:no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FFFF"/>
                </a:solidFill>
                <a:latin typeface="Arial"/>
                <a:ea typeface="Arial"/>
                <a:cs typeface="Arial"/>
                <a:sym typeface="Arial"/>
              </a:rPr>
              <a:t>NEXT</a:t>
            </a:r>
            <a:endParaRPr b="0" i="0" sz="1400" u="none" cap="none" strike="noStrike">
              <a:solidFill>
                <a:srgbClr val="000000"/>
              </a:solidFill>
              <a:latin typeface="Arial"/>
              <a:ea typeface="Arial"/>
              <a:cs typeface="Arial"/>
              <a:sym typeface="Arial"/>
            </a:endParaRPr>
          </a:p>
        </p:txBody>
      </p:sp>
      <p:sp>
        <p:nvSpPr>
          <p:cNvPr id="219" name="Google Shape;219;p5"/>
          <p:cNvSpPr txBox="1"/>
          <p:nvPr/>
        </p:nvSpPr>
        <p:spPr>
          <a:xfrm>
            <a:off x="3995928" y="4244439"/>
            <a:ext cx="2094000" cy="203100"/>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81B4B"/>
                </a:solidFill>
                <a:latin typeface="Arial"/>
                <a:ea typeface="Arial"/>
                <a:cs typeface="Arial"/>
                <a:sym typeface="Arial"/>
              </a:rPr>
              <a:t>Deepen after validation</a:t>
            </a:r>
            <a:endParaRPr b="0" i="0" sz="1400" u="none" cap="none" strike="noStrike">
              <a:solidFill>
                <a:srgbClr val="000000"/>
              </a:solidFill>
              <a:latin typeface="Arial"/>
              <a:ea typeface="Arial"/>
              <a:cs typeface="Arial"/>
              <a:sym typeface="Arial"/>
            </a:endParaRPr>
          </a:p>
        </p:txBody>
      </p:sp>
      <p:sp>
        <p:nvSpPr>
          <p:cNvPr id="220" name="Google Shape;220;p5"/>
          <p:cNvSpPr txBox="1"/>
          <p:nvPr/>
        </p:nvSpPr>
        <p:spPr>
          <a:xfrm>
            <a:off x="3319272" y="4535424"/>
            <a:ext cx="2734056" cy="457200"/>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960"/>
              <a:buFont typeface="Arial"/>
              <a:buNone/>
            </a:pPr>
            <a:r>
              <a:rPr b="0" i="0" lang="en-US" sz="960" u="none" cap="none" strike="noStrike">
                <a:solidFill>
                  <a:srgbClr val="66738F"/>
                </a:solidFill>
                <a:latin typeface="Arial"/>
                <a:ea typeface="Arial"/>
                <a:cs typeface="Arial"/>
                <a:sym typeface="Arial"/>
              </a:rPr>
              <a:t>Advanced CV customisation  ·  Workflows</a:t>
            </a:r>
            <a:br>
              <a:rPr b="0" i="0" lang="en-US" sz="960" u="none" cap="none" strike="noStrike">
                <a:solidFill>
                  <a:srgbClr val="66738F"/>
                </a:solidFill>
                <a:latin typeface="Arial"/>
                <a:ea typeface="Arial"/>
                <a:cs typeface="Arial"/>
                <a:sym typeface="Arial"/>
              </a:rPr>
            </a:br>
            <a:r>
              <a:rPr b="0" i="0" lang="en-US" sz="960" u="none" cap="none" strike="noStrike">
                <a:solidFill>
                  <a:srgbClr val="66738F"/>
                </a:solidFill>
                <a:latin typeface="Arial"/>
                <a:ea typeface="Arial"/>
                <a:cs typeface="Arial"/>
                <a:sym typeface="Arial"/>
              </a:rPr>
              <a:t>Advanced analytics  ·  Expanded decision support</a:t>
            </a:r>
            <a:endParaRPr b="0" i="0" sz="1400" u="none" cap="none" strike="noStrike">
              <a:solidFill>
                <a:srgbClr val="000000"/>
              </a:solidFill>
              <a:latin typeface="Arial"/>
              <a:ea typeface="Arial"/>
              <a:cs typeface="Arial"/>
              <a:sym typeface="Arial"/>
            </a:endParaRPr>
          </a:p>
        </p:txBody>
      </p:sp>
      <p:cxnSp>
        <p:nvCxnSpPr>
          <p:cNvPr id="221" name="Google Shape;221;p5"/>
          <p:cNvCxnSpPr/>
          <p:nvPr/>
        </p:nvCxnSpPr>
        <p:spPr>
          <a:xfrm rot="10800000">
            <a:off x="7818120" y="2450592"/>
            <a:ext cx="0" cy="1344168"/>
          </a:xfrm>
          <a:prstGeom prst="straightConnector1">
            <a:avLst/>
          </a:prstGeom>
          <a:noFill/>
          <a:ln cap="flat" cmpd="sng" w="31750">
            <a:solidFill>
              <a:srgbClr val="1769FF"/>
            </a:solidFill>
            <a:prstDash val="solid"/>
            <a:round/>
            <a:headEnd len="sm" w="sm" type="none"/>
            <a:tailEnd len="sm" w="sm" type="none"/>
          </a:ln>
          <a:effectLst>
            <a:outerShdw blurRad="40000" rotWithShape="0" dir="5400000" dist="20000">
              <a:srgbClr val="000000">
                <a:alpha val="38039"/>
              </a:srgbClr>
            </a:outerShdw>
          </a:effectLst>
        </p:spPr>
      </p:cxnSp>
      <p:sp>
        <p:nvSpPr>
          <p:cNvPr id="222" name="Google Shape;222;p5"/>
          <p:cNvSpPr/>
          <p:nvPr/>
        </p:nvSpPr>
        <p:spPr>
          <a:xfrm>
            <a:off x="7562088" y="3538728"/>
            <a:ext cx="512064" cy="512064"/>
          </a:xfrm>
          <a:prstGeom prst="ellipse">
            <a:avLst/>
          </a:prstGeom>
          <a:solidFill>
            <a:srgbClr val="1769FF"/>
          </a:solidFill>
          <a:ln cap="flat" cmpd="sng" w="31750">
            <a:solidFill>
              <a:srgbClr val="FFFF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
          <p:cNvSpPr txBox="1"/>
          <p:nvPr/>
        </p:nvSpPr>
        <p:spPr>
          <a:xfrm>
            <a:off x="7653528" y="3685032"/>
            <a:ext cx="329184" cy="219456"/>
          </a:xfrm>
          <a:prstGeom prst="rect">
            <a:avLst/>
          </a:prstGeom>
          <a:noFill/>
          <a:ln>
            <a:noFill/>
          </a:ln>
        </p:spPr>
        <p:txBody>
          <a:bodyPr anchorCtr="0" anchor="t" bIns="9125" lIns="27425" spcFirstLastPara="1" rIns="27425" wrap="square" tIns="9125">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24" name="Google Shape;224;p5"/>
          <p:cNvSpPr/>
          <p:nvPr/>
        </p:nvSpPr>
        <p:spPr>
          <a:xfrm>
            <a:off x="6446520" y="1463040"/>
            <a:ext cx="2560320" cy="987552"/>
          </a:xfrm>
          <a:prstGeom prst="roundRect">
            <a:avLst>
              <a:gd fmla="val 16667" name="adj"/>
            </a:avLst>
          </a:prstGeom>
          <a:solidFill>
            <a:srgbClr val="FFFFFF"/>
          </a:solidFill>
          <a:ln cap="flat" cmpd="sng" w="13950">
            <a:solidFill>
              <a:srgbClr val="D8E2F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5"/>
          <p:cNvSpPr/>
          <p:nvPr/>
        </p:nvSpPr>
        <p:spPr>
          <a:xfrm>
            <a:off x="6592824" y="1591056"/>
            <a:ext cx="566928" cy="237744"/>
          </a:xfrm>
          <a:prstGeom prst="roundRect">
            <a:avLst>
              <a:gd fmla="val 16667" name="adj"/>
            </a:avLst>
          </a:prstGeom>
          <a:solidFill>
            <a:srgbClr val="1769FF"/>
          </a:solidFill>
          <a:ln cap="flat" cmpd="sng" w="9525">
            <a:solidFill>
              <a:srgbClr val="1769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5"/>
          <p:cNvSpPr txBox="1"/>
          <p:nvPr/>
        </p:nvSpPr>
        <p:spPr>
          <a:xfrm>
            <a:off x="6592824" y="1618488"/>
            <a:ext cx="566928" cy="155448"/>
          </a:xfrm>
          <a:prstGeom prst="rect">
            <a:avLst/>
          </a:prstGeom>
          <a:noFill/>
          <a:ln>
            <a:noFill/>
          </a:ln>
        </p:spPr>
        <p:txBody>
          <a:bodyPr anchorCtr="0" anchor="ctr" bIns="9125" lIns="27425" spcFirstLastPara="1" rIns="27425" wrap="square" tIns="9125">
            <a:no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FFFF"/>
                </a:solidFill>
                <a:latin typeface="Arial"/>
                <a:ea typeface="Arial"/>
                <a:cs typeface="Arial"/>
                <a:sym typeface="Arial"/>
              </a:rPr>
              <a:t>LATER</a:t>
            </a:r>
            <a:endParaRPr b="0" i="0" sz="1400" u="none" cap="none" strike="noStrike">
              <a:solidFill>
                <a:srgbClr val="000000"/>
              </a:solidFill>
              <a:latin typeface="Arial"/>
              <a:ea typeface="Arial"/>
              <a:cs typeface="Arial"/>
              <a:sym typeface="Arial"/>
            </a:endParaRPr>
          </a:p>
        </p:txBody>
      </p:sp>
      <p:sp>
        <p:nvSpPr>
          <p:cNvPr id="227" name="Google Shape;227;p5"/>
          <p:cNvSpPr txBox="1"/>
          <p:nvPr/>
        </p:nvSpPr>
        <p:spPr>
          <a:xfrm>
            <a:off x="7287768" y="1597441"/>
            <a:ext cx="1591200" cy="203100"/>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81B4B"/>
                </a:solidFill>
                <a:latin typeface="Arial"/>
                <a:ea typeface="Arial"/>
                <a:cs typeface="Arial"/>
                <a:sym typeface="Arial"/>
              </a:rPr>
              <a:t>External integrations</a:t>
            </a:r>
            <a:endParaRPr b="0" i="0" sz="1400" u="none" cap="none" strike="noStrike">
              <a:solidFill>
                <a:srgbClr val="000000"/>
              </a:solidFill>
              <a:latin typeface="Arial"/>
              <a:ea typeface="Arial"/>
              <a:cs typeface="Arial"/>
              <a:sym typeface="Arial"/>
            </a:endParaRPr>
          </a:p>
        </p:txBody>
      </p:sp>
      <p:sp>
        <p:nvSpPr>
          <p:cNvPr id="228" name="Google Shape;228;p5"/>
          <p:cNvSpPr txBox="1"/>
          <p:nvPr/>
        </p:nvSpPr>
        <p:spPr>
          <a:xfrm>
            <a:off x="6611112" y="1901952"/>
            <a:ext cx="2231136" cy="484632"/>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960"/>
              <a:buFont typeface="Arial"/>
              <a:buNone/>
            </a:pPr>
            <a:r>
              <a:rPr b="0" i="0" lang="en-US" sz="960" u="none" cap="none" strike="noStrike">
                <a:solidFill>
                  <a:srgbClr val="66738F"/>
                </a:solidFill>
                <a:latin typeface="Arial"/>
                <a:ea typeface="Arial"/>
                <a:cs typeface="Arial"/>
                <a:sym typeface="Arial"/>
              </a:rPr>
              <a:t>Profile import  ·  Job integrations</a:t>
            </a:r>
            <a:br>
              <a:rPr b="0" i="0" lang="en-US" sz="960" u="none" cap="none" strike="noStrike">
                <a:solidFill>
                  <a:srgbClr val="66738F"/>
                </a:solidFill>
                <a:latin typeface="Arial"/>
                <a:ea typeface="Arial"/>
                <a:cs typeface="Arial"/>
                <a:sym typeface="Arial"/>
              </a:rPr>
            </a:br>
            <a:r>
              <a:rPr b="0" i="0" lang="en-US" sz="960" u="none" cap="none" strike="noStrike">
                <a:solidFill>
                  <a:srgbClr val="66738F"/>
                </a:solidFill>
                <a:latin typeface="Arial"/>
                <a:ea typeface="Arial"/>
                <a:cs typeface="Arial"/>
                <a:sym typeface="Arial"/>
              </a:rPr>
              <a:t>Browser capture</a:t>
            </a:r>
            <a:endParaRPr b="0" i="0" sz="1400" u="none" cap="none" strike="noStrike">
              <a:solidFill>
                <a:srgbClr val="000000"/>
              </a:solidFill>
              <a:latin typeface="Arial"/>
              <a:ea typeface="Arial"/>
              <a:cs typeface="Arial"/>
              <a:sym typeface="Arial"/>
            </a:endParaRPr>
          </a:p>
        </p:txBody>
      </p:sp>
      <p:cxnSp>
        <p:nvCxnSpPr>
          <p:cNvPr id="229" name="Google Shape;229;p5"/>
          <p:cNvCxnSpPr/>
          <p:nvPr/>
        </p:nvCxnSpPr>
        <p:spPr>
          <a:xfrm>
            <a:off x="10241280" y="3611880"/>
            <a:ext cx="0" cy="411480"/>
          </a:xfrm>
          <a:prstGeom prst="straightConnector1">
            <a:avLst/>
          </a:prstGeom>
          <a:noFill/>
          <a:ln cap="flat" cmpd="sng" w="31750">
            <a:solidFill>
              <a:srgbClr val="5A31FF"/>
            </a:solidFill>
            <a:prstDash val="solid"/>
            <a:round/>
            <a:headEnd len="sm" w="sm" type="none"/>
            <a:tailEnd len="sm" w="sm" type="none"/>
          </a:ln>
          <a:effectLst>
            <a:outerShdw blurRad="40000" rotWithShape="0" dir="5400000" dist="20000">
              <a:srgbClr val="000000">
                <a:alpha val="38039"/>
              </a:srgbClr>
            </a:outerShdw>
          </a:effectLst>
        </p:spPr>
      </p:cxnSp>
      <p:sp>
        <p:nvSpPr>
          <p:cNvPr id="230" name="Google Shape;230;p5"/>
          <p:cNvSpPr/>
          <p:nvPr/>
        </p:nvSpPr>
        <p:spPr>
          <a:xfrm>
            <a:off x="9985248" y="3355848"/>
            <a:ext cx="512064" cy="512064"/>
          </a:xfrm>
          <a:prstGeom prst="ellipse">
            <a:avLst/>
          </a:prstGeom>
          <a:solidFill>
            <a:srgbClr val="5A31FF"/>
          </a:solidFill>
          <a:ln cap="flat" cmpd="sng" w="31750">
            <a:solidFill>
              <a:srgbClr val="FFFF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5"/>
          <p:cNvSpPr txBox="1"/>
          <p:nvPr/>
        </p:nvSpPr>
        <p:spPr>
          <a:xfrm>
            <a:off x="10076688" y="3502152"/>
            <a:ext cx="329184" cy="219456"/>
          </a:xfrm>
          <a:prstGeom prst="rect">
            <a:avLst/>
          </a:prstGeom>
          <a:noFill/>
          <a:ln>
            <a:noFill/>
          </a:ln>
        </p:spPr>
        <p:txBody>
          <a:bodyPr anchorCtr="0" anchor="t" bIns="9125" lIns="27425" spcFirstLastPara="1" rIns="27425" wrap="square" tIns="9125">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232" name="Google Shape;232;p5"/>
          <p:cNvSpPr/>
          <p:nvPr/>
        </p:nvSpPr>
        <p:spPr>
          <a:xfrm>
            <a:off x="8705088" y="4023360"/>
            <a:ext cx="2651760" cy="941832"/>
          </a:xfrm>
          <a:prstGeom prst="roundRect">
            <a:avLst>
              <a:gd fmla="val 16667" name="adj"/>
            </a:avLst>
          </a:prstGeom>
          <a:solidFill>
            <a:srgbClr val="FFFFFF"/>
          </a:solidFill>
          <a:ln cap="flat" cmpd="sng" w="13950">
            <a:solidFill>
              <a:srgbClr val="D8E2F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5"/>
          <p:cNvSpPr/>
          <p:nvPr/>
        </p:nvSpPr>
        <p:spPr>
          <a:xfrm>
            <a:off x="8851392" y="4151376"/>
            <a:ext cx="566928" cy="237744"/>
          </a:xfrm>
          <a:prstGeom prst="roundRect">
            <a:avLst>
              <a:gd fmla="val 16667" name="adj"/>
            </a:avLst>
          </a:prstGeom>
          <a:solidFill>
            <a:srgbClr val="FF0000"/>
          </a:solidFill>
          <a:ln cap="flat" cmpd="sng" w="9525">
            <a:solidFill>
              <a:srgbClr val="5A31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5"/>
          <p:cNvSpPr txBox="1"/>
          <p:nvPr/>
        </p:nvSpPr>
        <p:spPr>
          <a:xfrm>
            <a:off x="8851392" y="4178808"/>
            <a:ext cx="566928" cy="155448"/>
          </a:xfrm>
          <a:prstGeom prst="rect">
            <a:avLst/>
          </a:prstGeom>
          <a:noFill/>
          <a:ln>
            <a:noFill/>
          </a:ln>
        </p:spPr>
        <p:txBody>
          <a:bodyPr anchorCtr="0" anchor="ctr" bIns="9125" lIns="27425" spcFirstLastPara="1" rIns="27425" wrap="square" tIns="9125">
            <a:no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FFFF"/>
                </a:solidFill>
                <a:latin typeface="Arial"/>
                <a:ea typeface="Arial"/>
                <a:cs typeface="Arial"/>
                <a:sym typeface="Arial"/>
              </a:rPr>
              <a:t>WON'T</a:t>
            </a:r>
            <a:endParaRPr b="0" i="0" sz="1400" u="none" cap="none" strike="noStrike">
              <a:solidFill>
                <a:srgbClr val="000000"/>
              </a:solidFill>
              <a:latin typeface="Arial"/>
              <a:ea typeface="Arial"/>
              <a:cs typeface="Arial"/>
              <a:sym typeface="Arial"/>
            </a:endParaRPr>
          </a:p>
        </p:txBody>
      </p:sp>
      <p:sp>
        <p:nvSpPr>
          <p:cNvPr id="235" name="Google Shape;235;p5"/>
          <p:cNvSpPr txBox="1"/>
          <p:nvPr/>
        </p:nvSpPr>
        <p:spPr>
          <a:xfrm>
            <a:off x="9546336" y="4171287"/>
            <a:ext cx="1682400" cy="203100"/>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81B4B"/>
                </a:solidFill>
                <a:latin typeface="Arial"/>
                <a:ea typeface="Arial"/>
                <a:cs typeface="Arial"/>
                <a:sym typeface="Arial"/>
              </a:rPr>
              <a:t>Strategic boundaries</a:t>
            </a:r>
            <a:endParaRPr b="0" i="0" sz="1400" u="none" cap="none" strike="noStrike">
              <a:solidFill>
                <a:srgbClr val="000000"/>
              </a:solidFill>
              <a:latin typeface="Arial"/>
              <a:ea typeface="Arial"/>
              <a:cs typeface="Arial"/>
              <a:sym typeface="Arial"/>
            </a:endParaRPr>
          </a:p>
        </p:txBody>
      </p:sp>
      <p:sp>
        <p:nvSpPr>
          <p:cNvPr id="236" name="Google Shape;236;p5"/>
          <p:cNvSpPr txBox="1"/>
          <p:nvPr/>
        </p:nvSpPr>
        <p:spPr>
          <a:xfrm>
            <a:off x="8869680" y="4462272"/>
            <a:ext cx="2322576" cy="438912"/>
          </a:xfrm>
          <a:prstGeom prst="rect">
            <a:avLst/>
          </a:prstGeom>
          <a:noFill/>
          <a:ln>
            <a:noFill/>
          </a:ln>
        </p:spPr>
        <p:txBody>
          <a:bodyPr anchorCtr="0" anchor="t" bIns="9125" lIns="27425" spcFirstLastPara="1" rIns="27425" wrap="square" tIns="9125">
            <a:spAutoFit/>
          </a:bodyPr>
          <a:lstStyle/>
          <a:p>
            <a:pPr indent="0" lvl="0" marL="0" marR="0" rtl="0" algn="l">
              <a:lnSpc>
                <a:spcPct val="100000"/>
              </a:lnSpc>
              <a:spcBef>
                <a:spcPts val="0"/>
              </a:spcBef>
              <a:spcAft>
                <a:spcPts val="0"/>
              </a:spcAft>
              <a:buClr>
                <a:srgbClr val="000000"/>
              </a:buClr>
              <a:buSzPts val="960"/>
              <a:buFont typeface="Arial"/>
              <a:buNone/>
            </a:pPr>
            <a:r>
              <a:rPr b="0" i="0" lang="en-US" sz="960" u="none" cap="none" strike="noStrike">
                <a:solidFill>
                  <a:srgbClr val="66738F"/>
                </a:solidFill>
                <a:latin typeface="Arial"/>
                <a:ea typeface="Arial"/>
                <a:cs typeface="Arial"/>
                <a:sym typeface="Arial"/>
              </a:rPr>
              <a:t>Job marketplace  ·  Employer platform</a:t>
            </a:r>
            <a:br>
              <a:rPr b="0" i="0" lang="en-US" sz="960" u="none" cap="none" strike="noStrike">
                <a:solidFill>
                  <a:srgbClr val="66738F"/>
                </a:solidFill>
                <a:latin typeface="Arial"/>
                <a:ea typeface="Arial"/>
                <a:cs typeface="Arial"/>
                <a:sym typeface="Arial"/>
              </a:rPr>
            </a:br>
            <a:r>
              <a:rPr b="0" i="0" lang="en-US" sz="960" u="none" cap="none" strike="noStrike">
                <a:solidFill>
                  <a:srgbClr val="66738F"/>
                </a:solidFill>
                <a:latin typeface="Arial"/>
                <a:ea typeface="Arial"/>
                <a:cs typeface="Arial"/>
                <a:sym typeface="Arial"/>
              </a:rPr>
              <a:t>Autonomous applications</a:t>
            </a:r>
            <a:endParaRPr b="0" i="0" sz="1400" u="none" cap="none" strike="noStrike">
              <a:solidFill>
                <a:srgbClr val="000000"/>
              </a:solidFill>
              <a:latin typeface="Arial"/>
              <a:ea typeface="Arial"/>
              <a:cs typeface="Arial"/>
              <a:sym typeface="Arial"/>
            </a:endParaRPr>
          </a:p>
        </p:txBody>
      </p:sp>
      <p:sp>
        <p:nvSpPr>
          <p:cNvPr id="237" name="Google Shape;237;p5"/>
          <p:cNvSpPr txBox="1"/>
          <p:nvPr/>
        </p:nvSpPr>
        <p:spPr>
          <a:xfrm>
            <a:off x="4023350" y="5356123"/>
            <a:ext cx="4114800" cy="341700"/>
          </a:xfrm>
          <a:prstGeom prst="rect">
            <a:avLst/>
          </a:prstGeom>
          <a:noFill/>
          <a:ln>
            <a:noFill/>
          </a:ln>
        </p:spPr>
        <p:txBody>
          <a:bodyPr anchorCtr="0" anchor="t" bIns="9125" lIns="27425" spcFirstLastPara="1" rIns="27425" wrap="square" tIns="9125">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769FF"/>
                </a:solidFill>
                <a:latin typeface="Arial"/>
                <a:ea typeface="Arial"/>
                <a:cs typeface="Arial"/>
                <a:sym typeface="Arial"/>
              </a:rPr>
              <a:t>Build enough to validate → expand only when evidence supports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05  ·  BACKLOG STORY</a:t>
            </a:r>
            <a:endParaRPr b="0" i="0" sz="950" u="none" cap="none" strike="noStrike">
              <a:solidFill>
                <a:schemeClr val="dk1"/>
              </a:solidFill>
              <a:latin typeface="Inter"/>
              <a:ea typeface="Inter"/>
              <a:cs typeface="Inter"/>
              <a:sym typeface="Inter"/>
            </a:endParaRPr>
          </a:p>
        </p:txBody>
      </p:sp>
      <p:sp>
        <p:nvSpPr>
          <p:cNvPr id="244" name="Google Shape;244;p6"/>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06</a:t>
            </a:r>
            <a:endParaRPr b="0" i="0" sz="850" u="none" cap="none" strike="noStrike">
              <a:solidFill>
                <a:schemeClr val="dk1"/>
              </a:solidFill>
              <a:latin typeface="Inter"/>
              <a:ea typeface="Inter"/>
              <a:cs typeface="Inter"/>
              <a:sym typeface="Inter"/>
            </a:endParaRPr>
          </a:p>
        </p:txBody>
      </p:sp>
      <p:sp>
        <p:nvSpPr>
          <p:cNvPr id="245" name="Google Shape;245;p6"/>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246" name="Google Shape;246;p6"/>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950"/>
              <a:buFont typeface="Inter"/>
              <a:buNone/>
            </a:pPr>
            <a:r>
              <a:rPr b="1" i="0" lang="en-US" sz="2950" u="none" cap="none" strike="noStrike">
                <a:solidFill>
                  <a:srgbClr val="08163D"/>
                </a:solidFill>
                <a:latin typeface="Inter"/>
                <a:ea typeface="Inter"/>
                <a:cs typeface="Inter"/>
                <a:sym typeface="Inter"/>
              </a:rPr>
              <a:t>Human review is a product requirement.</a:t>
            </a:r>
            <a:endParaRPr b="0" i="0" sz="2950" u="none" cap="none" strike="noStrike">
              <a:solidFill>
                <a:schemeClr val="dk1"/>
              </a:solidFill>
              <a:latin typeface="Inter"/>
              <a:ea typeface="Inter"/>
              <a:cs typeface="Inter"/>
              <a:sym typeface="Inter"/>
            </a:endParaRPr>
          </a:p>
        </p:txBody>
      </p:sp>
      <p:sp>
        <p:nvSpPr>
          <p:cNvPr id="247" name="Google Shape;247;p6"/>
          <p:cNvSpPr/>
          <p:nvPr/>
        </p:nvSpPr>
        <p:spPr>
          <a:xfrm>
            <a:off x="411480" y="1225296"/>
            <a:ext cx="6766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1220"/>
              <a:buFont typeface="Inter"/>
              <a:buNone/>
            </a:pPr>
            <a:r>
              <a:rPr b="0" i="0" lang="en-US" sz="1220" u="none" cap="none" strike="noStrike">
                <a:solidFill>
                  <a:srgbClr val="64708B"/>
                </a:solidFill>
                <a:latin typeface="Inter"/>
                <a:ea typeface="Inter"/>
                <a:cs typeface="Inter"/>
                <a:sym typeface="Inter"/>
              </a:rPr>
              <a:t>One story turns the product principle into testable behaviour.</a:t>
            </a:r>
            <a:endParaRPr b="0" i="0" sz="1220" u="none" cap="none" strike="noStrike">
              <a:solidFill>
                <a:schemeClr val="dk1"/>
              </a:solidFill>
              <a:latin typeface="Inter"/>
              <a:ea typeface="Inter"/>
              <a:cs typeface="Inter"/>
              <a:sym typeface="Inter"/>
            </a:endParaRPr>
          </a:p>
        </p:txBody>
      </p:sp>
      <p:sp>
        <p:nvSpPr>
          <p:cNvPr id="248" name="Google Shape;248;p6"/>
          <p:cNvSpPr/>
          <p:nvPr/>
        </p:nvSpPr>
        <p:spPr>
          <a:xfrm>
            <a:off x="411480" y="1874520"/>
            <a:ext cx="6565392" cy="3840480"/>
          </a:xfrm>
          <a:prstGeom prst="roundRect">
            <a:avLst>
              <a:gd fmla="val 2857" name="adj"/>
            </a:avLst>
          </a:prstGeom>
          <a:solidFill>
            <a:srgbClr val="FFFFFF"/>
          </a:solidFill>
          <a:ln cap="flat" cmpd="sng" w="10150">
            <a:solidFill>
              <a:srgbClr val="DEE5F3"/>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49" name="Google Shape;249;p6"/>
          <p:cNvSpPr/>
          <p:nvPr/>
        </p:nvSpPr>
        <p:spPr>
          <a:xfrm>
            <a:off x="676656" y="2176272"/>
            <a:ext cx="1078992" cy="347472"/>
          </a:xfrm>
          <a:prstGeom prst="roundRect">
            <a:avLst>
              <a:gd fmla="val 31579" name="adj"/>
            </a:avLst>
          </a:prstGeom>
          <a:solidFill>
            <a:srgbClr val="EDE9FF"/>
          </a:solidFill>
          <a:ln cap="flat" cmpd="sng" w="10150">
            <a:solidFill>
              <a:srgbClr val="EDE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50" name="Google Shape;250;p6"/>
          <p:cNvSpPr/>
          <p:nvPr/>
        </p:nvSpPr>
        <p:spPr>
          <a:xfrm>
            <a:off x="841248" y="2276856"/>
            <a:ext cx="749808" cy="137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2DFF"/>
              </a:buClr>
              <a:buSzPts val="839"/>
              <a:buFont typeface="Inter"/>
              <a:buNone/>
            </a:pPr>
            <a:r>
              <a:rPr b="1" i="0" lang="en-US" sz="840" u="none" cap="none" strike="noStrike">
                <a:solidFill>
                  <a:srgbClr val="5A2DFF"/>
                </a:solidFill>
                <a:latin typeface="Inter"/>
                <a:ea typeface="Inter"/>
                <a:cs typeface="Inter"/>
                <a:sym typeface="Inter"/>
              </a:rPr>
              <a:t>US-31</a:t>
            </a:r>
            <a:endParaRPr b="0" i="0" sz="840" u="none" cap="none" strike="noStrike">
              <a:solidFill>
                <a:schemeClr val="dk1"/>
              </a:solidFill>
              <a:latin typeface="Inter"/>
              <a:ea typeface="Inter"/>
              <a:cs typeface="Inter"/>
              <a:sym typeface="Inter"/>
            </a:endParaRPr>
          </a:p>
        </p:txBody>
      </p:sp>
      <p:sp>
        <p:nvSpPr>
          <p:cNvPr id="251" name="Google Shape;251;p6"/>
          <p:cNvSpPr/>
          <p:nvPr/>
        </p:nvSpPr>
        <p:spPr>
          <a:xfrm>
            <a:off x="676656" y="2688336"/>
            <a:ext cx="53035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8163D"/>
              </a:buClr>
              <a:buSzPts val="2250"/>
              <a:buFont typeface="Inter"/>
              <a:buNone/>
            </a:pPr>
            <a:r>
              <a:rPr b="1" i="0" lang="en-US" sz="2250" u="none" cap="none" strike="noStrike">
                <a:solidFill>
                  <a:srgbClr val="08163D"/>
                </a:solidFill>
                <a:latin typeface="Inter"/>
                <a:ea typeface="Inter"/>
                <a:cs typeface="Inter"/>
                <a:sym typeface="Inter"/>
              </a:rPr>
              <a:t>Review AI Recommendation</a:t>
            </a:r>
            <a:endParaRPr b="0" i="0" sz="2250" u="none" cap="none" strike="noStrike">
              <a:solidFill>
                <a:schemeClr val="dk1"/>
              </a:solidFill>
              <a:latin typeface="Inter"/>
              <a:ea typeface="Inter"/>
              <a:cs typeface="Inter"/>
              <a:sym typeface="Inter"/>
            </a:endParaRPr>
          </a:p>
        </p:txBody>
      </p:sp>
      <p:sp>
        <p:nvSpPr>
          <p:cNvPr id="252" name="Google Shape;252;p6"/>
          <p:cNvSpPr/>
          <p:nvPr/>
        </p:nvSpPr>
        <p:spPr>
          <a:xfrm>
            <a:off x="713232" y="3291840"/>
            <a:ext cx="5870448" cy="1143000"/>
          </a:xfrm>
          <a:prstGeom prst="rect">
            <a:avLst/>
          </a:prstGeom>
          <a:noFill/>
          <a:ln>
            <a:noFill/>
          </a:ln>
        </p:spPr>
        <p:txBody>
          <a:bodyPr anchorCtr="0" anchor="ctr" bIns="375" lIns="375" spcFirstLastPara="1" rIns="375" wrap="square" tIns="375">
            <a:normAutofit/>
          </a:bodyPr>
          <a:lstStyle/>
          <a:p>
            <a:pPr indent="0" lvl="0" marL="0" marR="0" rtl="0" algn="l">
              <a:lnSpc>
                <a:spcPct val="100000"/>
              </a:lnSpc>
              <a:spcBef>
                <a:spcPts val="0"/>
              </a:spcBef>
              <a:spcAft>
                <a:spcPts val="0"/>
              </a:spcAft>
              <a:buClr>
                <a:srgbClr val="101A3A"/>
              </a:buClr>
              <a:buSzPts val="1410"/>
              <a:buFont typeface="Inter"/>
              <a:buNone/>
            </a:pPr>
            <a:r>
              <a:rPr b="0" i="1" lang="en-US" sz="1410" u="none" cap="none" strike="noStrike">
                <a:solidFill>
                  <a:srgbClr val="101A3A"/>
                </a:solidFill>
                <a:latin typeface="Inter"/>
                <a:ea typeface="Inter"/>
                <a:cs typeface="Inter"/>
                <a:sym typeface="Inter"/>
              </a:rPr>
              <a:t>As an active job seeker, I want to review the context and reasoning behind an AI recommendation, so that I can decide whether it is relevant before taking any action.</a:t>
            </a:r>
            <a:endParaRPr b="0" i="0" sz="1410" u="none" cap="none" strike="noStrike">
              <a:solidFill>
                <a:schemeClr val="dk1"/>
              </a:solidFill>
              <a:latin typeface="Inter"/>
              <a:ea typeface="Inter"/>
              <a:cs typeface="Inter"/>
              <a:sym typeface="Inter"/>
            </a:endParaRPr>
          </a:p>
        </p:txBody>
      </p:sp>
      <p:cxnSp>
        <p:nvCxnSpPr>
          <p:cNvPr id="253" name="Google Shape;253;p6"/>
          <p:cNvCxnSpPr/>
          <p:nvPr/>
        </p:nvCxnSpPr>
        <p:spPr>
          <a:xfrm>
            <a:off x="713232" y="4718304"/>
            <a:ext cx="5760720" cy="0"/>
          </a:xfrm>
          <a:prstGeom prst="straightConnector1">
            <a:avLst/>
          </a:prstGeom>
          <a:noFill/>
          <a:ln cap="flat" cmpd="sng" w="12700">
            <a:solidFill>
              <a:srgbClr val="E3E8F2"/>
            </a:solidFill>
            <a:prstDash val="solid"/>
            <a:round/>
            <a:headEnd len="sm" w="sm" type="none"/>
            <a:tailEnd len="sm" w="sm" type="none"/>
          </a:ln>
        </p:spPr>
      </p:cxnSp>
      <p:sp>
        <p:nvSpPr>
          <p:cNvPr id="254" name="Google Shape;254;p6"/>
          <p:cNvSpPr/>
          <p:nvPr/>
        </p:nvSpPr>
        <p:spPr>
          <a:xfrm>
            <a:off x="713232" y="5001768"/>
            <a:ext cx="43159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CFF"/>
              </a:buClr>
              <a:buSzPts val="970"/>
              <a:buFont typeface="Inter"/>
              <a:buNone/>
            </a:pPr>
            <a:r>
              <a:rPr b="1" i="0" lang="en-US" sz="970" u="none" cap="none" strike="noStrike">
                <a:solidFill>
                  <a:srgbClr val="1B5CFF"/>
                </a:solidFill>
                <a:latin typeface="Inter"/>
                <a:ea typeface="Inter"/>
                <a:cs typeface="Inter"/>
                <a:sym typeface="Inter"/>
              </a:rPr>
              <a:t>Strategy → backlog → implementation → demo</a:t>
            </a:r>
            <a:endParaRPr b="0" i="0" sz="970" u="none" cap="none" strike="noStrike">
              <a:solidFill>
                <a:schemeClr val="dk1"/>
              </a:solidFill>
              <a:latin typeface="Inter"/>
              <a:ea typeface="Inter"/>
              <a:cs typeface="Inter"/>
              <a:sym typeface="Inter"/>
            </a:endParaRPr>
          </a:p>
        </p:txBody>
      </p:sp>
      <p:sp>
        <p:nvSpPr>
          <p:cNvPr id="255" name="Google Shape;255;p6"/>
          <p:cNvSpPr/>
          <p:nvPr/>
        </p:nvSpPr>
        <p:spPr>
          <a:xfrm>
            <a:off x="7333488" y="2029968"/>
            <a:ext cx="237744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839"/>
              <a:buFont typeface="Inter"/>
              <a:buNone/>
            </a:pPr>
            <a:r>
              <a:rPr b="1" i="0" lang="en-US" sz="840" u="none" cap="none" strike="noStrike">
                <a:solidFill>
                  <a:srgbClr val="64708B"/>
                </a:solidFill>
                <a:latin typeface="Inter"/>
                <a:ea typeface="Inter"/>
                <a:cs typeface="Inter"/>
                <a:sym typeface="Inter"/>
              </a:rPr>
              <a:t>ACCEPTANCE CRITERIA</a:t>
            </a:r>
            <a:endParaRPr b="0" i="0" sz="840" u="none" cap="none" strike="noStrike">
              <a:solidFill>
                <a:schemeClr val="dk1"/>
              </a:solidFill>
              <a:latin typeface="Inter"/>
              <a:ea typeface="Inter"/>
              <a:cs typeface="Inter"/>
              <a:sym typeface="Inter"/>
            </a:endParaRPr>
          </a:p>
        </p:txBody>
      </p:sp>
      <p:sp>
        <p:nvSpPr>
          <p:cNvPr id="256" name="Google Shape;256;p6"/>
          <p:cNvSpPr/>
          <p:nvPr/>
        </p:nvSpPr>
        <p:spPr>
          <a:xfrm>
            <a:off x="7333488" y="2423160"/>
            <a:ext cx="3730752" cy="484632"/>
          </a:xfrm>
          <a:prstGeom prst="roundRect">
            <a:avLst>
              <a:gd fmla="val 22642" name="adj"/>
            </a:avLst>
          </a:prstGeom>
          <a:solidFill>
            <a:srgbClr val="FFFFFF"/>
          </a:solidFill>
          <a:ln cap="flat" cmpd="sng" w="10150">
            <a:solidFill>
              <a:srgbClr val="E0E6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57" name="Google Shape;257;p6"/>
          <p:cNvSpPr/>
          <p:nvPr/>
        </p:nvSpPr>
        <p:spPr>
          <a:xfrm>
            <a:off x="7479792" y="2496312"/>
            <a:ext cx="329184" cy="329184"/>
          </a:xfrm>
          <a:prstGeom prst="ellipse">
            <a:avLst/>
          </a:prstGeom>
          <a:solidFill>
            <a:srgbClr val="EAF4FF"/>
          </a:solidFill>
          <a:ln cap="flat" cmpd="sng" w="12700">
            <a:solidFill>
              <a:srgbClr val="EAF4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58" name="Google Shape;258;p6"/>
          <p:cNvPicPr preferRelativeResize="0"/>
          <p:nvPr/>
        </p:nvPicPr>
        <p:blipFill rotWithShape="1">
          <a:blip r:embed="rId3">
            <a:alphaModFix/>
          </a:blip>
          <a:srcRect b="0" l="0" r="0" t="0"/>
          <a:stretch/>
        </p:blipFill>
        <p:spPr>
          <a:xfrm>
            <a:off x="7562088" y="2578608"/>
            <a:ext cx="164592" cy="164592"/>
          </a:xfrm>
          <a:prstGeom prst="rect">
            <a:avLst/>
          </a:prstGeom>
          <a:noFill/>
          <a:ln>
            <a:noFill/>
          </a:ln>
        </p:spPr>
      </p:pic>
      <p:sp>
        <p:nvSpPr>
          <p:cNvPr id="259" name="Google Shape;259;p6"/>
          <p:cNvSpPr/>
          <p:nvPr/>
        </p:nvSpPr>
        <p:spPr>
          <a:xfrm>
            <a:off x="7936992" y="2560320"/>
            <a:ext cx="278892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Clear action</a:t>
            </a:r>
            <a:endParaRPr b="0" i="0" sz="1020" u="none" cap="none" strike="noStrike">
              <a:solidFill>
                <a:schemeClr val="dk1"/>
              </a:solidFill>
              <a:latin typeface="Inter"/>
              <a:ea typeface="Inter"/>
              <a:cs typeface="Inter"/>
              <a:sym typeface="Inter"/>
            </a:endParaRPr>
          </a:p>
        </p:txBody>
      </p:sp>
      <p:sp>
        <p:nvSpPr>
          <p:cNvPr id="260" name="Google Shape;260;p6"/>
          <p:cNvSpPr/>
          <p:nvPr/>
        </p:nvSpPr>
        <p:spPr>
          <a:xfrm>
            <a:off x="7333488" y="3035808"/>
            <a:ext cx="3730752" cy="484632"/>
          </a:xfrm>
          <a:prstGeom prst="roundRect">
            <a:avLst>
              <a:gd fmla="val 22642" name="adj"/>
            </a:avLst>
          </a:prstGeom>
          <a:solidFill>
            <a:srgbClr val="FFFFFF"/>
          </a:solidFill>
          <a:ln cap="flat" cmpd="sng" w="10150">
            <a:solidFill>
              <a:srgbClr val="E0E6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61" name="Google Shape;261;p6"/>
          <p:cNvSpPr/>
          <p:nvPr/>
        </p:nvSpPr>
        <p:spPr>
          <a:xfrm>
            <a:off x="7479792" y="3108960"/>
            <a:ext cx="329184" cy="329184"/>
          </a:xfrm>
          <a:prstGeom prst="ellipse">
            <a:avLst/>
          </a:prstGeom>
          <a:solidFill>
            <a:srgbClr val="EDF9FF"/>
          </a:solidFill>
          <a:ln cap="flat" cmpd="sng" w="12700">
            <a:solidFill>
              <a:srgbClr val="EDF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62" name="Google Shape;262;p6"/>
          <p:cNvPicPr preferRelativeResize="0"/>
          <p:nvPr/>
        </p:nvPicPr>
        <p:blipFill rotWithShape="1">
          <a:blip r:embed="rId4">
            <a:alphaModFix/>
          </a:blip>
          <a:srcRect b="0" l="0" r="0" t="0"/>
          <a:stretch/>
        </p:blipFill>
        <p:spPr>
          <a:xfrm>
            <a:off x="7562088" y="3191256"/>
            <a:ext cx="164592" cy="164592"/>
          </a:xfrm>
          <a:prstGeom prst="rect">
            <a:avLst/>
          </a:prstGeom>
          <a:noFill/>
          <a:ln>
            <a:noFill/>
          </a:ln>
        </p:spPr>
      </p:pic>
      <p:sp>
        <p:nvSpPr>
          <p:cNvPr id="263" name="Google Shape;263;p6"/>
          <p:cNvSpPr/>
          <p:nvPr/>
        </p:nvSpPr>
        <p:spPr>
          <a:xfrm>
            <a:off x="7936992" y="3172968"/>
            <a:ext cx="278892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Evidence + context</a:t>
            </a:r>
            <a:endParaRPr b="0" i="0" sz="1020" u="none" cap="none" strike="noStrike">
              <a:solidFill>
                <a:schemeClr val="dk1"/>
              </a:solidFill>
              <a:latin typeface="Inter"/>
              <a:ea typeface="Inter"/>
              <a:cs typeface="Inter"/>
              <a:sym typeface="Inter"/>
            </a:endParaRPr>
          </a:p>
        </p:txBody>
      </p:sp>
      <p:sp>
        <p:nvSpPr>
          <p:cNvPr id="264" name="Google Shape;264;p6"/>
          <p:cNvSpPr/>
          <p:nvPr/>
        </p:nvSpPr>
        <p:spPr>
          <a:xfrm>
            <a:off x="7333488" y="3648456"/>
            <a:ext cx="3730752" cy="484632"/>
          </a:xfrm>
          <a:prstGeom prst="roundRect">
            <a:avLst>
              <a:gd fmla="val 22642" name="adj"/>
            </a:avLst>
          </a:prstGeom>
          <a:solidFill>
            <a:srgbClr val="FFFFFF"/>
          </a:solidFill>
          <a:ln cap="flat" cmpd="sng" w="10150">
            <a:solidFill>
              <a:srgbClr val="E0E6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65" name="Google Shape;265;p6"/>
          <p:cNvSpPr/>
          <p:nvPr/>
        </p:nvSpPr>
        <p:spPr>
          <a:xfrm>
            <a:off x="7479792" y="3721608"/>
            <a:ext cx="329184" cy="329184"/>
          </a:xfrm>
          <a:prstGeom prst="ellipse">
            <a:avLst/>
          </a:prstGeom>
          <a:solidFill>
            <a:srgbClr val="F0ECFF"/>
          </a:solidFill>
          <a:ln cap="flat" cmpd="sng" w="12700">
            <a:solidFill>
              <a:srgbClr val="F0E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66" name="Google Shape;266;p6"/>
          <p:cNvPicPr preferRelativeResize="0"/>
          <p:nvPr/>
        </p:nvPicPr>
        <p:blipFill rotWithShape="1">
          <a:blip r:embed="rId5">
            <a:alphaModFix/>
          </a:blip>
          <a:srcRect b="0" l="0" r="0" t="0"/>
          <a:stretch/>
        </p:blipFill>
        <p:spPr>
          <a:xfrm>
            <a:off x="7562088" y="3803904"/>
            <a:ext cx="164592" cy="164592"/>
          </a:xfrm>
          <a:prstGeom prst="rect">
            <a:avLst/>
          </a:prstGeom>
          <a:noFill/>
          <a:ln>
            <a:noFill/>
          </a:ln>
        </p:spPr>
      </p:pic>
      <p:sp>
        <p:nvSpPr>
          <p:cNvPr id="267" name="Google Shape;267;p6"/>
          <p:cNvSpPr/>
          <p:nvPr/>
        </p:nvSpPr>
        <p:spPr>
          <a:xfrm>
            <a:off x="7936992" y="3785616"/>
            <a:ext cx="278892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Facts ≠ AI interpretation</a:t>
            </a:r>
            <a:endParaRPr b="0" i="0" sz="1020" u="none" cap="none" strike="noStrike">
              <a:solidFill>
                <a:schemeClr val="dk1"/>
              </a:solidFill>
              <a:latin typeface="Inter"/>
              <a:ea typeface="Inter"/>
              <a:cs typeface="Inter"/>
              <a:sym typeface="Inter"/>
            </a:endParaRPr>
          </a:p>
        </p:txBody>
      </p:sp>
      <p:sp>
        <p:nvSpPr>
          <p:cNvPr id="268" name="Google Shape;268;p6"/>
          <p:cNvSpPr/>
          <p:nvPr/>
        </p:nvSpPr>
        <p:spPr>
          <a:xfrm>
            <a:off x="7333488" y="4261104"/>
            <a:ext cx="3730752" cy="484632"/>
          </a:xfrm>
          <a:prstGeom prst="roundRect">
            <a:avLst>
              <a:gd fmla="val 22642" name="adj"/>
            </a:avLst>
          </a:prstGeom>
          <a:solidFill>
            <a:srgbClr val="FFFFFF"/>
          </a:solidFill>
          <a:ln cap="flat" cmpd="sng" w="10150">
            <a:solidFill>
              <a:srgbClr val="E0E6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69" name="Google Shape;269;p6"/>
          <p:cNvSpPr/>
          <p:nvPr/>
        </p:nvSpPr>
        <p:spPr>
          <a:xfrm>
            <a:off x="7479792" y="4334256"/>
            <a:ext cx="329184" cy="329184"/>
          </a:xfrm>
          <a:prstGeom prst="ellipse">
            <a:avLst/>
          </a:prstGeom>
          <a:solidFill>
            <a:srgbClr val="FFF8E7"/>
          </a:solidFill>
          <a:ln cap="flat" cmpd="sng" w="12700">
            <a:solidFill>
              <a:srgbClr val="FFF8E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70" name="Google Shape;270;p6"/>
          <p:cNvPicPr preferRelativeResize="0"/>
          <p:nvPr/>
        </p:nvPicPr>
        <p:blipFill rotWithShape="1">
          <a:blip r:embed="rId6">
            <a:alphaModFix/>
          </a:blip>
          <a:srcRect b="0" l="0" r="0" t="0"/>
          <a:stretch/>
        </p:blipFill>
        <p:spPr>
          <a:xfrm>
            <a:off x="7562088" y="4416552"/>
            <a:ext cx="164592" cy="164592"/>
          </a:xfrm>
          <a:prstGeom prst="rect">
            <a:avLst/>
          </a:prstGeom>
          <a:noFill/>
          <a:ln>
            <a:noFill/>
          </a:ln>
        </p:spPr>
      </p:pic>
      <p:sp>
        <p:nvSpPr>
          <p:cNvPr id="271" name="Google Shape;271;p6"/>
          <p:cNvSpPr/>
          <p:nvPr/>
        </p:nvSpPr>
        <p:spPr>
          <a:xfrm>
            <a:off x="7936992" y="4398264"/>
            <a:ext cx="278892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Uncertainty visible</a:t>
            </a:r>
            <a:endParaRPr b="0" i="0" sz="1020" u="none" cap="none" strike="noStrike">
              <a:solidFill>
                <a:schemeClr val="dk1"/>
              </a:solidFill>
              <a:latin typeface="Inter"/>
              <a:ea typeface="Inter"/>
              <a:cs typeface="Inter"/>
              <a:sym typeface="Inter"/>
            </a:endParaRPr>
          </a:p>
        </p:txBody>
      </p:sp>
      <p:sp>
        <p:nvSpPr>
          <p:cNvPr id="272" name="Google Shape;272;p6"/>
          <p:cNvSpPr/>
          <p:nvPr/>
        </p:nvSpPr>
        <p:spPr>
          <a:xfrm>
            <a:off x="7333488" y="4873752"/>
            <a:ext cx="3730752" cy="484632"/>
          </a:xfrm>
          <a:prstGeom prst="roundRect">
            <a:avLst>
              <a:gd fmla="val 22642" name="adj"/>
            </a:avLst>
          </a:prstGeom>
          <a:solidFill>
            <a:srgbClr val="FFFFFF"/>
          </a:solidFill>
          <a:ln cap="flat" cmpd="sng" w="10150">
            <a:solidFill>
              <a:srgbClr val="E0E6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73" name="Google Shape;273;p6"/>
          <p:cNvSpPr/>
          <p:nvPr/>
        </p:nvSpPr>
        <p:spPr>
          <a:xfrm>
            <a:off x="7479792" y="4946904"/>
            <a:ext cx="329184" cy="329184"/>
          </a:xfrm>
          <a:prstGeom prst="ellipse">
            <a:avLst/>
          </a:prstGeom>
          <a:solidFill>
            <a:srgbClr val="FFF1F3"/>
          </a:solidFill>
          <a:ln cap="flat" cmpd="sng" w="12700">
            <a:solidFill>
              <a:srgbClr val="FFF1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74" name="Google Shape;274;p6"/>
          <p:cNvPicPr preferRelativeResize="0"/>
          <p:nvPr/>
        </p:nvPicPr>
        <p:blipFill rotWithShape="1">
          <a:blip r:embed="rId7">
            <a:alphaModFix/>
          </a:blip>
          <a:srcRect b="0" l="0" r="0" t="0"/>
          <a:stretch/>
        </p:blipFill>
        <p:spPr>
          <a:xfrm>
            <a:off x="7562088" y="5029200"/>
            <a:ext cx="164592" cy="164592"/>
          </a:xfrm>
          <a:prstGeom prst="rect">
            <a:avLst/>
          </a:prstGeom>
          <a:noFill/>
          <a:ln>
            <a:noFill/>
          </a:ln>
        </p:spPr>
      </p:pic>
      <p:sp>
        <p:nvSpPr>
          <p:cNvPr id="275" name="Google Shape;275;p6"/>
          <p:cNvSpPr/>
          <p:nvPr/>
        </p:nvSpPr>
        <p:spPr>
          <a:xfrm>
            <a:off x="7936992" y="5010912"/>
            <a:ext cx="278892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No automatic action</a:t>
            </a:r>
            <a:endParaRPr b="0" i="0" sz="1020" u="none" cap="none" strike="noStrike">
              <a:solidFill>
                <a:schemeClr val="dk1"/>
              </a:solidFill>
              <a:latin typeface="Inter"/>
              <a:ea typeface="Inter"/>
              <a:cs typeface="Inter"/>
              <a:sym typeface="Inter"/>
            </a:endParaRPr>
          </a:p>
        </p:txBody>
      </p:sp>
      <p:sp>
        <p:nvSpPr>
          <p:cNvPr id="276" name="Google Shape;276;p6"/>
          <p:cNvSpPr/>
          <p:nvPr/>
        </p:nvSpPr>
        <p:spPr>
          <a:xfrm>
            <a:off x="7333488" y="5541264"/>
            <a:ext cx="3730752" cy="329184"/>
          </a:xfrm>
          <a:prstGeom prst="roundRect">
            <a:avLst>
              <a:gd fmla="val 33333" name="adj"/>
            </a:avLst>
          </a:prstGeom>
          <a:solidFill>
            <a:srgbClr val="F5F7FF"/>
          </a:solidFill>
          <a:ln cap="flat" cmpd="sng" w="10150">
            <a:solidFill>
              <a:srgbClr val="E7EB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77" name="Google Shape;277;p6"/>
          <p:cNvSpPr/>
          <p:nvPr/>
        </p:nvSpPr>
        <p:spPr>
          <a:xfrm>
            <a:off x="7498080" y="5632704"/>
            <a:ext cx="3401568" cy="146304"/>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5A2DFF"/>
              </a:buClr>
              <a:buSzPts val="780"/>
              <a:buFont typeface="Inter"/>
              <a:buNone/>
            </a:pPr>
            <a:r>
              <a:rPr b="1" i="0" lang="en-US" sz="780" u="none" cap="none" strike="noStrike">
                <a:solidFill>
                  <a:srgbClr val="5A2DFF"/>
                </a:solidFill>
                <a:latin typeface="Inter"/>
                <a:ea typeface="Inter"/>
                <a:cs typeface="Inter"/>
                <a:sym typeface="Inter"/>
              </a:rPr>
              <a:t>AI may suggest  ·  the user must understand and decide</a:t>
            </a:r>
            <a:endParaRPr b="0" i="0" sz="780" u="none" cap="none" strike="noStrike">
              <a:solidFill>
                <a:schemeClr val="dk1"/>
              </a:solidFill>
              <a:latin typeface="Inter"/>
              <a:ea typeface="Inter"/>
              <a:cs typeface="Inter"/>
              <a:sym typeface="Inter"/>
            </a:endParaRPr>
          </a:p>
        </p:txBody>
      </p:sp>
      <p:pic>
        <p:nvPicPr>
          <p:cNvPr id="278" name="Google Shape;278;p6" title="CareerPilot_Visual Identity (2).png"/>
          <p:cNvPicPr preferRelativeResize="0"/>
          <p:nvPr/>
        </p:nvPicPr>
        <p:blipFill rotWithShape="1">
          <a:blip r:embed="rId8">
            <a:alphaModFix amt="50000"/>
          </a:blip>
          <a:srcRect b="0" l="0" r="0" t="0"/>
          <a:stretch/>
        </p:blipFill>
        <p:spPr>
          <a:xfrm>
            <a:off x="11192248" y="265173"/>
            <a:ext cx="539500" cy="5621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63D"/>
        </a:solidFill>
      </p:bgPr>
    </p:bg>
    <p:spTree>
      <p:nvGrpSpPr>
        <p:cNvPr id="283" name="Shape 283"/>
        <p:cNvGrpSpPr/>
        <p:nvPr/>
      </p:nvGrpSpPr>
      <p:grpSpPr>
        <a:xfrm>
          <a:off x="0" y="0"/>
          <a:ext cx="0" cy="0"/>
          <a:chOff x="0" y="0"/>
          <a:chExt cx="0" cy="0"/>
        </a:xfrm>
      </p:grpSpPr>
      <p:sp>
        <p:nvSpPr>
          <p:cNvPr id="284" name="Google Shape;284;p7"/>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E9DFF"/>
              </a:buClr>
              <a:buSzPts val="950"/>
              <a:buFont typeface="Inter"/>
              <a:buNone/>
            </a:pPr>
            <a:r>
              <a:rPr b="1" i="0" lang="en-US" sz="950" u="none" cap="none" strike="noStrike">
                <a:solidFill>
                  <a:srgbClr val="8E9DFF"/>
                </a:solidFill>
                <a:latin typeface="Inter"/>
                <a:ea typeface="Inter"/>
                <a:cs typeface="Inter"/>
                <a:sym typeface="Inter"/>
              </a:rPr>
              <a:t>06  ·  LIVE MVP DEMO</a:t>
            </a:r>
            <a:endParaRPr b="0" i="0" sz="950" u="none" cap="none" strike="noStrike">
              <a:solidFill>
                <a:schemeClr val="dk1"/>
              </a:solidFill>
              <a:latin typeface="Inter"/>
              <a:ea typeface="Inter"/>
              <a:cs typeface="Inter"/>
              <a:sym typeface="Inter"/>
            </a:endParaRPr>
          </a:p>
        </p:txBody>
      </p:sp>
      <p:sp>
        <p:nvSpPr>
          <p:cNvPr id="285" name="Google Shape;285;p7"/>
          <p:cNvSpPr/>
          <p:nvPr/>
        </p:nvSpPr>
        <p:spPr>
          <a:xfrm>
            <a:off x="530352" y="841248"/>
            <a:ext cx="10927080" cy="65836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2920"/>
              <a:buFont typeface="Inter"/>
              <a:buNone/>
            </a:pPr>
            <a:r>
              <a:rPr b="1" i="0" lang="en-US" sz="2920" u="none" cap="none" strike="noStrike">
                <a:solidFill>
                  <a:srgbClr val="FFFFFF"/>
                </a:solidFill>
                <a:latin typeface="Inter"/>
                <a:ea typeface="Inter"/>
                <a:cs typeface="Inter"/>
                <a:sym typeface="Inter"/>
              </a:rPr>
              <a:t>From evidence to a user-controlled recommendation</a:t>
            </a:r>
            <a:endParaRPr b="0" i="0" sz="2920" u="none" cap="none" strike="noStrike">
              <a:solidFill>
                <a:schemeClr val="dk1"/>
              </a:solidFill>
              <a:latin typeface="Inter"/>
              <a:ea typeface="Inter"/>
              <a:cs typeface="Inter"/>
              <a:sym typeface="Inter"/>
            </a:endParaRPr>
          </a:p>
        </p:txBody>
      </p:sp>
      <p:sp>
        <p:nvSpPr>
          <p:cNvPr id="286" name="Google Shape;286;p7"/>
          <p:cNvSpPr/>
          <p:nvPr/>
        </p:nvSpPr>
        <p:spPr>
          <a:xfrm>
            <a:off x="1874520" y="1554480"/>
            <a:ext cx="841248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9C4E3"/>
              </a:buClr>
              <a:buSzPts val="1250"/>
              <a:buFont typeface="Inter"/>
              <a:buNone/>
            </a:pPr>
            <a:r>
              <a:rPr b="0" i="0" lang="en-US" sz="1250" u="none" cap="none" strike="noStrike">
                <a:solidFill>
                  <a:srgbClr val="B9C4E3"/>
                </a:solidFill>
                <a:latin typeface="Inter"/>
                <a:ea typeface="Inter"/>
                <a:cs typeface="Inter"/>
                <a:sym typeface="Inter"/>
              </a:rPr>
              <a:t>Watch the decision-support loop — not a feature tour.</a:t>
            </a:r>
            <a:endParaRPr b="0" i="0" sz="1250" u="none" cap="none" strike="noStrike">
              <a:solidFill>
                <a:schemeClr val="dk1"/>
              </a:solidFill>
              <a:latin typeface="Inter"/>
              <a:ea typeface="Inter"/>
              <a:cs typeface="Inter"/>
              <a:sym typeface="Inter"/>
            </a:endParaRPr>
          </a:p>
        </p:txBody>
      </p:sp>
      <p:sp>
        <p:nvSpPr>
          <p:cNvPr id="287" name="Google Shape;287;p7"/>
          <p:cNvSpPr/>
          <p:nvPr/>
        </p:nvSpPr>
        <p:spPr>
          <a:xfrm>
            <a:off x="594360" y="2423160"/>
            <a:ext cx="1729740" cy="1399032"/>
          </a:xfrm>
          <a:prstGeom prst="roundRect">
            <a:avLst>
              <a:gd fmla="val 7843" name="adj"/>
            </a:avLst>
          </a:prstGeom>
          <a:solidFill>
            <a:srgbClr val="102354"/>
          </a:solidFill>
          <a:ln cap="flat" cmpd="sng" w="10150">
            <a:solidFill>
              <a:srgbClr val="24427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88" name="Google Shape;288;p7"/>
          <p:cNvSpPr/>
          <p:nvPr/>
        </p:nvSpPr>
        <p:spPr>
          <a:xfrm>
            <a:off x="1230630" y="2706624"/>
            <a:ext cx="457200" cy="457200"/>
          </a:xfrm>
          <a:prstGeom prst="ellipse">
            <a:avLst/>
          </a:prstGeom>
          <a:solidFill>
            <a:srgbClr val="173873"/>
          </a:solidFill>
          <a:ln cap="flat" cmpd="sng" w="12700">
            <a:solidFill>
              <a:srgbClr val="1738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89" name="Google Shape;289;p7"/>
          <p:cNvPicPr preferRelativeResize="0"/>
          <p:nvPr/>
        </p:nvPicPr>
        <p:blipFill rotWithShape="1">
          <a:blip r:embed="rId3">
            <a:alphaModFix/>
          </a:blip>
          <a:srcRect b="0" l="0" r="0" t="0"/>
          <a:stretch/>
        </p:blipFill>
        <p:spPr>
          <a:xfrm>
            <a:off x="1340358" y="2816352"/>
            <a:ext cx="237744" cy="237744"/>
          </a:xfrm>
          <a:prstGeom prst="rect">
            <a:avLst/>
          </a:prstGeom>
          <a:noFill/>
          <a:ln>
            <a:noFill/>
          </a:ln>
        </p:spPr>
      </p:pic>
      <p:sp>
        <p:nvSpPr>
          <p:cNvPr id="290" name="Google Shape;290;p7"/>
          <p:cNvSpPr/>
          <p:nvPr/>
        </p:nvSpPr>
        <p:spPr>
          <a:xfrm>
            <a:off x="676656" y="3300984"/>
            <a:ext cx="1565148" cy="2743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960"/>
              <a:buFont typeface="Inter"/>
              <a:buNone/>
            </a:pPr>
            <a:r>
              <a:rPr b="1" i="0" lang="en-US" sz="960" u="none" cap="none" strike="noStrike">
                <a:solidFill>
                  <a:srgbClr val="FFFFFF"/>
                </a:solidFill>
                <a:latin typeface="Inter"/>
                <a:ea typeface="Inter"/>
                <a:cs typeface="Inter"/>
                <a:sym typeface="Inter"/>
              </a:rPr>
              <a:t>Context</a:t>
            </a:r>
            <a:endParaRPr b="0" i="0" sz="960" u="none" cap="none" strike="noStrike">
              <a:solidFill>
                <a:schemeClr val="dk1"/>
              </a:solidFill>
              <a:latin typeface="Inter"/>
              <a:ea typeface="Inter"/>
              <a:cs typeface="Inter"/>
              <a:sym typeface="Inter"/>
            </a:endParaRPr>
          </a:p>
        </p:txBody>
      </p:sp>
      <p:cxnSp>
        <p:nvCxnSpPr>
          <p:cNvPr id="291" name="Google Shape;291;p7"/>
          <p:cNvCxnSpPr/>
          <p:nvPr/>
        </p:nvCxnSpPr>
        <p:spPr>
          <a:xfrm>
            <a:off x="2333244" y="3118104"/>
            <a:ext cx="100584" cy="0"/>
          </a:xfrm>
          <a:prstGeom prst="straightConnector1">
            <a:avLst/>
          </a:prstGeom>
          <a:noFill/>
          <a:ln cap="flat" cmpd="sng" w="20300">
            <a:solidFill>
              <a:srgbClr val="6079C9"/>
            </a:solidFill>
            <a:prstDash val="solid"/>
            <a:round/>
            <a:headEnd len="sm" w="sm" type="none"/>
            <a:tailEnd len="med" w="med" type="triangle"/>
          </a:ln>
        </p:spPr>
      </p:cxnSp>
      <p:sp>
        <p:nvSpPr>
          <p:cNvPr id="292" name="Google Shape;292;p7"/>
          <p:cNvSpPr/>
          <p:nvPr/>
        </p:nvSpPr>
        <p:spPr>
          <a:xfrm>
            <a:off x="2442972" y="2423160"/>
            <a:ext cx="1729740" cy="1399032"/>
          </a:xfrm>
          <a:prstGeom prst="roundRect">
            <a:avLst>
              <a:gd fmla="val 7843" name="adj"/>
            </a:avLst>
          </a:prstGeom>
          <a:solidFill>
            <a:srgbClr val="102354"/>
          </a:solidFill>
          <a:ln cap="flat" cmpd="sng" w="10150">
            <a:solidFill>
              <a:srgbClr val="24427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93" name="Google Shape;293;p7"/>
          <p:cNvSpPr/>
          <p:nvPr/>
        </p:nvSpPr>
        <p:spPr>
          <a:xfrm>
            <a:off x="3079242" y="2706624"/>
            <a:ext cx="457200" cy="457200"/>
          </a:xfrm>
          <a:prstGeom prst="ellipse">
            <a:avLst/>
          </a:prstGeom>
          <a:solidFill>
            <a:srgbClr val="173873"/>
          </a:solidFill>
          <a:ln cap="flat" cmpd="sng" w="12700">
            <a:solidFill>
              <a:srgbClr val="1738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94" name="Google Shape;294;p7"/>
          <p:cNvPicPr preferRelativeResize="0"/>
          <p:nvPr/>
        </p:nvPicPr>
        <p:blipFill rotWithShape="1">
          <a:blip r:embed="rId4">
            <a:alphaModFix/>
          </a:blip>
          <a:srcRect b="0" l="0" r="0" t="0"/>
          <a:stretch/>
        </p:blipFill>
        <p:spPr>
          <a:xfrm>
            <a:off x="3188970" y="2816352"/>
            <a:ext cx="237744" cy="237744"/>
          </a:xfrm>
          <a:prstGeom prst="rect">
            <a:avLst/>
          </a:prstGeom>
          <a:noFill/>
          <a:ln>
            <a:noFill/>
          </a:ln>
        </p:spPr>
      </p:pic>
      <p:sp>
        <p:nvSpPr>
          <p:cNvPr id="295" name="Google Shape;295;p7"/>
          <p:cNvSpPr/>
          <p:nvPr/>
        </p:nvSpPr>
        <p:spPr>
          <a:xfrm>
            <a:off x="2525268" y="3300984"/>
            <a:ext cx="1565148" cy="2743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960"/>
              <a:buFont typeface="Inter"/>
              <a:buNone/>
            </a:pPr>
            <a:r>
              <a:rPr b="1" i="0" lang="en-US" sz="960" u="none" cap="none" strike="noStrike">
                <a:solidFill>
                  <a:srgbClr val="FFFFFF"/>
                </a:solidFill>
                <a:latin typeface="Inter"/>
                <a:ea typeface="Inter"/>
                <a:cs typeface="Inter"/>
                <a:sym typeface="Inter"/>
              </a:rPr>
              <a:t>Job</a:t>
            </a:r>
            <a:endParaRPr b="0" i="0" sz="960" u="none" cap="none" strike="noStrike">
              <a:solidFill>
                <a:schemeClr val="dk1"/>
              </a:solidFill>
              <a:latin typeface="Inter"/>
              <a:ea typeface="Inter"/>
              <a:cs typeface="Inter"/>
              <a:sym typeface="Inter"/>
            </a:endParaRPr>
          </a:p>
        </p:txBody>
      </p:sp>
      <p:cxnSp>
        <p:nvCxnSpPr>
          <p:cNvPr id="296" name="Google Shape;296;p7"/>
          <p:cNvCxnSpPr/>
          <p:nvPr/>
        </p:nvCxnSpPr>
        <p:spPr>
          <a:xfrm>
            <a:off x="4181856" y="3118104"/>
            <a:ext cx="100584" cy="0"/>
          </a:xfrm>
          <a:prstGeom prst="straightConnector1">
            <a:avLst/>
          </a:prstGeom>
          <a:noFill/>
          <a:ln cap="flat" cmpd="sng" w="20300">
            <a:solidFill>
              <a:srgbClr val="6079C9"/>
            </a:solidFill>
            <a:prstDash val="solid"/>
            <a:round/>
            <a:headEnd len="sm" w="sm" type="none"/>
            <a:tailEnd len="med" w="med" type="triangle"/>
          </a:ln>
        </p:spPr>
      </p:cxnSp>
      <p:sp>
        <p:nvSpPr>
          <p:cNvPr id="297" name="Google Shape;297;p7"/>
          <p:cNvSpPr/>
          <p:nvPr/>
        </p:nvSpPr>
        <p:spPr>
          <a:xfrm>
            <a:off x="4291584" y="2423160"/>
            <a:ext cx="1729740" cy="1399032"/>
          </a:xfrm>
          <a:prstGeom prst="roundRect">
            <a:avLst>
              <a:gd fmla="val 7843" name="adj"/>
            </a:avLst>
          </a:prstGeom>
          <a:solidFill>
            <a:srgbClr val="102354"/>
          </a:solidFill>
          <a:ln cap="flat" cmpd="sng" w="10150">
            <a:solidFill>
              <a:srgbClr val="24427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298" name="Google Shape;298;p7"/>
          <p:cNvSpPr/>
          <p:nvPr/>
        </p:nvSpPr>
        <p:spPr>
          <a:xfrm>
            <a:off x="4927854" y="2706624"/>
            <a:ext cx="457200" cy="457200"/>
          </a:xfrm>
          <a:prstGeom prst="ellipse">
            <a:avLst/>
          </a:prstGeom>
          <a:solidFill>
            <a:srgbClr val="173873"/>
          </a:solidFill>
          <a:ln cap="flat" cmpd="sng" w="12700">
            <a:solidFill>
              <a:srgbClr val="1738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299" name="Google Shape;299;p7"/>
          <p:cNvPicPr preferRelativeResize="0"/>
          <p:nvPr/>
        </p:nvPicPr>
        <p:blipFill rotWithShape="1">
          <a:blip r:embed="rId5">
            <a:alphaModFix/>
          </a:blip>
          <a:srcRect b="0" l="0" r="0" t="0"/>
          <a:stretch/>
        </p:blipFill>
        <p:spPr>
          <a:xfrm>
            <a:off x="5037582" y="2816352"/>
            <a:ext cx="237744" cy="237744"/>
          </a:xfrm>
          <a:prstGeom prst="rect">
            <a:avLst/>
          </a:prstGeom>
          <a:noFill/>
          <a:ln>
            <a:noFill/>
          </a:ln>
        </p:spPr>
      </p:pic>
      <p:sp>
        <p:nvSpPr>
          <p:cNvPr id="300" name="Google Shape;300;p7"/>
          <p:cNvSpPr/>
          <p:nvPr/>
        </p:nvSpPr>
        <p:spPr>
          <a:xfrm>
            <a:off x="4373880" y="3300984"/>
            <a:ext cx="1565148" cy="2743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960"/>
              <a:buFont typeface="Inter"/>
              <a:buNone/>
            </a:pPr>
            <a:r>
              <a:rPr b="1" i="0" lang="en-US" sz="960" u="none" cap="none" strike="noStrike">
                <a:solidFill>
                  <a:srgbClr val="FFFFFF"/>
                </a:solidFill>
                <a:latin typeface="Inter"/>
                <a:ea typeface="Inter"/>
                <a:cs typeface="Inter"/>
                <a:sym typeface="Inter"/>
              </a:rPr>
              <a:t>CV Match</a:t>
            </a:r>
            <a:endParaRPr b="0" i="0" sz="960" u="none" cap="none" strike="noStrike">
              <a:solidFill>
                <a:schemeClr val="dk1"/>
              </a:solidFill>
              <a:latin typeface="Inter"/>
              <a:ea typeface="Inter"/>
              <a:cs typeface="Inter"/>
              <a:sym typeface="Inter"/>
            </a:endParaRPr>
          </a:p>
        </p:txBody>
      </p:sp>
      <p:cxnSp>
        <p:nvCxnSpPr>
          <p:cNvPr id="301" name="Google Shape;301;p7"/>
          <p:cNvCxnSpPr/>
          <p:nvPr/>
        </p:nvCxnSpPr>
        <p:spPr>
          <a:xfrm>
            <a:off x="6030468" y="3118104"/>
            <a:ext cx="100584" cy="0"/>
          </a:xfrm>
          <a:prstGeom prst="straightConnector1">
            <a:avLst/>
          </a:prstGeom>
          <a:noFill/>
          <a:ln cap="flat" cmpd="sng" w="20300">
            <a:solidFill>
              <a:srgbClr val="6079C9"/>
            </a:solidFill>
            <a:prstDash val="solid"/>
            <a:round/>
            <a:headEnd len="sm" w="sm" type="none"/>
            <a:tailEnd len="med" w="med" type="triangle"/>
          </a:ln>
        </p:spPr>
      </p:cxnSp>
      <p:sp>
        <p:nvSpPr>
          <p:cNvPr id="302" name="Google Shape;302;p7"/>
          <p:cNvSpPr/>
          <p:nvPr/>
        </p:nvSpPr>
        <p:spPr>
          <a:xfrm>
            <a:off x="6140196" y="2423160"/>
            <a:ext cx="1729740" cy="1399032"/>
          </a:xfrm>
          <a:prstGeom prst="roundRect">
            <a:avLst>
              <a:gd fmla="val 7843" name="adj"/>
            </a:avLst>
          </a:prstGeom>
          <a:solidFill>
            <a:srgbClr val="102354"/>
          </a:solidFill>
          <a:ln cap="flat" cmpd="sng" w="10150">
            <a:solidFill>
              <a:srgbClr val="24427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03" name="Google Shape;303;p7"/>
          <p:cNvSpPr/>
          <p:nvPr/>
        </p:nvSpPr>
        <p:spPr>
          <a:xfrm>
            <a:off x="6776466" y="2706624"/>
            <a:ext cx="457200" cy="457200"/>
          </a:xfrm>
          <a:prstGeom prst="ellipse">
            <a:avLst/>
          </a:prstGeom>
          <a:solidFill>
            <a:srgbClr val="173873"/>
          </a:solidFill>
          <a:ln cap="flat" cmpd="sng" w="12700">
            <a:solidFill>
              <a:srgbClr val="17387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04" name="Google Shape;304;p7"/>
          <p:cNvPicPr preferRelativeResize="0"/>
          <p:nvPr/>
        </p:nvPicPr>
        <p:blipFill rotWithShape="1">
          <a:blip r:embed="rId6">
            <a:alphaModFix/>
          </a:blip>
          <a:srcRect b="0" l="0" r="0" t="0"/>
          <a:stretch/>
        </p:blipFill>
        <p:spPr>
          <a:xfrm>
            <a:off x="6886194" y="2816352"/>
            <a:ext cx="237744" cy="237744"/>
          </a:xfrm>
          <a:prstGeom prst="rect">
            <a:avLst/>
          </a:prstGeom>
          <a:noFill/>
          <a:ln>
            <a:noFill/>
          </a:ln>
        </p:spPr>
      </p:pic>
      <p:sp>
        <p:nvSpPr>
          <p:cNvPr id="305" name="Google Shape;305;p7"/>
          <p:cNvSpPr/>
          <p:nvPr/>
        </p:nvSpPr>
        <p:spPr>
          <a:xfrm>
            <a:off x="6222492" y="3300984"/>
            <a:ext cx="1565148" cy="2743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960"/>
              <a:buFont typeface="Inter"/>
              <a:buNone/>
            </a:pPr>
            <a:r>
              <a:rPr b="1" i="0" lang="en-US" sz="960" u="none" cap="none" strike="noStrike">
                <a:solidFill>
                  <a:srgbClr val="FFFFFF"/>
                </a:solidFill>
                <a:latin typeface="Inter"/>
                <a:ea typeface="Inter"/>
                <a:cs typeface="Inter"/>
                <a:sym typeface="Inter"/>
              </a:rPr>
              <a:t>Insight</a:t>
            </a:r>
            <a:endParaRPr b="0" i="0" sz="960" u="none" cap="none" strike="noStrike">
              <a:solidFill>
                <a:schemeClr val="dk1"/>
              </a:solidFill>
              <a:latin typeface="Inter"/>
              <a:ea typeface="Inter"/>
              <a:cs typeface="Inter"/>
              <a:sym typeface="Inter"/>
            </a:endParaRPr>
          </a:p>
        </p:txBody>
      </p:sp>
      <p:cxnSp>
        <p:nvCxnSpPr>
          <p:cNvPr id="306" name="Google Shape;306;p7"/>
          <p:cNvCxnSpPr/>
          <p:nvPr/>
        </p:nvCxnSpPr>
        <p:spPr>
          <a:xfrm>
            <a:off x="7879080" y="3118104"/>
            <a:ext cx="100584" cy="0"/>
          </a:xfrm>
          <a:prstGeom prst="straightConnector1">
            <a:avLst/>
          </a:prstGeom>
          <a:noFill/>
          <a:ln cap="flat" cmpd="sng" w="20300">
            <a:solidFill>
              <a:srgbClr val="6079C9"/>
            </a:solidFill>
            <a:prstDash val="solid"/>
            <a:round/>
            <a:headEnd len="sm" w="sm" type="none"/>
            <a:tailEnd len="med" w="med" type="triangle"/>
          </a:ln>
        </p:spPr>
      </p:cxnSp>
      <p:sp>
        <p:nvSpPr>
          <p:cNvPr id="307" name="Google Shape;307;p7"/>
          <p:cNvSpPr/>
          <p:nvPr/>
        </p:nvSpPr>
        <p:spPr>
          <a:xfrm>
            <a:off x="7988808" y="2423160"/>
            <a:ext cx="1729740" cy="1399032"/>
          </a:xfrm>
          <a:prstGeom prst="roundRect">
            <a:avLst>
              <a:gd fmla="val 7843" name="adj"/>
            </a:avLst>
          </a:prstGeom>
          <a:solidFill>
            <a:srgbClr val="182B67"/>
          </a:solidFill>
          <a:ln cap="flat" cmpd="sng" w="10150">
            <a:solidFill>
              <a:srgbClr val="6A4B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08" name="Google Shape;308;p7"/>
          <p:cNvSpPr/>
          <p:nvPr/>
        </p:nvSpPr>
        <p:spPr>
          <a:xfrm>
            <a:off x="8625078" y="2706624"/>
            <a:ext cx="457200" cy="457200"/>
          </a:xfrm>
          <a:prstGeom prst="ellipse">
            <a:avLst/>
          </a:prstGeom>
          <a:solidFill>
            <a:srgbClr val="2A236D"/>
          </a:solidFill>
          <a:ln cap="flat" cmpd="sng" w="12700">
            <a:solidFill>
              <a:srgbClr val="2A23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09" name="Google Shape;309;p7"/>
          <p:cNvPicPr preferRelativeResize="0"/>
          <p:nvPr/>
        </p:nvPicPr>
        <p:blipFill rotWithShape="1">
          <a:blip r:embed="rId7">
            <a:alphaModFix/>
          </a:blip>
          <a:srcRect b="0" l="0" r="0" t="0"/>
          <a:stretch/>
        </p:blipFill>
        <p:spPr>
          <a:xfrm>
            <a:off x="8734806" y="2816352"/>
            <a:ext cx="237744" cy="237744"/>
          </a:xfrm>
          <a:prstGeom prst="rect">
            <a:avLst/>
          </a:prstGeom>
          <a:noFill/>
          <a:ln>
            <a:noFill/>
          </a:ln>
        </p:spPr>
      </p:pic>
      <p:sp>
        <p:nvSpPr>
          <p:cNvPr id="310" name="Google Shape;310;p7"/>
          <p:cNvSpPr/>
          <p:nvPr/>
        </p:nvSpPr>
        <p:spPr>
          <a:xfrm>
            <a:off x="8071104" y="3300984"/>
            <a:ext cx="1565148" cy="2743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960"/>
              <a:buFont typeface="Inter"/>
              <a:buNone/>
            </a:pPr>
            <a:r>
              <a:rPr b="1" i="0" lang="en-US" sz="960" u="none" cap="none" strike="noStrike">
                <a:solidFill>
                  <a:srgbClr val="FFFFFF"/>
                </a:solidFill>
                <a:latin typeface="Inter"/>
                <a:ea typeface="Inter"/>
                <a:cs typeface="Inter"/>
                <a:sym typeface="Inter"/>
              </a:rPr>
              <a:t>Recommendation</a:t>
            </a:r>
            <a:endParaRPr b="0" i="0" sz="960" u="none" cap="none" strike="noStrike">
              <a:solidFill>
                <a:schemeClr val="dk1"/>
              </a:solidFill>
              <a:latin typeface="Inter"/>
              <a:ea typeface="Inter"/>
              <a:cs typeface="Inter"/>
              <a:sym typeface="Inter"/>
            </a:endParaRPr>
          </a:p>
        </p:txBody>
      </p:sp>
      <p:cxnSp>
        <p:nvCxnSpPr>
          <p:cNvPr id="311" name="Google Shape;311;p7"/>
          <p:cNvCxnSpPr/>
          <p:nvPr/>
        </p:nvCxnSpPr>
        <p:spPr>
          <a:xfrm>
            <a:off x="9727692" y="3118104"/>
            <a:ext cx="100584" cy="0"/>
          </a:xfrm>
          <a:prstGeom prst="straightConnector1">
            <a:avLst/>
          </a:prstGeom>
          <a:noFill/>
          <a:ln cap="flat" cmpd="sng" w="20300">
            <a:solidFill>
              <a:srgbClr val="6079C9"/>
            </a:solidFill>
            <a:prstDash val="solid"/>
            <a:round/>
            <a:headEnd len="sm" w="sm" type="none"/>
            <a:tailEnd len="med" w="med" type="triangle"/>
          </a:ln>
        </p:spPr>
      </p:cxnSp>
      <p:sp>
        <p:nvSpPr>
          <p:cNvPr id="312" name="Google Shape;312;p7"/>
          <p:cNvSpPr/>
          <p:nvPr/>
        </p:nvSpPr>
        <p:spPr>
          <a:xfrm>
            <a:off x="9837420" y="2423160"/>
            <a:ext cx="1729740" cy="1399032"/>
          </a:xfrm>
          <a:prstGeom prst="roundRect">
            <a:avLst>
              <a:gd fmla="val 7843" name="adj"/>
            </a:avLst>
          </a:prstGeom>
          <a:solidFill>
            <a:srgbClr val="182B67"/>
          </a:solidFill>
          <a:ln cap="flat" cmpd="sng" w="10150">
            <a:solidFill>
              <a:srgbClr val="6A4B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13" name="Google Shape;313;p7"/>
          <p:cNvSpPr/>
          <p:nvPr/>
        </p:nvSpPr>
        <p:spPr>
          <a:xfrm>
            <a:off x="10473690" y="2706624"/>
            <a:ext cx="457200" cy="457200"/>
          </a:xfrm>
          <a:prstGeom prst="ellipse">
            <a:avLst/>
          </a:prstGeom>
          <a:solidFill>
            <a:srgbClr val="2A236D"/>
          </a:solidFill>
          <a:ln cap="flat" cmpd="sng" w="12700">
            <a:solidFill>
              <a:srgbClr val="2A23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14" name="Google Shape;314;p7"/>
          <p:cNvPicPr preferRelativeResize="0"/>
          <p:nvPr/>
        </p:nvPicPr>
        <p:blipFill rotWithShape="1">
          <a:blip r:embed="rId8">
            <a:alphaModFix/>
          </a:blip>
          <a:srcRect b="0" l="0" r="0" t="0"/>
          <a:stretch/>
        </p:blipFill>
        <p:spPr>
          <a:xfrm>
            <a:off x="10583418" y="2816352"/>
            <a:ext cx="237744" cy="237744"/>
          </a:xfrm>
          <a:prstGeom prst="rect">
            <a:avLst/>
          </a:prstGeom>
          <a:noFill/>
          <a:ln>
            <a:noFill/>
          </a:ln>
        </p:spPr>
      </p:pic>
      <p:sp>
        <p:nvSpPr>
          <p:cNvPr id="315" name="Google Shape;315;p7"/>
          <p:cNvSpPr/>
          <p:nvPr/>
        </p:nvSpPr>
        <p:spPr>
          <a:xfrm>
            <a:off x="9919716" y="3300984"/>
            <a:ext cx="1565148" cy="27432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960"/>
              <a:buFont typeface="Inter"/>
              <a:buNone/>
            </a:pPr>
            <a:r>
              <a:rPr b="1" i="0" lang="en-US" sz="960" u="none" cap="none" strike="noStrike">
                <a:solidFill>
                  <a:srgbClr val="FFFFFF"/>
                </a:solidFill>
                <a:latin typeface="Inter"/>
                <a:ea typeface="Inter"/>
                <a:cs typeface="Inter"/>
                <a:sym typeface="Inter"/>
              </a:rPr>
              <a:t>Review &amp; Feedback</a:t>
            </a:r>
            <a:endParaRPr b="0" i="0" sz="960" u="none" cap="none" strike="noStrike">
              <a:solidFill>
                <a:schemeClr val="dk1"/>
              </a:solidFill>
              <a:latin typeface="Inter"/>
              <a:ea typeface="Inter"/>
              <a:cs typeface="Inter"/>
              <a:sym typeface="Inter"/>
            </a:endParaRPr>
          </a:p>
        </p:txBody>
      </p:sp>
      <p:pic>
        <p:nvPicPr>
          <p:cNvPr descr="preencoded.png" id="316" name="Google Shape;316;p7"/>
          <p:cNvPicPr preferRelativeResize="0"/>
          <p:nvPr/>
        </p:nvPicPr>
        <p:blipFill rotWithShape="1">
          <a:blip r:embed="rId9">
            <a:alphaModFix/>
          </a:blip>
          <a:srcRect b="0" l="0" r="0" t="0"/>
          <a:stretch/>
        </p:blipFill>
        <p:spPr>
          <a:xfrm>
            <a:off x="2148840" y="4343400"/>
            <a:ext cx="7882128" cy="731520"/>
          </a:xfrm>
          <a:prstGeom prst="rect">
            <a:avLst/>
          </a:prstGeom>
          <a:noFill/>
          <a:ln>
            <a:noFill/>
          </a:ln>
        </p:spPr>
      </p:pic>
      <p:sp>
        <p:nvSpPr>
          <p:cNvPr id="317" name="Google Shape;317;p7"/>
          <p:cNvSpPr/>
          <p:nvPr/>
        </p:nvSpPr>
        <p:spPr>
          <a:xfrm>
            <a:off x="2542032" y="4562856"/>
            <a:ext cx="70957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79"/>
              <a:buFont typeface="Inter"/>
              <a:buNone/>
            </a:pPr>
            <a:r>
              <a:rPr b="1" i="0" lang="en-US" sz="1780" u="none" cap="none" strike="noStrike">
                <a:solidFill>
                  <a:srgbClr val="FFFFFF"/>
                </a:solidFill>
                <a:latin typeface="Inter"/>
                <a:ea typeface="Inter"/>
                <a:cs typeface="Inter"/>
                <a:sym typeface="Inter"/>
              </a:rPr>
              <a:t>CareerPilot suggests.  The job seeker decides.</a:t>
            </a:r>
            <a:endParaRPr b="0" i="0" sz="1780" u="none" cap="none" strike="noStrike">
              <a:solidFill>
                <a:schemeClr val="dk1"/>
              </a:solidFill>
              <a:latin typeface="Inter"/>
              <a:ea typeface="Inter"/>
              <a:cs typeface="Inter"/>
              <a:sym typeface="Inter"/>
            </a:endParaRPr>
          </a:p>
        </p:txBody>
      </p:sp>
      <p:sp>
        <p:nvSpPr>
          <p:cNvPr id="318" name="Google Shape;318;p7"/>
          <p:cNvSpPr/>
          <p:nvPr/>
        </p:nvSpPr>
        <p:spPr>
          <a:xfrm>
            <a:off x="493775" y="5989325"/>
            <a:ext cx="10927200" cy="347400"/>
          </a:xfrm>
          <a:prstGeom prst="roundRect">
            <a:avLst>
              <a:gd fmla="val 31579" name="adj"/>
            </a:avLst>
          </a:prstGeom>
          <a:solidFill>
            <a:srgbClr val="FFFFFF"/>
          </a:solidFill>
          <a:ln cap="flat" cmpd="sng" w="10150">
            <a:solidFill>
              <a:srgbClr val="DCE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19" name="Google Shape;319;p7"/>
          <p:cNvPicPr preferRelativeResize="0"/>
          <p:nvPr/>
        </p:nvPicPr>
        <p:blipFill rotWithShape="1">
          <a:blip r:embed="rId10">
            <a:alphaModFix/>
          </a:blip>
          <a:srcRect b="0" l="0" r="0" t="0"/>
          <a:stretch/>
        </p:blipFill>
        <p:spPr>
          <a:xfrm>
            <a:off x="585216" y="6067044"/>
            <a:ext cx="146304" cy="146304"/>
          </a:xfrm>
          <a:prstGeom prst="rect">
            <a:avLst/>
          </a:prstGeom>
          <a:noFill/>
          <a:ln>
            <a:noFill/>
          </a:ln>
        </p:spPr>
      </p:pic>
      <p:sp>
        <p:nvSpPr>
          <p:cNvPr id="320" name="Google Shape;320;p7"/>
          <p:cNvSpPr/>
          <p:nvPr/>
        </p:nvSpPr>
        <p:spPr>
          <a:xfrm>
            <a:off x="786234" y="6080722"/>
            <a:ext cx="9600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780"/>
              <a:buFont typeface="Inter"/>
              <a:buNone/>
            </a:pPr>
            <a:r>
              <a:rPr b="1" i="0" lang="en-US" sz="780" u="none" cap="none" strike="noStrike">
                <a:solidFill>
                  <a:srgbClr val="5A2DFF"/>
                </a:solidFill>
                <a:latin typeface="Inter"/>
                <a:ea typeface="Inter"/>
                <a:cs typeface="Inter"/>
                <a:sym typeface="Inter"/>
              </a:rPr>
              <a:t>AI accelerated</a:t>
            </a:r>
            <a:endParaRPr b="0" i="0" sz="780" u="none" cap="none" strike="noStrike">
              <a:solidFill>
                <a:schemeClr val="dk1"/>
              </a:solidFill>
              <a:latin typeface="Inter"/>
              <a:ea typeface="Inter"/>
              <a:cs typeface="Inter"/>
              <a:sym typeface="Inter"/>
            </a:endParaRPr>
          </a:p>
        </p:txBody>
      </p:sp>
      <p:sp>
        <p:nvSpPr>
          <p:cNvPr id="321" name="Google Shape;321;p7"/>
          <p:cNvSpPr/>
          <p:nvPr/>
        </p:nvSpPr>
        <p:spPr>
          <a:xfrm>
            <a:off x="1746222" y="6080772"/>
            <a:ext cx="30906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80"/>
              <a:buFont typeface="Inter"/>
              <a:buNone/>
            </a:pPr>
            <a:r>
              <a:rPr b="0" i="0" lang="en-US" sz="780" u="none" cap="none" strike="noStrike">
                <a:solidFill>
                  <a:srgbClr val="64708B"/>
                </a:solidFill>
                <a:latin typeface="Inter"/>
                <a:ea typeface="Inter"/>
                <a:cs typeface="Inter"/>
                <a:sym typeface="Inter"/>
              </a:rPr>
              <a:t>Lovable accelerated implementation + iteration</a:t>
            </a:r>
            <a:endParaRPr b="0" i="0" sz="780" u="none" cap="none" strike="noStrike">
              <a:solidFill>
                <a:schemeClr val="dk1"/>
              </a:solidFill>
              <a:latin typeface="Inter"/>
              <a:ea typeface="Inter"/>
              <a:cs typeface="Inter"/>
              <a:sym typeface="Inter"/>
            </a:endParaRPr>
          </a:p>
        </p:txBody>
      </p:sp>
      <p:cxnSp>
        <p:nvCxnSpPr>
          <p:cNvPr id="322" name="Google Shape;322;p7"/>
          <p:cNvCxnSpPr/>
          <p:nvPr/>
        </p:nvCxnSpPr>
        <p:spPr>
          <a:xfrm>
            <a:off x="5010912" y="6062472"/>
            <a:ext cx="0" cy="201168"/>
          </a:xfrm>
          <a:prstGeom prst="straightConnector1">
            <a:avLst/>
          </a:prstGeom>
          <a:noFill/>
          <a:ln cap="flat" cmpd="sng" w="12700">
            <a:solidFill>
              <a:srgbClr val="D9E1F1"/>
            </a:solidFill>
            <a:prstDash val="solid"/>
            <a:round/>
            <a:headEnd len="sm" w="sm" type="none"/>
            <a:tailEnd len="sm" w="sm" type="none"/>
          </a:ln>
        </p:spPr>
      </p:cxnSp>
      <p:pic>
        <p:nvPicPr>
          <p:cNvPr descr="preencoded.png" id="323" name="Google Shape;323;p7"/>
          <p:cNvPicPr preferRelativeResize="0"/>
          <p:nvPr/>
        </p:nvPicPr>
        <p:blipFill rotWithShape="1">
          <a:blip r:embed="rId11">
            <a:alphaModFix/>
          </a:blip>
          <a:srcRect b="0" l="0" r="0" t="0"/>
          <a:stretch/>
        </p:blipFill>
        <p:spPr>
          <a:xfrm>
            <a:off x="5230368" y="6067044"/>
            <a:ext cx="146304" cy="146304"/>
          </a:xfrm>
          <a:prstGeom prst="rect">
            <a:avLst/>
          </a:prstGeom>
          <a:noFill/>
          <a:ln>
            <a:noFill/>
          </a:ln>
        </p:spPr>
      </p:pic>
      <p:sp>
        <p:nvSpPr>
          <p:cNvPr id="324" name="Google Shape;324;p7"/>
          <p:cNvSpPr/>
          <p:nvPr/>
        </p:nvSpPr>
        <p:spPr>
          <a:xfrm>
            <a:off x="5431549" y="6057909"/>
            <a:ext cx="10059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CFF"/>
              </a:buClr>
              <a:buSzPts val="780"/>
              <a:buFont typeface="Inter"/>
              <a:buNone/>
            </a:pPr>
            <a:r>
              <a:rPr b="1" i="0" lang="en-US" sz="780" u="none" cap="none" strike="noStrike">
                <a:solidFill>
                  <a:srgbClr val="1B5CFF"/>
                </a:solidFill>
                <a:latin typeface="Inter"/>
                <a:ea typeface="Inter"/>
                <a:cs typeface="Inter"/>
                <a:sym typeface="Inter"/>
              </a:rPr>
              <a:t>Human decision</a:t>
            </a:r>
            <a:endParaRPr b="0" i="0" sz="780" u="none" cap="none" strike="noStrike">
              <a:solidFill>
                <a:schemeClr val="dk1"/>
              </a:solidFill>
              <a:latin typeface="Inter"/>
              <a:ea typeface="Inter"/>
              <a:cs typeface="Inter"/>
              <a:sym typeface="Inter"/>
            </a:endParaRPr>
          </a:p>
        </p:txBody>
      </p:sp>
      <p:sp>
        <p:nvSpPr>
          <p:cNvPr id="325" name="Google Shape;325;p7"/>
          <p:cNvSpPr/>
          <p:nvPr/>
        </p:nvSpPr>
        <p:spPr>
          <a:xfrm>
            <a:off x="6492315" y="6057909"/>
            <a:ext cx="45264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80"/>
              <a:buFont typeface="Inter"/>
              <a:buNone/>
            </a:pPr>
            <a:r>
              <a:rPr b="0" i="0" lang="en-US" sz="780" u="none" cap="none" strike="noStrike">
                <a:solidFill>
                  <a:srgbClr val="64708B"/>
                </a:solidFill>
                <a:latin typeface="Inter"/>
                <a:ea typeface="Inter"/>
                <a:cs typeface="Inter"/>
                <a:sym typeface="Inter"/>
              </a:rPr>
              <a:t>audited the build and kept the product exclusions</a:t>
            </a:r>
            <a:endParaRPr b="0" i="0" sz="780" u="none" cap="none" strike="noStrike">
              <a:solidFill>
                <a:schemeClr val="dk1"/>
              </a:solidFill>
              <a:latin typeface="Inter"/>
              <a:ea typeface="Inter"/>
              <a:cs typeface="Inter"/>
              <a:sym typeface="Inter"/>
            </a:endParaRPr>
          </a:p>
        </p:txBody>
      </p:sp>
      <p:sp>
        <p:nvSpPr>
          <p:cNvPr id="326" name="Google Shape;326;p7"/>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393BA"/>
              </a:buClr>
              <a:buSzPts val="850"/>
              <a:buFont typeface="Inter"/>
              <a:buNone/>
            </a:pPr>
            <a:r>
              <a:rPr b="1" i="0" lang="en-US" sz="850" u="none" cap="none" strike="noStrike">
                <a:solidFill>
                  <a:srgbClr val="8393BA"/>
                </a:solidFill>
                <a:latin typeface="Inter"/>
                <a:ea typeface="Inter"/>
                <a:cs typeface="Inter"/>
                <a:sym typeface="Inter"/>
              </a:rPr>
              <a:t>07</a:t>
            </a:r>
            <a:endParaRPr b="0" i="0" sz="850" u="none" cap="none" strike="noStrike">
              <a:solidFill>
                <a:schemeClr val="dk1"/>
              </a:solidFill>
              <a:latin typeface="Inter"/>
              <a:ea typeface="Inter"/>
              <a:cs typeface="Inter"/>
              <a:sym typeface="Inter"/>
            </a:endParaRPr>
          </a:p>
        </p:txBody>
      </p:sp>
      <p:sp>
        <p:nvSpPr>
          <p:cNvPr id="327" name="Google Shape;327;p7"/>
          <p:cNvSpPr/>
          <p:nvPr/>
        </p:nvSpPr>
        <p:spPr>
          <a:xfrm>
            <a:off x="402336" y="6492240"/>
            <a:ext cx="320040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393BA"/>
              </a:buClr>
              <a:buSzPts val="750"/>
              <a:buFont typeface="Inter"/>
              <a:buNone/>
            </a:pPr>
            <a:r>
              <a:rPr b="1" i="0" lang="en-US" sz="750" u="none" cap="none" strike="noStrike">
                <a:solidFill>
                  <a:srgbClr val="8393BA"/>
                </a:solidFill>
                <a:latin typeface="Inter"/>
                <a:ea typeface="Inter"/>
                <a:cs typeface="Inter"/>
                <a:sym typeface="Inter"/>
              </a:rPr>
              <a:t>CAREERPILOT  •  FINAL PRESENTATION  •  JOSE MANUEL LOZANO BARBA</a:t>
            </a:r>
            <a:endParaRPr b="0" i="0" sz="750" u="none" cap="none" strike="noStrike">
              <a:solidFill>
                <a:schemeClr val="dk1"/>
              </a:solidFill>
              <a:latin typeface="Inter"/>
              <a:ea typeface="Inter"/>
              <a:cs typeface="Inter"/>
              <a:sym typeface="Inter"/>
            </a:endParaRPr>
          </a:p>
        </p:txBody>
      </p:sp>
      <p:sp>
        <p:nvSpPr>
          <p:cNvPr id="328" name="Google Shape;328;p7"/>
          <p:cNvSpPr/>
          <p:nvPr/>
        </p:nvSpPr>
        <p:spPr>
          <a:xfrm>
            <a:off x="320040" y="6437376"/>
            <a:ext cx="5440680" cy="237744"/>
          </a:xfrm>
          <a:prstGeom prst="rect">
            <a:avLst/>
          </a:prstGeom>
          <a:solidFill>
            <a:srgbClr val="0816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29" name="Google Shape;329;p7"/>
          <p:cNvSpPr txBox="1"/>
          <p:nvPr/>
        </p:nvSpPr>
        <p:spPr>
          <a:xfrm>
            <a:off x="402336" y="6492240"/>
            <a:ext cx="5120640"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8393BA"/>
                </a:solidFill>
                <a:latin typeface="Inter"/>
                <a:ea typeface="Inter"/>
                <a:cs typeface="Inter"/>
                <a:sym typeface="Inter"/>
              </a:rPr>
              <a:t>CAREERPILOT  •  FINAL PRESENTATION  •  JOSE MANUEL LOZANO BARBA</a:t>
            </a:r>
            <a:endParaRPr b="0" i="0" sz="1400" u="none" cap="none" strike="noStrike">
              <a:solidFill>
                <a:srgbClr val="000000"/>
              </a:solidFill>
              <a:latin typeface="Arial"/>
              <a:ea typeface="Arial"/>
              <a:cs typeface="Arial"/>
              <a:sym typeface="Arial"/>
            </a:endParaRPr>
          </a:p>
        </p:txBody>
      </p:sp>
      <p:pic>
        <p:nvPicPr>
          <p:cNvPr id="330" name="Google Shape;330;p7" title="CareerPilot_Visual Identity (3).png"/>
          <p:cNvPicPr preferRelativeResize="0"/>
          <p:nvPr/>
        </p:nvPicPr>
        <p:blipFill rotWithShape="1">
          <a:blip r:embed="rId12">
            <a:alphaModFix/>
          </a:blip>
          <a:srcRect b="1728" l="0" r="0" t="1738"/>
          <a:stretch/>
        </p:blipFill>
        <p:spPr>
          <a:xfrm>
            <a:off x="11192248" y="265173"/>
            <a:ext cx="539500" cy="56211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8"/>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07  ·  POST-LAUNCH</a:t>
            </a:r>
            <a:endParaRPr b="0" i="0" sz="950" u="none" cap="none" strike="noStrike">
              <a:solidFill>
                <a:schemeClr val="dk1"/>
              </a:solidFill>
              <a:latin typeface="Inter"/>
              <a:ea typeface="Inter"/>
              <a:cs typeface="Inter"/>
              <a:sym typeface="Inter"/>
            </a:endParaRPr>
          </a:p>
        </p:txBody>
      </p:sp>
      <p:sp>
        <p:nvSpPr>
          <p:cNvPr id="337" name="Google Shape;337;p8"/>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08</a:t>
            </a:r>
            <a:endParaRPr b="0" i="0" sz="850" u="none" cap="none" strike="noStrike">
              <a:solidFill>
                <a:schemeClr val="dk1"/>
              </a:solidFill>
              <a:latin typeface="Inter"/>
              <a:ea typeface="Inter"/>
              <a:cs typeface="Inter"/>
              <a:sym typeface="Inter"/>
            </a:endParaRPr>
          </a:p>
        </p:txBody>
      </p:sp>
      <p:sp>
        <p:nvSpPr>
          <p:cNvPr id="338" name="Google Shape;338;p8"/>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339" name="Google Shape;339;p8"/>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950"/>
              <a:buFont typeface="Inter"/>
              <a:buNone/>
            </a:pPr>
            <a:r>
              <a:rPr b="1" i="0" lang="en-US" sz="2950" u="none" cap="none" strike="noStrike">
                <a:solidFill>
                  <a:srgbClr val="08163D"/>
                </a:solidFill>
                <a:latin typeface="Inter"/>
                <a:ea typeface="Inter"/>
                <a:cs typeface="Inter"/>
                <a:sym typeface="Inter"/>
              </a:rPr>
              <a:t>A working MVP is not a validated product.</a:t>
            </a:r>
            <a:endParaRPr b="0" i="0" sz="2950" u="none" cap="none" strike="noStrike">
              <a:solidFill>
                <a:schemeClr val="dk1"/>
              </a:solidFill>
              <a:latin typeface="Inter"/>
              <a:ea typeface="Inter"/>
              <a:cs typeface="Inter"/>
              <a:sym typeface="Inter"/>
            </a:endParaRPr>
          </a:p>
        </p:txBody>
      </p:sp>
      <p:sp>
        <p:nvSpPr>
          <p:cNvPr id="340" name="Google Shape;340;p8"/>
          <p:cNvSpPr/>
          <p:nvPr/>
        </p:nvSpPr>
        <p:spPr>
          <a:xfrm>
            <a:off x="411480" y="1225296"/>
            <a:ext cx="978408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1200"/>
              <a:buFont typeface="Inter"/>
              <a:buNone/>
            </a:pPr>
            <a:r>
              <a:rPr b="0" i="0" lang="en-US" sz="1200" u="none" cap="none" strike="noStrike">
                <a:solidFill>
                  <a:srgbClr val="64708B"/>
                </a:solidFill>
                <a:latin typeface="Inter"/>
                <a:ea typeface="Inter"/>
                <a:cs typeface="Inter"/>
                <a:sym typeface="Inter"/>
              </a:rPr>
              <a:t>The measurement framework asks whether users reach the experience — and perceive the recommendations as useful.</a:t>
            </a:r>
            <a:endParaRPr b="0" i="0" sz="1200" u="none" cap="none" strike="noStrike">
              <a:solidFill>
                <a:schemeClr val="dk1"/>
              </a:solidFill>
              <a:latin typeface="Inter"/>
              <a:ea typeface="Inter"/>
              <a:cs typeface="Inter"/>
              <a:sym typeface="Inter"/>
            </a:endParaRPr>
          </a:p>
        </p:txBody>
      </p:sp>
      <p:sp>
        <p:nvSpPr>
          <p:cNvPr id="341" name="Google Shape;341;p8"/>
          <p:cNvSpPr/>
          <p:nvPr/>
        </p:nvSpPr>
        <p:spPr>
          <a:xfrm>
            <a:off x="562328" y="1975102"/>
            <a:ext cx="4590300" cy="3447300"/>
          </a:xfrm>
          <a:prstGeom prst="roundRect">
            <a:avLst>
              <a:gd fmla="val 3183" name="adj"/>
            </a:avLst>
          </a:prstGeom>
          <a:solidFill>
            <a:srgbClr val="FFFFFF"/>
          </a:solidFill>
          <a:ln cap="flat" cmpd="sng" w="10150">
            <a:solidFill>
              <a:srgbClr val="DCE4F4"/>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42" name="Google Shape;342;p8"/>
          <p:cNvSpPr/>
          <p:nvPr/>
        </p:nvSpPr>
        <p:spPr>
          <a:xfrm>
            <a:off x="854936" y="2295142"/>
            <a:ext cx="1216200" cy="329100"/>
          </a:xfrm>
          <a:prstGeom prst="roundRect">
            <a:avLst>
              <a:gd fmla="val 33333" name="adj"/>
            </a:avLst>
          </a:prstGeom>
          <a:solidFill>
            <a:srgbClr val="EDE9FF"/>
          </a:solidFill>
          <a:ln cap="flat" cmpd="sng" w="10150">
            <a:solidFill>
              <a:srgbClr val="EDE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43" name="Google Shape;343;p8"/>
          <p:cNvSpPr/>
          <p:nvPr/>
        </p:nvSpPr>
        <p:spPr>
          <a:xfrm>
            <a:off x="982952" y="2395726"/>
            <a:ext cx="960000" cy="13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2DFF"/>
              </a:buClr>
              <a:buSzPts val="760"/>
              <a:buFont typeface="Inter"/>
              <a:buNone/>
            </a:pPr>
            <a:r>
              <a:rPr b="1" i="0" lang="en-US" sz="760" u="none" cap="none" strike="noStrike">
                <a:solidFill>
                  <a:srgbClr val="5A2DFF"/>
                </a:solidFill>
                <a:latin typeface="Inter"/>
                <a:ea typeface="Inter"/>
                <a:cs typeface="Inter"/>
                <a:sym typeface="Inter"/>
              </a:rPr>
              <a:t>MVP NORTH STAR</a:t>
            </a:r>
            <a:endParaRPr b="0" i="0" sz="760" u="none" cap="none" strike="noStrike">
              <a:solidFill>
                <a:schemeClr val="dk1"/>
              </a:solidFill>
              <a:latin typeface="Inter"/>
              <a:ea typeface="Inter"/>
              <a:cs typeface="Inter"/>
              <a:sym typeface="Inter"/>
            </a:endParaRPr>
          </a:p>
        </p:txBody>
      </p:sp>
      <p:sp>
        <p:nvSpPr>
          <p:cNvPr id="344" name="Google Shape;344;p8"/>
          <p:cNvSpPr/>
          <p:nvPr/>
        </p:nvSpPr>
        <p:spPr>
          <a:xfrm>
            <a:off x="864080" y="2880358"/>
            <a:ext cx="3931800" cy="914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700"/>
              <a:buFont typeface="Inter"/>
              <a:buNone/>
            </a:pPr>
            <a:r>
              <a:rPr b="1" i="0" lang="en-US" sz="2700" u="none" cap="none" strike="noStrike">
                <a:solidFill>
                  <a:srgbClr val="08163D"/>
                </a:solidFill>
                <a:latin typeface="Inter"/>
                <a:ea typeface="Inter"/>
                <a:cs typeface="Inter"/>
                <a:sym typeface="Inter"/>
              </a:rPr>
              <a:t>Recommendation</a:t>
            </a:r>
            <a:endParaRPr b="0" i="0" sz="27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8163D"/>
              </a:buClr>
              <a:buSzPts val="2700"/>
              <a:buFont typeface="Inter"/>
              <a:buNone/>
            </a:pPr>
            <a:r>
              <a:rPr b="1" i="0" lang="en-US" sz="2700" u="none" cap="none" strike="noStrike">
                <a:solidFill>
                  <a:srgbClr val="08163D"/>
                </a:solidFill>
                <a:latin typeface="Inter"/>
                <a:ea typeface="Inter"/>
                <a:cs typeface="Inter"/>
                <a:sym typeface="Inter"/>
              </a:rPr>
              <a:t>Usefulness Rate</a:t>
            </a:r>
            <a:endParaRPr b="0" i="0" sz="2700" u="none" cap="none" strike="noStrike">
              <a:solidFill>
                <a:schemeClr val="dk1"/>
              </a:solidFill>
              <a:latin typeface="Inter"/>
              <a:ea typeface="Inter"/>
              <a:cs typeface="Inter"/>
              <a:sym typeface="Inter"/>
            </a:endParaRPr>
          </a:p>
        </p:txBody>
      </p:sp>
      <p:sp>
        <p:nvSpPr>
          <p:cNvPr id="345" name="Google Shape;345;p8"/>
          <p:cNvSpPr/>
          <p:nvPr/>
        </p:nvSpPr>
        <p:spPr>
          <a:xfrm>
            <a:off x="873224" y="3959352"/>
            <a:ext cx="378570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1120"/>
              <a:buFont typeface="Inter"/>
              <a:buNone/>
            </a:pPr>
            <a:r>
              <a:rPr b="0" i="0" lang="en-US" sz="1120" u="none" cap="none" strike="noStrike">
                <a:solidFill>
                  <a:srgbClr val="64708B"/>
                </a:solidFill>
                <a:latin typeface="Inter"/>
                <a:ea typeface="Inter"/>
                <a:cs typeface="Inter"/>
                <a:sym typeface="Inter"/>
              </a:rPr>
              <a:t>Do users explicitly rate the recommendation as</a:t>
            </a:r>
            <a:r>
              <a:rPr lang="en-US" sz="1120">
                <a:solidFill>
                  <a:srgbClr val="64708B"/>
                </a:solidFill>
                <a:latin typeface="Inter"/>
                <a:ea typeface="Inter"/>
                <a:cs typeface="Inter"/>
                <a:sym typeface="Inter"/>
              </a:rPr>
              <a:t> </a:t>
            </a:r>
            <a:r>
              <a:rPr b="0" i="0" lang="en-US" sz="1120" u="none" cap="none" strike="noStrike">
                <a:solidFill>
                  <a:srgbClr val="64708B"/>
                </a:solidFill>
                <a:latin typeface="Inter"/>
                <a:ea typeface="Inter"/>
                <a:cs typeface="Inter"/>
                <a:sym typeface="Inter"/>
              </a:rPr>
              <a:t>useful?</a:t>
            </a:r>
            <a:endParaRPr b="0" i="0" sz="1120" u="none" cap="none" strike="noStrike">
              <a:solidFill>
                <a:schemeClr val="dk1"/>
              </a:solidFill>
              <a:latin typeface="Inter"/>
              <a:ea typeface="Inter"/>
              <a:cs typeface="Inter"/>
              <a:sym typeface="Inter"/>
            </a:endParaRPr>
          </a:p>
        </p:txBody>
      </p:sp>
      <p:pic>
        <p:nvPicPr>
          <p:cNvPr id="346" name="Google Shape;346;p8" title="CareerPilot_Visual Identity (2).png"/>
          <p:cNvPicPr preferRelativeResize="0"/>
          <p:nvPr/>
        </p:nvPicPr>
        <p:blipFill rotWithShape="1">
          <a:blip r:embed="rId3">
            <a:alphaModFix amt="50000"/>
          </a:blip>
          <a:srcRect b="0" l="0" r="0" t="0"/>
          <a:stretch/>
        </p:blipFill>
        <p:spPr>
          <a:xfrm>
            <a:off x="11192248" y="265173"/>
            <a:ext cx="539500" cy="562113"/>
          </a:xfrm>
          <a:prstGeom prst="rect">
            <a:avLst/>
          </a:prstGeom>
          <a:noFill/>
          <a:ln>
            <a:noFill/>
          </a:ln>
        </p:spPr>
      </p:pic>
      <p:sp>
        <p:nvSpPr>
          <p:cNvPr id="347" name="Google Shape;347;p8"/>
          <p:cNvSpPr/>
          <p:nvPr/>
        </p:nvSpPr>
        <p:spPr>
          <a:xfrm>
            <a:off x="5596125" y="1975100"/>
            <a:ext cx="5440800" cy="3800700"/>
          </a:xfrm>
          <a:prstGeom prst="roundRect">
            <a:avLst>
              <a:gd fmla="val 16667" name="adj"/>
            </a:avLst>
          </a:prstGeom>
          <a:solidFill>
            <a:srgbClr val="FFFFFF"/>
          </a:solidFill>
          <a:ln cap="flat" cmpd="sng" w="12700">
            <a:solidFill>
              <a:srgbClr val="D5DF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ashboard_thumbnail.png" id="348" name="Google Shape;348;p8">
            <a:hlinkClick r:id="rId4"/>
          </p:cNvPr>
          <p:cNvPicPr preferRelativeResize="0"/>
          <p:nvPr/>
        </p:nvPicPr>
        <p:blipFill rotWithShape="1">
          <a:blip r:embed="rId5">
            <a:alphaModFix/>
          </a:blip>
          <a:srcRect b="0" l="2903" r="0" t="4021"/>
          <a:stretch/>
        </p:blipFill>
        <p:spPr>
          <a:xfrm>
            <a:off x="6505357" y="2532825"/>
            <a:ext cx="3484068" cy="2917800"/>
          </a:xfrm>
          <a:prstGeom prst="rect">
            <a:avLst/>
          </a:prstGeom>
          <a:noFill/>
          <a:ln>
            <a:noFill/>
          </a:ln>
        </p:spPr>
      </p:pic>
      <p:sp>
        <p:nvSpPr>
          <p:cNvPr id="349" name="Google Shape;349;p8"/>
          <p:cNvSpPr txBox="1"/>
          <p:nvPr/>
        </p:nvSpPr>
        <p:spPr>
          <a:xfrm>
            <a:off x="6026100" y="2185425"/>
            <a:ext cx="26058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952FF"/>
                </a:solidFill>
                <a:latin typeface="Arial"/>
                <a:ea typeface="Arial"/>
                <a:cs typeface="Arial"/>
                <a:sym typeface="Arial"/>
              </a:rPr>
              <a:t>MONITORING DASHBOARD</a:t>
            </a:r>
            <a:endParaRPr b="0" i="0" sz="1400" u="none" cap="none" strike="noStrike">
              <a:solidFill>
                <a:srgbClr val="000000"/>
              </a:solidFill>
              <a:latin typeface="Arial"/>
              <a:ea typeface="Arial"/>
              <a:cs typeface="Arial"/>
              <a:sym typeface="Arial"/>
            </a:endParaRPr>
          </a:p>
        </p:txBody>
      </p:sp>
      <p:sp>
        <p:nvSpPr>
          <p:cNvPr id="350" name="Google Shape;350;p8">
            <a:hlinkClick r:id="rId6"/>
          </p:cNvPr>
          <p:cNvSpPr/>
          <p:nvPr/>
        </p:nvSpPr>
        <p:spPr>
          <a:xfrm>
            <a:off x="8631914" y="2130602"/>
            <a:ext cx="1920300" cy="329100"/>
          </a:xfrm>
          <a:prstGeom prst="roundRect">
            <a:avLst>
              <a:gd fmla="val 16667" name="adj"/>
            </a:avLst>
          </a:prstGeom>
          <a:solidFill>
            <a:srgbClr val="EDF4FF"/>
          </a:solidFill>
          <a:ln cap="flat" cmpd="sng" w="10150">
            <a:solidFill>
              <a:srgbClr val="CBDC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B5CFF"/>
                </a:solidFill>
                <a:latin typeface="Arial"/>
                <a:ea typeface="Arial"/>
                <a:cs typeface="Arial"/>
                <a:sym typeface="Arial"/>
              </a:rPr>
              <a:t>Open</a:t>
            </a:r>
            <a:r>
              <a:rPr b="1" lang="en-US" sz="900">
                <a:solidFill>
                  <a:srgbClr val="1B5CFF"/>
                </a:solidFill>
              </a:rPr>
              <a:t> </a:t>
            </a:r>
            <a:r>
              <a:rPr b="1" i="0" lang="en-US" sz="900" u="none" cap="none" strike="noStrike">
                <a:solidFill>
                  <a:srgbClr val="1B5CFF"/>
                </a:solidFill>
                <a:latin typeface="Arial"/>
                <a:ea typeface="Arial"/>
                <a:cs typeface="Arial"/>
                <a:sym typeface="Arial"/>
              </a:rPr>
              <a:t>dashboard ↗</a:t>
            </a:r>
            <a:endParaRPr b="0" i="0" sz="1400" u="none" cap="none" strike="noStrike">
              <a:solidFill>
                <a:srgbClr val="000000"/>
              </a:solidFill>
              <a:latin typeface="Arial"/>
              <a:ea typeface="Arial"/>
              <a:cs typeface="Arial"/>
              <a:sym typeface="Arial"/>
            </a:endParaRPr>
          </a:p>
        </p:txBody>
      </p:sp>
      <p:sp>
        <p:nvSpPr>
          <p:cNvPr id="351" name="Google Shape;351;p8"/>
          <p:cNvSpPr txBox="1"/>
          <p:nvPr/>
        </p:nvSpPr>
        <p:spPr>
          <a:xfrm>
            <a:off x="5797296" y="5476499"/>
            <a:ext cx="4983600" cy="2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5B6A88"/>
                </a:solidFill>
                <a:latin typeface="Arial"/>
                <a:ea typeface="Arial"/>
                <a:cs typeface="Arial"/>
                <a:sym typeface="Arial"/>
              </a:rPr>
              <a:t>Current values are simulated demo data; the linked sheet is the live monitoring source.</a:t>
            </a:r>
            <a:endParaRPr b="0" i="0" sz="1400" u="none" cap="none" strike="noStrike">
              <a:solidFill>
                <a:srgbClr val="000000"/>
              </a:solidFill>
              <a:latin typeface="Arial"/>
              <a:ea typeface="Arial"/>
              <a:cs typeface="Arial"/>
              <a:sym typeface="Arial"/>
            </a:endParaRPr>
          </a:p>
        </p:txBody>
      </p:sp>
      <p:sp>
        <p:nvSpPr>
          <p:cNvPr id="352" name="Google Shape;352;p8"/>
          <p:cNvSpPr/>
          <p:nvPr/>
        </p:nvSpPr>
        <p:spPr>
          <a:xfrm>
            <a:off x="891576" y="4442113"/>
            <a:ext cx="3931800" cy="620100"/>
          </a:xfrm>
          <a:prstGeom prst="roundRect">
            <a:avLst>
              <a:gd fmla="val 16667" name="adj"/>
            </a:avLst>
          </a:prstGeom>
          <a:solidFill>
            <a:srgbClr val="EBF2FF"/>
          </a:solidFill>
          <a:ln cap="flat" cmpd="sng" w="12700">
            <a:solidFill>
              <a:srgbClr val="C2D2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54850" lIns="146300" spcFirstLastPara="1" rIns="146300" wrap="square" tIns="64000">
            <a:noAutofit/>
          </a:bodyPr>
          <a:lstStyle/>
          <a:p>
            <a:pPr indent="0" lvl="0" marL="0" marR="0" rtl="0" algn="ctr">
              <a:lnSpc>
                <a:spcPct val="100000"/>
              </a:lnSpc>
              <a:spcBef>
                <a:spcPts val="0"/>
              </a:spcBef>
              <a:spcAft>
                <a:spcPts val="0"/>
              </a:spcAft>
              <a:buNone/>
            </a:pPr>
            <a:r>
              <a:rPr b="1" i="0" lang="en-US" sz="900" u="none" cap="none" strike="noStrike">
                <a:solidFill>
                  <a:srgbClr val="4C2DFF"/>
                </a:solidFill>
                <a:latin typeface="Play"/>
                <a:ea typeface="Play"/>
                <a:cs typeface="Play"/>
                <a:sym typeface="Play"/>
              </a:rPr>
              <a:t>PROVISIONAL VALIDATION TARGET</a:t>
            </a:r>
            <a:endParaRPr/>
          </a:p>
          <a:p>
            <a:pPr indent="0" lvl="0" marL="0" marR="0" rtl="0" algn="ctr">
              <a:lnSpc>
                <a:spcPct val="100000"/>
              </a:lnSpc>
              <a:spcBef>
                <a:spcPts val="0"/>
              </a:spcBef>
              <a:spcAft>
                <a:spcPts val="0"/>
              </a:spcAft>
              <a:buNone/>
            </a:pPr>
            <a:r>
              <a:rPr b="1" i="0" lang="en-US" sz="1300" u="none" cap="none" strike="noStrike">
                <a:solidFill>
                  <a:srgbClr val="071B4F"/>
                </a:solidFill>
                <a:latin typeface="Arial"/>
                <a:ea typeface="Arial"/>
                <a:cs typeface="Arial"/>
                <a:sym typeface="Arial"/>
              </a:rPr>
              <a:t>≥70% usefulness  ·  ≥50% feedback</a:t>
            </a:r>
            <a:r>
              <a:rPr b="1" lang="en-US" sz="1300">
                <a:solidFill>
                  <a:srgbClr val="071B4F"/>
                </a:solidFill>
              </a:rPr>
              <a:t> </a:t>
            </a:r>
            <a:r>
              <a:rPr b="1" i="0" lang="en-US" sz="1300" u="none" cap="none" strike="noStrike">
                <a:solidFill>
                  <a:srgbClr val="071B4F"/>
                </a:solidFill>
                <a:latin typeface="Arial"/>
                <a:ea typeface="Arial"/>
                <a:cs typeface="Arial"/>
                <a:sym typeface="Arial"/>
              </a:rPr>
              <a:t>coverage</a:t>
            </a:r>
            <a:endParaRPr/>
          </a:p>
        </p:txBody>
      </p:sp>
      <p:sp>
        <p:nvSpPr>
          <p:cNvPr id="353" name="Google Shape;353;p8"/>
          <p:cNvSpPr txBox="1"/>
          <p:nvPr/>
        </p:nvSpPr>
        <p:spPr>
          <a:xfrm>
            <a:off x="1051560" y="5179237"/>
            <a:ext cx="3429000" cy="115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50" u="none" cap="none" strike="noStrike">
                <a:solidFill>
                  <a:srgbClr val="627092"/>
                </a:solidFill>
                <a:latin typeface="Arial"/>
                <a:ea typeface="Arial"/>
                <a:cs typeface="Arial"/>
                <a:sym typeface="Arial"/>
              </a:rPr>
              <a:t>Capsto</a:t>
            </a:r>
            <a:r>
              <a:rPr b="0" i="0" lang="en-US" sz="750" u="none" cap="none" strike="noStrike">
                <a:solidFill>
                  <a:srgbClr val="627092"/>
                </a:solidFill>
                <a:latin typeface="Arial"/>
                <a:ea typeface="Arial"/>
                <a:cs typeface="Arial"/>
                <a:sym typeface="Arial"/>
              </a:rPr>
              <a:t>n</a:t>
            </a:r>
            <a:r>
              <a:rPr b="0" i="0" lang="en-US" sz="750" u="none" cap="none" strike="noStrike">
                <a:solidFill>
                  <a:srgbClr val="627092"/>
                </a:solidFill>
                <a:latin typeface="Arial"/>
                <a:ea typeface="Arial"/>
                <a:cs typeface="Arial"/>
                <a:sym typeface="Arial"/>
              </a:rPr>
              <a:t>e validation threshold · not an industry benchmark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9"/>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08  ·  RESPONSIBLE AI</a:t>
            </a:r>
            <a:endParaRPr b="0" i="0" sz="950" u="none" cap="none" strike="noStrike">
              <a:solidFill>
                <a:schemeClr val="dk1"/>
              </a:solidFill>
              <a:latin typeface="Inter"/>
              <a:ea typeface="Inter"/>
              <a:cs typeface="Inter"/>
              <a:sym typeface="Inter"/>
            </a:endParaRPr>
          </a:p>
        </p:txBody>
      </p:sp>
      <p:sp>
        <p:nvSpPr>
          <p:cNvPr id="360" name="Google Shape;360;p9"/>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09</a:t>
            </a:r>
            <a:endParaRPr b="0" i="0" sz="850" u="none" cap="none" strike="noStrike">
              <a:solidFill>
                <a:schemeClr val="dk1"/>
              </a:solidFill>
              <a:latin typeface="Inter"/>
              <a:ea typeface="Inter"/>
              <a:cs typeface="Inter"/>
              <a:sym typeface="Inter"/>
            </a:endParaRPr>
          </a:p>
        </p:txBody>
      </p:sp>
      <p:sp>
        <p:nvSpPr>
          <p:cNvPr id="361" name="Google Shape;361;p9"/>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362" name="Google Shape;362;p9"/>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3000"/>
              <a:buFont typeface="Inter"/>
              <a:buNone/>
            </a:pPr>
            <a:r>
              <a:rPr b="1" i="0" lang="en-US" sz="3000" u="none" cap="none" strike="noStrike">
                <a:solidFill>
                  <a:srgbClr val="08163D"/>
                </a:solidFill>
                <a:latin typeface="Inter"/>
                <a:ea typeface="Inter"/>
                <a:cs typeface="Inter"/>
                <a:sym typeface="Inter"/>
              </a:rPr>
              <a:t>Useful AI still needs boundaries.</a:t>
            </a:r>
            <a:endParaRPr b="0" i="0" sz="3000" u="none" cap="none" strike="noStrike">
              <a:solidFill>
                <a:schemeClr val="dk1"/>
              </a:solidFill>
              <a:latin typeface="Inter"/>
              <a:ea typeface="Inter"/>
              <a:cs typeface="Inter"/>
              <a:sym typeface="Inter"/>
            </a:endParaRPr>
          </a:p>
        </p:txBody>
      </p:sp>
      <p:sp>
        <p:nvSpPr>
          <p:cNvPr id="363" name="Google Shape;363;p9"/>
          <p:cNvSpPr/>
          <p:nvPr/>
        </p:nvSpPr>
        <p:spPr>
          <a:xfrm>
            <a:off x="411480" y="1225296"/>
            <a:ext cx="8229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1200"/>
              <a:buFont typeface="Inter"/>
              <a:buNone/>
            </a:pPr>
            <a:r>
              <a:rPr b="0" i="0" lang="en-US" sz="1200" u="none" cap="none" strike="noStrike">
                <a:solidFill>
                  <a:srgbClr val="64708B"/>
                </a:solidFill>
                <a:latin typeface="Inter"/>
                <a:ea typeface="Inter"/>
                <a:cs typeface="Inter"/>
                <a:sym typeface="Inter"/>
              </a:rPr>
              <a:t>Responsible AI is part of the product behaviour — not a policy slide added afterwards.</a:t>
            </a:r>
            <a:endParaRPr b="0" i="0" sz="1200" u="none" cap="none" strike="noStrike">
              <a:solidFill>
                <a:schemeClr val="dk1"/>
              </a:solidFill>
              <a:latin typeface="Inter"/>
              <a:ea typeface="Inter"/>
              <a:cs typeface="Inter"/>
              <a:sym typeface="Inter"/>
            </a:endParaRPr>
          </a:p>
        </p:txBody>
      </p:sp>
      <p:pic>
        <p:nvPicPr>
          <p:cNvPr descr="preencoded.png" id="364" name="Google Shape;364;p9"/>
          <p:cNvPicPr preferRelativeResize="0"/>
          <p:nvPr/>
        </p:nvPicPr>
        <p:blipFill rotWithShape="1">
          <a:blip r:embed="rId3">
            <a:alphaModFix/>
          </a:blip>
          <a:srcRect b="0" l="0" r="0" t="0"/>
          <a:stretch/>
        </p:blipFill>
        <p:spPr>
          <a:xfrm>
            <a:off x="2802627" y="2138421"/>
            <a:ext cx="6583680" cy="932688"/>
          </a:xfrm>
          <a:prstGeom prst="rect">
            <a:avLst/>
          </a:prstGeom>
          <a:noFill/>
          <a:ln>
            <a:noFill/>
          </a:ln>
        </p:spPr>
      </p:pic>
      <p:sp>
        <p:nvSpPr>
          <p:cNvPr id="365" name="Google Shape;365;p9"/>
          <p:cNvSpPr/>
          <p:nvPr/>
        </p:nvSpPr>
        <p:spPr>
          <a:xfrm>
            <a:off x="3195818" y="2431029"/>
            <a:ext cx="5797200" cy="3108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750"/>
              <a:buFont typeface="Inter"/>
              <a:buNone/>
            </a:pPr>
            <a:r>
              <a:rPr b="1" i="0" lang="en-US" sz="1750" u="none" cap="none" strike="noStrike">
                <a:solidFill>
                  <a:srgbClr val="FFFFFF"/>
                </a:solidFill>
                <a:latin typeface="Inter"/>
                <a:ea typeface="Inter"/>
                <a:cs typeface="Inter"/>
                <a:sym typeface="Inter"/>
              </a:rPr>
              <a:t>CareerPilot identifies possibilities; the job seeker decides.</a:t>
            </a:r>
            <a:endParaRPr b="0" i="0" sz="1750" u="none" cap="none" strike="noStrike">
              <a:solidFill>
                <a:schemeClr val="dk1"/>
              </a:solidFill>
              <a:latin typeface="Inter"/>
              <a:ea typeface="Inter"/>
              <a:cs typeface="Inter"/>
              <a:sym typeface="Inter"/>
            </a:endParaRPr>
          </a:p>
        </p:txBody>
      </p:sp>
      <p:sp>
        <p:nvSpPr>
          <p:cNvPr id="366" name="Google Shape;366;p9"/>
          <p:cNvSpPr/>
          <p:nvPr/>
        </p:nvSpPr>
        <p:spPr>
          <a:xfrm>
            <a:off x="475488" y="1920240"/>
            <a:ext cx="2121408" cy="1371600"/>
          </a:xfrm>
          <a:prstGeom prst="roundRect">
            <a:avLst>
              <a:gd fmla="val 8000" name="adj"/>
            </a:avLst>
          </a:prstGeom>
          <a:solidFill>
            <a:srgbClr val="FFFFFF"/>
          </a:solidFill>
          <a:ln cap="flat" cmpd="sng" w="10150">
            <a:solidFill>
              <a:srgbClr val="DFE5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67" name="Google Shape;367;p9"/>
          <p:cNvSpPr/>
          <p:nvPr/>
        </p:nvSpPr>
        <p:spPr>
          <a:xfrm>
            <a:off x="649224" y="2103120"/>
            <a:ext cx="438912" cy="438912"/>
          </a:xfrm>
          <a:prstGeom prst="ellipse">
            <a:avLst/>
          </a:prstGeom>
          <a:solidFill>
            <a:srgbClr val="EEF4FF"/>
          </a:solidFill>
          <a:ln cap="flat" cmpd="sng" w="12700">
            <a:solidFill>
              <a:srgbClr val="EEF4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68" name="Google Shape;368;p9"/>
          <p:cNvPicPr preferRelativeResize="0"/>
          <p:nvPr/>
        </p:nvPicPr>
        <p:blipFill rotWithShape="1">
          <a:blip r:embed="rId4">
            <a:alphaModFix/>
          </a:blip>
          <a:srcRect b="0" l="0" r="0" t="0"/>
          <a:stretch/>
        </p:blipFill>
        <p:spPr>
          <a:xfrm>
            <a:off x="754563" y="2208459"/>
            <a:ext cx="228234" cy="228234"/>
          </a:xfrm>
          <a:prstGeom prst="rect">
            <a:avLst/>
          </a:prstGeom>
          <a:noFill/>
          <a:ln>
            <a:noFill/>
          </a:ln>
        </p:spPr>
      </p:pic>
      <p:sp>
        <p:nvSpPr>
          <p:cNvPr id="369" name="Google Shape;369;p9"/>
          <p:cNvSpPr/>
          <p:nvPr/>
        </p:nvSpPr>
        <p:spPr>
          <a:xfrm>
            <a:off x="1207008" y="2112264"/>
            <a:ext cx="1225296" cy="34747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980"/>
              <a:buFont typeface="Inter"/>
              <a:buNone/>
            </a:pPr>
            <a:r>
              <a:rPr b="1" i="0" lang="en-US" sz="980" u="none" cap="none" strike="noStrike">
                <a:solidFill>
                  <a:srgbClr val="08163D"/>
                </a:solidFill>
                <a:latin typeface="Inter"/>
                <a:ea typeface="Inter"/>
                <a:cs typeface="Inter"/>
                <a:sym typeface="Inter"/>
              </a:rPr>
              <a:t>Minimum necessary data</a:t>
            </a:r>
            <a:endParaRPr b="0" i="0" sz="980" u="none" cap="none" strike="noStrike">
              <a:solidFill>
                <a:schemeClr val="dk1"/>
              </a:solidFill>
              <a:latin typeface="Inter"/>
              <a:ea typeface="Inter"/>
              <a:cs typeface="Inter"/>
              <a:sym typeface="Inter"/>
            </a:endParaRPr>
          </a:p>
        </p:txBody>
      </p:sp>
      <p:sp>
        <p:nvSpPr>
          <p:cNvPr id="370" name="Google Shape;370;p9"/>
          <p:cNvSpPr/>
          <p:nvPr/>
        </p:nvSpPr>
        <p:spPr>
          <a:xfrm>
            <a:off x="649224" y="2688336"/>
            <a:ext cx="1773936" cy="3931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880"/>
              <a:buFont typeface="Inter"/>
              <a:buNone/>
            </a:pPr>
            <a:r>
              <a:rPr b="0" i="0" lang="en-US" sz="880" u="none" cap="none" strike="noStrike">
                <a:solidFill>
                  <a:srgbClr val="64708B"/>
                </a:solidFill>
                <a:latin typeface="Inter"/>
                <a:ea typeface="Inter"/>
                <a:cs typeface="Inter"/>
                <a:sym typeface="Inter"/>
              </a:rPr>
              <a:t>Only relevant context enters the AI task.</a:t>
            </a:r>
            <a:endParaRPr b="0" i="0" sz="880" u="none" cap="none" strike="noStrike">
              <a:solidFill>
                <a:schemeClr val="dk1"/>
              </a:solidFill>
              <a:latin typeface="Inter"/>
              <a:ea typeface="Inter"/>
              <a:cs typeface="Inter"/>
              <a:sym typeface="Inter"/>
            </a:endParaRPr>
          </a:p>
        </p:txBody>
      </p:sp>
      <p:sp>
        <p:nvSpPr>
          <p:cNvPr id="371" name="Google Shape;371;p9"/>
          <p:cNvSpPr/>
          <p:nvPr/>
        </p:nvSpPr>
        <p:spPr>
          <a:xfrm>
            <a:off x="9592056" y="1920240"/>
            <a:ext cx="2121408" cy="1371600"/>
          </a:xfrm>
          <a:prstGeom prst="roundRect">
            <a:avLst>
              <a:gd fmla="val 8000" name="adj"/>
            </a:avLst>
          </a:prstGeom>
          <a:solidFill>
            <a:srgbClr val="FFFFFF"/>
          </a:solidFill>
          <a:ln cap="flat" cmpd="sng" w="10150">
            <a:solidFill>
              <a:srgbClr val="DFE5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72" name="Google Shape;372;p9"/>
          <p:cNvSpPr/>
          <p:nvPr/>
        </p:nvSpPr>
        <p:spPr>
          <a:xfrm>
            <a:off x="9765792" y="2103120"/>
            <a:ext cx="438912" cy="438912"/>
          </a:xfrm>
          <a:prstGeom prst="ellipse">
            <a:avLst/>
          </a:prstGeom>
          <a:solidFill>
            <a:srgbClr val="EEF4FF"/>
          </a:solidFill>
          <a:ln cap="flat" cmpd="sng" w="12700">
            <a:solidFill>
              <a:srgbClr val="EEF4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73" name="Google Shape;373;p9"/>
          <p:cNvPicPr preferRelativeResize="0"/>
          <p:nvPr/>
        </p:nvPicPr>
        <p:blipFill rotWithShape="1">
          <a:blip r:embed="rId5">
            <a:alphaModFix/>
          </a:blip>
          <a:srcRect b="0" l="0" r="0" t="0"/>
          <a:stretch/>
        </p:blipFill>
        <p:spPr>
          <a:xfrm>
            <a:off x="9871131" y="2208459"/>
            <a:ext cx="228234" cy="228234"/>
          </a:xfrm>
          <a:prstGeom prst="rect">
            <a:avLst/>
          </a:prstGeom>
          <a:noFill/>
          <a:ln>
            <a:noFill/>
          </a:ln>
        </p:spPr>
      </p:pic>
      <p:sp>
        <p:nvSpPr>
          <p:cNvPr id="374" name="Google Shape;374;p9"/>
          <p:cNvSpPr/>
          <p:nvPr/>
        </p:nvSpPr>
        <p:spPr>
          <a:xfrm>
            <a:off x="10323576" y="2112264"/>
            <a:ext cx="1225296" cy="34747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980"/>
              <a:buFont typeface="Inter"/>
              <a:buNone/>
            </a:pPr>
            <a:r>
              <a:rPr b="1" i="0" lang="en-US" sz="980" u="none" cap="none" strike="noStrike">
                <a:solidFill>
                  <a:srgbClr val="08163D"/>
                </a:solidFill>
                <a:latin typeface="Inter"/>
                <a:ea typeface="Inter"/>
                <a:cs typeface="Inter"/>
                <a:sym typeface="Inter"/>
              </a:rPr>
              <a:t>Evidence boundaries</a:t>
            </a:r>
            <a:endParaRPr b="0" i="0" sz="980" u="none" cap="none" strike="noStrike">
              <a:solidFill>
                <a:schemeClr val="dk1"/>
              </a:solidFill>
              <a:latin typeface="Inter"/>
              <a:ea typeface="Inter"/>
              <a:cs typeface="Inter"/>
              <a:sym typeface="Inter"/>
            </a:endParaRPr>
          </a:p>
        </p:txBody>
      </p:sp>
      <p:sp>
        <p:nvSpPr>
          <p:cNvPr id="375" name="Google Shape;375;p9"/>
          <p:cNvSpPr/>
          <p:nvPr/>
        </p:nvSpPr>
        <p:spPr>
          <a:xfrm>
            <a:off x="9765792" y="2688336"/>
            <a:ext cx="1773936" cy="3931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880"/>
              <a:buFont typeface="Inter"/>
              <a:buNone/>
            </a:pPr>
            <a:r>
              <a:rPr b="0" i="0" lang="en-US" sz="880" u="none" cap="none" strike="noStrike">
                <a:solidFill>
                  <a:srgbClr val="64708B"/>
                </a:solidFill>
                <a:latin typeface="Inter"/>
                <a:ea typeface="Inter"/>
                <a:cs typeface="Inter"/>
                <a:sym typeface="Inter"/>
              </a:rPr>
              <a:t>Facts and AI interpretation remain distinguishable.</a:t>
            </a:r>
            <a:endParaRPr b="0" i="0" sz="880" u="none" cap="none" strike="noStrike">
              <a:solidFill>
                <a:schemeClr val="dk1"/>
              </a:solidFill>
              <a:latin typeface="Inter"/>
              <a:ea typeface="Inter"/>
              <a:cs typeface="Inter"/>
              <a:sym typeface="Inter"/>
            </a:endParaRPr>
          </a:p>
        </p:txBody>
      </p:sp>
      <p:sp>
        <p:nvSpPr>
          <p:cNvPr id="376" name="Google Shape;376;p9"/>
          <p:cNvSpPr/>
          <p:nvPr/>
        </p:nvSpPr>
        <p:spPr>
          <a:xfrm>
            <a:off x="475488" y="3694176"/>
            <a:ext cx="2121408" cy="1371600"/>
          </a:xfrm>
          <a:prstGeom prst="roundRect">
            <a:avLst>
              <a:gd fmla="val 8000" name="adj"/>
            </a:avLst>
          </a:prstGeom>
          <a:solidFill>
            <a:srgbClr val="FFFFFF"/>
          </a:solidFill>
          <a:ln cap="flat" cmpd="sng" w="10150">
            <a:solidFill>
              <a:srgbClr val="DFE5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77" name="Google Shape;377;p9"/>
          <p:cNvSpPr/>
          <p:nvPr/>
        </p:nvSpPr>
        <p:spPr>
          <a:xfrm>
            <a:off x="649224" y="3877056"/>
            <a:ext cx="438912" cy="438912"/>
          </a:xfrm>
          <a:prstGeom prst="ellipse">
            <a:avLst/>
          </a:prstGeom>
          <a:solidFill>
            <a:srgbClr val="FFF8E7"/>
          </a:solidFill>
          <a:ln cap="flat" cmpd="sng" w="12700">
            <a:solidFill>
              <a:srgbClr val="FFF8E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78" name="Google Shape;378;p9"/>
          <p:cNvPicPr preferRelativeResize="0"/>
          <p:nvPr/>
        </p:nvPicPr>
        <p:blipFill rotWithShape="1">
          <a:blip r:embed="rId6">
            <a:alphaModFix/>
          </a:blip>
          <a:srcRect b="0" l="0" r="0" t="0"/>
          <a:stretch/>
        </p:blipFill>
        <p:spPr>
          <a:xfrm>
            <a:off x="754563" y="3982395"/>
            <a:ext cx="228234" cy="228234"/>
          </a:xfrm>
          <a:prstGeom prst="rect">
            <a:avLst/>
          </a:prstGeom>
          <a:noFill/>
          <a:ln>
            <a:noFill/>
          </a:ln>
        </p:spPr>
      </p:pic>
      <p:sp>
        <p:nvSpPr>
          <p:cNvPr id="379" name="Google Shape;379;p9"/>
          <p:cNvSpPr/>
          <p:nvPr/>
        </p:nvSpPr>
        <p:spPr>
          <a:xfrm>
            <a:off x="1207008" y="3886200"/>
            <a:ext cx="1225296" cy="34747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980"/>
              <a:buFont typeface="Inter"/>
              <a:buNone/>
            </a:pPr>
            <a:r>
              <a:rPr b="1" i="0" lang="en-US" sz="980" u="none" cap="none" strike="noStrike">
                <a:solidFill>
                  <a:srgbClr val="08163D"/>
                </a:solidFill>
                <a:latin typeface="Inter"/>
                <a:ea typeface="Inter"/>
                <a:cs typeface="Inter"/>
                <a:sym typeface="Inter"/>
              </a:rPr>
              <a:t>Preserve uncertainty</a:t>
            </a:r>
            <a:endParaRPr b="0" i="0" sz="980" u="none" cap="none" strike="noStrike">
              <a:solidFill>
                <a:schemeClr val="dk1"/>
              </a:solidFill>
              <a:latin typeface="Inter"/>
              <a:ea typeface="Inter"/>
              <a:cs typeface="Inter"/>
              <a:sym typeface="Inter"/>
            </a:endParaRPr>
          </a:p>
        </p:txBody>
      </p:sp>
      <p:sp>
        <p:nvSpPr>
          <p:cNvPr id="380" name="Google Shape;380;p9"/>
          <p:cNvSpPr/>
          <p:nvPr/>
        </p:nvSpPr>
        <p:spPr>
          <a:xfrm>
            <a:off x="649224" y="4462272"/>
            <a:ext cx="1773936" cy="3931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880"/>
              <a:buFont typeface="Inter"/>
              <a:buNone/>
            </a:pPr>
            <a:r>
              <a:rPr b="0" i="0" lang="en-US" sz="880" u="none" cap="none" strike="noStrike">
                <a:solidFill>
                  <a:srgbClr val="64708B"/>
                </a:solidFill>
                <a:latin typeface="Inter"/>
                <a:ea typeface="Inter"/>
                <a:cs typeface="Inter"/>
                <a:sym typeface="Inter"/>
              </a:rPr>
              <a:t>Unknown stays unknown — no invented explanations.</a:t>
            </a:r>
            <a:endParaRPr b="0" i="0" sz="880" u="none" cap="none" strike="noStrike">
              <a:solidFill>
                <a:schemeClr val="dk1"/>
              </a:solidFill>
              <a:latin typeface="Inter"/>
              <a:ea typeface="Inter"/>
              <a:cs typeface="Inter"/>
              <a:sym typeface="Inter"/>
            </a:endParaRPr>
          </a:p>
        </p:txBody>
      </p:sp>
      <p:sp>
        <p:nvSpPr>
          <p:cNvPr id="381" name="Google Shape;381;p9"/>
          <p:cNvSpPr/>
          <p:nvPr/>
        </p:nvSpPr>
        <p:spPr>
          <a:xfrm>
            <a:off x="9592056" y="3694176"/>
            <a:ext cx="2121408" cy="1371600"/>
          </a:xfrm>
          <a:prstGeom prst="roundRect">
            <a:avLst>
              <a:gd fmla="val 8000" name="adj"/>
            </a:avLst>
          </a:prstGeom>
          <a:solidFill>
            <a:srgbClr val="FFFFFF"/>
          </a:solidFill>
          <a:ln cap="flat" cmpd="sng" w="10150">
            <a:solidFill>
              <a:srgbClr val="DFE5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382" name="Google Shape;382;p9"/>
          <p:cNvSpPr/>
          <p:nvPr/>
        </p:nvSpPr>
        <p:spPr>
          <a:xfrm>
            <a:off x="9765792" y="3877056"/>
            <a:ext cx="438912" cy="438912"/>
          </a:xfrm>
          <a:prstGeom prst="ellipse">
            <a:avLst/>
          </a:prstGeom>
          <a:solidFill>
            <a:srgbClr val="F0ECFF"/>
          </a:solidFill>
          <a:ln cap="flat" cmpd="sng" w="12700">
            <a:solidFill>
              <a:srgbClr val="F0E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83" name="Google Shape;383;p9"/>
          <p:cNvPicPr preferRelativeResize="0"/>
          <p:nvPr/>
        </p:nvPicPr>
        <p:blipFill rotWithShape="1">
          <a:blip r:embed="rId7">
            <a:alphaModFix/>
          </a:blip>
          <a:srcRect b="0" l="0" r="0" t="0"/>
          <a:stretch/>
        </p:blipFill>
        <p:spPr>
          <a:xfrm>
            <a:off x="9871131" y="3982395"/>
            <a:ext cx="228234" cy="228234"/>
          </a:xfrm>
          <a:prstGeom prst="rect">
            <a:avLst/>
          </a:prstGeom>
          <a:noFill/>
          <a:ln>
            <a:noFill/>
          </a:ln>
        </p:spPr>
      </p:pic>
      <p:sp>
        <p:nvSpPr>
          <p:cNvPr id="384" name="Google Shape;384;p9"/>
          <p:cNvSpPr/>
          <p:nvPr/>
        </p:nvSpPr>
        <p:spPr>
          <a:xfrm>
            <a:off x="10323576" y="3886200"/>
            <a:ext cx="1225296" cy="34747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980"/>
              <a:buFont typeface="Inter"/>
              <a:buNone/>
            </a:pPr>
            <a:r>
              <a:rPr b="1" i="0" lang="en-US" sz="980" u="none" cap="none" strike="noStrike">
                <a:solidFill>
                  <a:srgbClr val="08163D"/>
                </a:solidFill>
                <a:latin typeface="Inter"/>
                <a:ea typeface="Inter"/>
                <a:cs typeface="Inter"/>
                <a:sym typeface="Inter"/>
              </a:rPr>
              <a:t>Human control</a:t>
            </a:r>
            <a:endParaRPr b="0" i="0" sz="980" u="none" cap="none" strike="noStrike">
              <a:solidFill>
                <a:schemeClr val="dk1"/>
              </a:solidFill>
              <a:latin typeface="Inter"/>
              <a:ea typeface="Inter"/>
              <a:cs typeface="Inter"/>
              <a:sym typeface="Inter"/>
            </a:endParaRPr>
          </a:p>
        </p:txBody>
      </p:sp>
      <p:sp>
        <p:nvSpPr>
          <p:cNvPr id="385" name="Google Shape;385;p9"/>
          <p:cNvSpPr/>
          <p:nvPr/>
        </p:nvSpPr>
        <p:spPr>
          <a:xfrm>
            <a:off x="9765792" y="4462272"/>
            <a:ext cx="1773936" cy="3931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880"/>
              <a:buFont typeface="Inter"/>
              <a:buNone/>
            </a:pPr>
            <a:r>
              <a:rPr b="0" i="0" lang="en-US" sz="880" u="none" cap="none" strike="noStrike">
                <a:solidFill>
                  <a:srgbClr val="64708B"/>
                </a:solidFill>
                <a:latin typeface="Inter"/>
                <a:ea typeface="Inter"/>
                <a:cs typeface="Inter"/>
                <a:sym typeface="Inter"/>
              </a:rPr>
              <a:t>No autonomous consequential action.</a:t>
            </a:r>
            <a:endParaRPr b="0" i="0" sz="880" u="none" cap="none" strike="noStrike">
              <a:solidFill>
                <a:schemeClr val="dk1"/>
              </a:solidFill>
              <a:latin typeface="Inter"/>
              <a:ea typeface="Inter"/>
              <a:cs typeface="Inter"/>
              <a:sym typeface="Inter"/>
            </a:endParaRPr>
          </a:p>
        </p:txBody>
      </p:sp>
      <p:cxnSp>
        <p:nvCxnSpPr>
          <p:cNvPr id="386" name="Google Shape;386;p9"/>
          <p:cNvCxnSpPr>
            <a:stCxn id="366" idx="3"/>
            <a:endCxn id="364" idx="1"/>
          </p:cNvCxnSpPr>
          <p:nvPr/>
        </p:nvCxnSpPr>
        <p:spPr>
          <a:xfrm flipH="1" rot="10800000">
            <a:off x="2596896" y="2604840"/>
            <a:ext cx="205800" cy="1200"/>
          </a:xfrm>
          <a:prstGeom prst="straightConnector1">
            <a:avLst/>
          </a:prstGeom>
          <a:noFill/>
          <a:ln cap="flat" cmpd="sng" w="16500">
            <a:solidFill>
              <a:srgbClr val="CAD5F0"/>
            </a:solidFill>
            <a:prstDash val="solid"/>
            <a:round/>
            <a:headEnd len="sm" w="sm" type="none"/>
            <a:tailEnd len="sm" w="sm" type="none"/>
          </a:ln>
        </p:spPr>
      </p:cxnSp>
      <p:cxnSp>
        <p:nvCxnSpPr>
          <p:cNvPr id="387" name="Google Shape;387;p9"/>
          <p:cNvCxnSpPr>
            <a:stCxn id="364" idx="3"/>
            <a:endCxn id="371" idx="1"/>
          </p:cNvCxnSpPr>
          <p:nvPr/>
        </p:nvCxnSpPr>
        <p:spPr>
          <a:xfrm>
            <a:off x="9386307" y="2604765"/>
            <a:ext cx="205800" cy="1200"/>
          </a:xfrm>
          <a:prstGeom prst="straightConnector1">
            <a:avLst/>
          </a:prstGeom>
          <a:noFill/>
          <a:ln cap="flat" cmpd="sng" w="16500">
            <a:solidFill>
              <a:srgbClr val="CAD5F0"/>
            </a:solidFill>
            <a:prstDash val="solid"/>
            <a:round/>
            <a:headEnd len="sm" w="sm" type="none"/>
            <a:tailEnd len="sm" w="sm" type="none"/>
          </a:ln>
        </p:spPr>
      </p:cxnSp>
      <p:cxnSp>
        <p:nvCxnSpPr>
          <p:cNvPr id="388" name="Google Shape;388;p9"/>
          <p:cNvCxnSpPr>
            <a:stCxn id="376" idx="3"/>
            <a:endCxn id="389" idx="1"/>
          </p:cNvCxnSpPr>
          <p:nvPr/>
        </p:nvCxnSpPr>
        <p:spPr>
          <a:xfrm>
            <a:off x="2596896" y="4379976"/>
            <a:ext cx="484500" cy="0"/>
          </a:xfrm>
          <a:prstGeom prst="straightConnector1">
            <a:avLst/>
          </a:prstGeom>
          <a:noFill/>
          <a:ln cap="flat" cmpd="sng" w="16500">
            <a:solidFill>
              <a:srgbClr val="CAD5F0"/>
            </a:solidFill>
            <a:prstDash val="solid"/>
            <a:round/>
            <a:headEnd len="sm" w="sm" type="none"/>
            <a:tailEnd len="sm" w="sm" type="none"/>
          </a:ln>
        </p:spPr>
      </p:cxnSp>
      <p:cxnSp>
        <p:nvCxnSpPr>
          <p:cNvPr id="390" name="Google Shape;390;p9"/>
          <p:cNvCxnSpPr>
            <a:stCxn id="389" idx="3"/>
            <a:endCxn id="381" idx="1"/>
          </p:cNvCxnSpPr>
          <p:nvPr/>
        </p:nvCxnSpPr>
        <p:spPr>
          <a:xfrm>
            <a:off x="9116628" y="4379930"/>
            <a:ext cx="475500" cy="0"/>
          </a:xfrm>
          <a:prstGeom prst="straightConnector1">
            <a:avLst/>
          </a:prstGeom>
          <a:noFill/>
          <a:ln cap="flat" cmpd="sng" w="16500">
            <a:solidFill>
              <a:srgbClr val="CAD5F0"/>
            </a:solidFill>
            <a:prstDash val="solid"/>
            <a:round/>
            <a:headEnd len="sm" w="sm" type="none"/>
            <a:tailEnd len="sm" w="sm" type="none"/>
          </a:ln>
        </p:spPr>
      </p:cxnSp>
      <p:sp>
        <p:nvSpPr>
          <p:cNvPr id="389" name="Google Shape;389;p9"/>
          <p:cNvSpPr/>
          <p:nvPr/>
        </p:nvSpPr>
        <p:spPr>
          <a:xfrm>
            <a:off x="3081528" y="3986780"/>
            <a:ext cx="6035100" cy="786300"/>
          </a:xfrm>
          <a:prstGeom prst="roundRect">
            <a:avLst>
              <a:gd fmla="val 13953" name="adj"/>
            </a:avLst>
          </a:prstGeom>
          <a:solidFill>
            <a:srgbClr val="FFF1F3"/>
          </a:solidFill>
          <a:ln cap="flat" cmpd="sng" w="10150">
            <a:solidFill>
              <a:srgbClr val="F5D3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91" name="Google Shape;391;p9"/>
          <p:cNvPicPr preferRelativeResize="0"/>
          <p:nvPr/>
        </p:nvPicPr>
        <p:blipFill rotWithShape="1">
          <a:blip r:embed="rId8">
            <a:alphaModFix/>
          </a:blip>
          <a:srcRect b="0" l="0" r="0" t="0"/>
          <a:stretch/>
        </p:blipFill>
        <p:spPr>
          <a:xfrm>
            <a:off x="3364992" y="4233668"/>
            <a:ext cx="201168" cy="201168"/>
          </a:xfrm>
          <a:prstGeom prst="rect">
            <a:avLst/>
          </a:prstGeom>
          <a:noFill/>
          <a:ln>
            <a:noFill/>
          </a:ln>
        </p:spPr>
      </p:pic>
      <p:sp>
        <p:nvSpPr>
          <p:cNvPr id="392" name="Google Shape;392;p9"/>
          <p:cNvSpPr/>
          <p:nvPr/>
        </p:nvSpPr>
        <p:spPr>
          <a:xfrm>
            <a:off x="3685032" y="4178804"/>
            <a:ext cx="50565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44A5B"/>
              </a:buClr>
              <a:buSzPts val="1400"/>
              <a:buFont typeface="Inter"/>
              <a:buNone/>
            </a:pPr>
            <a:r>
              <a:rPr b="1" i="0" lang="en-US" sz="1400" u="none" cap="none" strike="noStrike">
                <a:solidFill>
                  <a:srgbClr val="D44A5B"/>
                </a:solidFill>
                <a:latin typeface="Inter"/>
                <a:ea typeface="Inter"/>
                <a:cs typeface="Inter"/>
                <a:sym typeface="Inter"/>
              </a:rPr>
              <a:t>Critical failure → block the capability</a:t>
            </a:r>
            <a:endParaRPr b="0" i="0" sz="1400" u="none" cap="none" strike="noStrike">
              <a:solidFill>
                <a:schemeClr val="dk1"/>
              </a:solidFill>
              <a:latin typeface="Inter"/>
              <a:ea typeface="Inter"/>
              <a:cs typeface="Inter"/>
              <a:sym typeface="Inter"/>
            </a:endParaRPr>
          </a:p>
        </p:txBody>
      </p:sp>
      <p:sp>
        <p:nvSpPr>
          <p:cNvPr id="393" name="Google Shape;393;p9"/>
          <p:cNvSpPr/>
          <p:nvPr/>
        </p:nvSpPr>
        <p:spPr>
          <a:xfrm>
            <a:off x="3364992" y="4544564"/>
            <a:ext cx="5468100" cy="1647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8A4550"/>
              </a:buClr>
              <a:buSzPts val="790"/>
              <a:buFont typeface="Inter"/>
              <a:buNone/>
            </a:pPr>
            <a:r>
              <a:rPr b="0" i="0" lang="en-US" sz="790" u="none" cap="none" strike="noStrike">
                <a:solidFill>
                  <a:srgbClr val="8A4550"/>
                </a:solidFill>
                <a:latin typeface="Inter"/>
                <a:ea typeface="Inter"/>
                <a:cs typeface="Inter"/>
                <a:sym typeface="Inter"/>
              </a:rPr>
              <a:t>Fabricated experience · unsupported hiring guarantees · sensitive-attribute decisioning · autonomous applications</a:t>
            </a:r>
            <a:endParaRPr b="0" i="0" sz="790" u="none" cap="none" strike="noStrike">
              <a:solidFill>
                <a:schemeClr val="dk1"/>
              </a:solidFill>
              <a:latin typeface="Inter"/>
              <a:ea typeface="Inter"/>
              <a:cs typeface="Inter"/>
              <a:sym typeface="Inter"/>
            </a:endParaRPr>
          </a:p>
        </p:txBody>
      </p:sp>
      <p:sp>
        <p:nvSpPr>
          <p:cNvPr id="394" name="Google Shape;394;p9"/>
          <p:cNvSpPr/>
          <p:nvPr/>
        </p:nvSpPr>
        <p:spPr>
          <a:xfrm>
            <a:off x="402336" y="6025896"/>
            <a:ext cx="11018520" cy="347472"/>
          </a:xfrm>
          <a:prstGeom prst="roundRect">
            <a:avLst>
              <a:gd fmla="val 31579" name="adj"/>
            </a:avLst>
          </a:prstGeom>
          <a:solidFill>
            <a:srgbClr val="FFFFFF"/>
          </a:solidFill>
          <a:ln cap="flat" cmpd="sng" w="10150">
            <a:solidFill>
              <a:srgbClr val="DCE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395" name="Google Shape;395;p9"/>
          <p:cNvPicPr preferRelativeResize="0"/>
          <p:nvPr/>
        </p:nvPicPr>
        <p:blipFill rotWithShape="1">
          <a:blip r:embed="rId9">
            <a:alphaModFix/>
          </a:blip>
          <a:srcRect b="0" l="0" r="0" t="0"/>
          <a:stretch/>
        </p:blipFill>
        <p:spPr>
          <a:xfrm>
            <a:off x="585216" y="6103620"/>
            <a:ext cx="146304" cy="146304"/>
          </a:xfrm>
          <a:prstGeom prst="rect">
            <a:avLst/>
          </a:prstGeom>
          <a:noFill/>
          <a:ln>
            <a:noFill/>
          </a:ln>
        </p:spPr>
      </p:pic>
      <p:sp>
        <p:nvSpPr>
          <p:cNvPr id="396" name="Google Shape;396;p9"/>
          <p:cNvSpPr/>
          <p:nvPr/>
        </p:nvSpPr>
        <p:spPr>
          <a:xfrm>
            <a:off x="786384" y="6101050"/>
            <a:ext cx="9600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780"/>
              <a:buFont typeface="Inter"/>
              <a:buNone/>
            </a:pPr>
            <a:r>
              <a:rPr b="1" i="0" lang="en-US" sz="780" u="none" cap="none" strike="noStrike">
                <a:solidFill>
                  <a:srgbClr val="5A2DFF"/>
                </a:solidFill>
                <a:latin typeface="Inter"/>
                <a:ea typeface="Inter"/>
                <a:cs typeface="Inter"/>
                <a:sym typeface="Inter"/>
              </a:rPr>
              <a:t>AI accelerated</a:t>
            </a:r>
            <a:endParaRPr b="0" i="0" sz="780" u="none" cap="none" strike="noStrike">
              <a:solidFill>
                <a:schemeClr val="dk1"/>
              </a:solidFill>
              <a:latin typeface="Inter"/>
              <a:ea typeface="Inter"/>
              <a:cs typeface="Inter"/>
              <a:sym typeface="Inter"/>
            </a:endParaRPr>
          </a:p>
        </p:txBody>
      </p:sp>
      <p:sp>
        <p:nvSpPr>
          <p:cNvPr id="397" name="Google Shape;397;p9"/>
          <p:cNvSpPr/>
          <p:nvPr/>
        </p:nvSpPr>
        <p:spPr>
          <a:xfrm>
            <a:off x="1719072" y="6101050"/>
            <a:ext cx="3090600" cy="164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80"/>
              <a:buFont typeface="Inter"/>
              <a:buNone/>
            </a:pPr>
            <a:r>
              <a:rPr b="0" i="0" lang="en-US" sz="780" u="none" cap="none" strike="noStrike">
                <a:solidFill>
                  <a:srgbClr val="64708B"/>
                </a:solidFill>
                <a:latin typeface="Inter"/>
                <a:ea typeface="Inter"/>
                <a:cs typeface="Inter"/>
                <a:sym typeface="Inter"/>
              </a:rPr>
              <a:t>drafting + consistency review of guardrails</a:t>
            </a:r>
            <a:endParaRPr b="0" i="0" sz="780" u="none" cap="none" strike="noStrike">
              <a:solidFill>
                <a:schemeClr val="dk1"/>
              </a:solidFill>
              <a:latin typeface="Inter"/>
              <a:ea typeface="Inter"/>
              <a:cs typeface="Inter"/>
              <a:sym typeface="Inter"/>
            </a:endParaRPr>
          </a:p>
        </p:txBody>
      </p:sp>
      <p:cxnSp>
        <p:nvCxnSpPr>
          <p:cNvPr id="398" name="Google Shape;398;p9"/>
          <p:cNvCxnSpPr/>
          <p:nvPr/>
        </p:nvCxnSpPr>
        <p:spPr>
          <a:xfrm>
            <a:off x="5010912" y="6099048"/>
            <a:ext cx="0" cy="201168"/>
          </a:xfrm>
          <a:prstGeom prst="straightConnector1">
            <a:avLst/>
          </a:prstGeom>
          <a:noFill/>
          <a:ln cap="flat" cmpd="sng" w="12700">
            <a:solidFill>
              <a:srgbClr val="D9E1F1"/>
            </a:solidFill>
            <a:prstDash val="solid"/>
            <a:round/>
            <a:headEnd len="sm" w="sm" type="none"/>
            <a:tailEnd len="sm" w="sm" type="none"/>
          </a:ln>
        </p:spPr>
      </p:cxnSp>
      <p:pic>
        <p:nvPicPr>
          <p:cNvPr descr="preencoded.png" id="399" name="Google Shape;399;p9"/>
          <p:cNvPicPr preferRelativeResize="0"/>
          <p:nvPr/>
        </p:nvPicPr>
        <p:blipFill rotWithShape="1">
          <a:blip r:embed="rId10">
            <a:alphaModFix/>
          </a:blip>
          <a:srcRect b="0" l="0" r="0" t="0"/>
          <a:stretch/>
        </p:blipFill>
        <p:spPr>
          <a:xfrm>
            <a:off x="5230368" y="6103620"/>
            <a:ext cx="146304" cy="146304"/>
          </a:xfrm>
          <a:prstGeom prst="rect">
            <a:avLst/>
          </a:prstGeom>
          <a:noFill/>
          <a:ln>
            <a:noFill/>
          </a:ln>
        </p:spPr>
      </p:pic>
      <p:sp>
        <p:nvSpPr>
          <p:cNvPr id="400" name="Google Shape;400;p9"/>
          <p:cNvSpPr/>
          <p:nvPr/>
        </p:nvSpPr>
        <p:spPr>
          <a:xfrm>
            <a:off x="5431536" y="6080760"/>
            <a:ext cx="100584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CFF"/>
              </a:buClr>
              <a:buSzPts val="780"/>
              <a:buFont typeface="Inter"/>
              <a:buNone/>
            </a:pPr>
            <a:r>
              <a:rPr b="1" i="0" lang="en-US" sz="780" u="none" cap="none" strike="noStrike">
                <a:solidFill>
                  <a:srgbClr val="1B5CFF"/>
                </a:solidFill>
                <a:latin typeface="Inter"/>
                <a:ea typeface="Inter"/>
                <a:cs typeface="Inter"/>
                <a:sym typeface="Inter"/>
              </a:rPr>
              <a:t>Human decision</a:t>
            </a:r>
            <a:endParaRPr b="0" i="0" sz="780" u="none" cap="none" strike="noStrike">
              <a:solidFill>
                <a:schemeClr val="dk1"/>
              </a:solidFill>
              <a:latin typeface="Inter"/>
              <a:ea typeface="Inter"/>
              <a:cs typeface="Inter"/>
              <a:sym typeface="Inter"/>
            </a:endParaRPr>
          </a:p>
        </p:txBody>
      </p:sp>
      <p:sp>
        <p:nvSpPr>
          <p:cNvPr id="401" name="Google Shape;401;p9"/>
          <p:cNvSpPr/>
          <p:nvPr/>
        </p:nvSpPr>
        <p:spPr>
          <a:xfrm>
            <a:off x="6492240" y="6080760"/>
            <a:ext cx="452628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80"/>
              <a:buFont typeface="Inter"/>
              <a:buNone/>
            </a:pPr>
            <a:r>
              <a:rPr b="0" i="0" lang="en-US" sz="780" u="none" cap="none" strike="noStrike">
                <a:solidFill>
                  <a:srgbClr val="64708B"/>
                </a:solidFill>
                <a:latin typeface="Inter"/>
                <a:ea typeface="Inter"/>
                <a:cs typeface="Inter"/>
                <a:sym typeface="Inter"/>
              </a:rPr>
              <a:t>defined final boundaries and escalation rules</a:t>
            </a:r>
            <a:endParaRPr b="0" i="0" sz="780" u="none" cap="none" strike="noStrike">
              <a:solidFill>
                <a:schemeClr val="dk1"/>
              </a:solidFill>
              <a:latin typeface="Inter"/>
              <a:ea typeface="Inter"/>
              <a:cs typeface="Inter"/>
              <a:sym typeface="Inter"/>
            </a:endParaRPr>
          </a:p>
        </p:txBody>
      </p:sp>
      <p:pic>
        <p:nvPicPr>
          <p:cNvPr id="402" name="Google Shape;402;p9" title="CareerPilot_Visual Identity (2).png"/>
          <p:cNvPicPr preferRelativeResize="0"/>
          <p:nvPr/>
        </p:nvPicPr>
        <p:blipFill rotWithShape="1">
          <a:blip r:embed="rId11">
            <a:alphaModFix amt="50000"/>
          </a:blip>
          <a:srcRect b="0" l="0" r="0" t="0"/>
          <a:stretch/>
        </p:blipFill>
        <p:spPr>
          <a:xfrm>
            <a:off x="11192248" y="265173"/>
            <a:ext cx="539500" cy="5621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0"/>
          <p:cNvSpPr/>
          <p:nvPr/>
        </p:nvSpPr>
        <p:spPr>
          <a:xfrm>
            <a:off x="402336" y="265176"/>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2DFF"/>
              </a:buClr>
              <a:buSzPts val="950"/>
              <a:buFont typeface="Inter"/>
              <a:buNone/>
            </a:pPr>
            <a:r>
              <a:rPr b="1" i="0" lang="en-US" sz="950" u="none" cap="none" strike="noStrike">
                <a:solidFill>
                  <a:srgbClr val="5A2DFF"/>
                </a:solidFill>
                <a:latin typeface="Inter"/>
                <a:ea typeface="Inter"/>
                <a:cs typeface="Inter"/>
                <a:sym typeface="Inter"/>
              </a:rPr>
              <a:t>09  ·  CLOSE</a:t>
            </a:r>
            <a:endParaRPr b="0" i="0" sz="950" u="none" cap="none" strike="noStrike">
              <a:solidFill>
                <a:schemeClr val="dk1"/>
              </a:solidFill>
              <a:latin typeface="Inter"/>
              <a:ea typeface="Inter"/>
              <a:cs typeface="Inter"/>
              <a:sym typeface="Inter"/>
            </a:endParaRPr>
          </a:p>
        </p:txBody>
      </p:sp>
      <p:sp>
        <p:nvSpPr>
          <p:cNvPr id="409" name="Google Shape;409;p10"/>
          <p:cNvSpPr/>
          <p:nvPr/>
        </p:nvSpPr>
        <p:spPr>
          <a:xfrm>
            <a:off x="11228832" y="6510528"/>
            <a:ext cx="5029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08B"/>
              </a:buClr>
              <a:buSzPts val="850"/>
              <a:buFont typeface="Inter"/>
              <a:buNone/>
            </a:pPr>
            <a:r>
              <a:rPr b="1" i="0" lang="en-US" sz="850" u="none" cap="none" strike="noStrike">
                <a:solidFill>
                  <a:srgbClr val="64708B"/>
                </a:solidFill>
                <a:latin typeface="Inter"/>
                <a:ea typeface="Inter"/>
                <a:cs typeface="Inter"/>
                <a:sym typeface="Inter"/>
              </a:rPr>
              <a:t>10</a:t>
            </a:r>
            <a:endParaRPr b="0" i="0" sz="850" u="none" cap="none" strike="noStrike">
              <a:solidFill>
                <a:schemeClr val="dk1"/>
              </a:solidFill>
              <a:latin typeface="Inter"/>
              <a:ea typeface="Inter"/>
              <a:cs typeface="Inter"/>
              <a:sym typeface="Inter"/>
            </a:endParaRPr>
          </a:p>
        </p:txBody>
      </p:sp>
      <p:sp>
        <p:nvSpPr>
          <p:cNvPr id="410" name="Google Shape;410;p10"/>
          <p:cNvSpPr/>
          <p:nvPr/>
        </p:nvSpPr>
        <p:spPr>
          <a:xfrm>
            <a:off x="402336" y="6492240"/>
            <a:ext cx="512064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4708B"/>
              </a:buClr>
              <a:buSzPts val="720"/>
              <a:buFont typeface="Inter"/>
              <a:buNone/>
            </a:pPr>
            <a:r>
              <a:rPr b="1" i="0" lang="en-US" sz="720" u="none" cap="none" strike="noStrike">
                <a:solidFill>
                  <a:srgbClr val="64708B"/>
                </a:solidFill>
                <a:latin typeface="Inter"/>
                <a:ea typeface="Inter"/>
                <a:cs typeface="Inter"/>
                <a:sym typeface="Inter"/>
              </a:rPr>
              <a:t>CAREERPILOT  •  FINAL PRESENTATION  •  JOSE MANUEL LOZANO BARBA</a:t>
            </a:r>
            <a:endParaRPr b="0" i="0" sz="720" u="none" cap="none" strike="noStrike">
              <a:solidFill>
                <a:schemeClr val="dk1"/>
              </a:solidFill>
              <a:latin typeface="Inter"/>
              <a:ea typeface="Inter"/>
              <a:cs typeface="Inter"/>
              <a:sym typeface="Inter"/>
            </a:endParaRPr>
          </a:p>
        </p:txBody>
      </p:sp>
      <p:sp>
        <p:nvSpPr>
          <p:cNvPr id="411" name="Google Shape;411;p10"/>
          <p:cNvSpPr/>
          <p:nvPr/>
        </p:nvSpPr>
        <p:spPr>
          <a:xfrm>
            <a:off x="402336" y="658368"/>
            <a:ext cx="10972800" cy="5029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08163D"/>
              </a:buClr>
              <a:buSzPts val="2870"/>
              <a:buFont typeface="Inter"/>
              <a:buNone/>
            </a:pPr>
            <a:r>
              <a:rPr b="1" i="0" lang="en-US" sz="2870" u="none" cap="none" strike="noStrike">
                <a:solidFill>
                  <a:srgbClr val="08163D"/>
                </a:solidFill>
                <a:latin typeface="Inter"/>
                <a:ea typeface="Inter"/>
                <a:cs typeface="Inter"/>
                <a:sym typeface="Inter"/>
              </a:rPr>
              <a:t>The next milestone is evidence, not more features.</a:t>
            </a:r>
            <a:endParaRPr b="0" i="0" sz="2870" u="none" cap="none" strike="noStrike">
              <a:solidFill>
                <a:schemeClr val="dk1"/>
              </a:solidFill>
              <a:latin typeface="Inter"/>
              <a:ea typeface="Inter"/>
              <a:cs typeface="Inter"/>
              <a:sym typeface="Inter"/>
            </a:endParaRPr>
          </a:p>
        </p:txBody>
      </p:sp>
      <p:sp>
        <p:nvSpPr>
          <p:cNvPr id="412" name="Google Shape;412;p10"/>
          <p:cNvSpPr/>
          <p:nvPr/>
        </p:nvSpPr>
        <p:spPr>
          <a:xfrm>
            <a:off x="411480" y="1225296"/>
            <a:ext cx="78638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08B"/>
              </a:buClr>
              <a:buSzPts val="1200"/>
              <a:buFont typeface="Inter"/>
              <a:buNone/>
            </a:pPr>
            <a:r>
              <a:rPr b="0" i="0" lang="en-US" sz="1200" u="none" cap="none" strike="noStrike">
                <a:solidFill>
                  <a:srgbClr val="64708B"/>
                </a:solidFill>
                <a:latin typeface="Inter"/>
                <a:ea typeface="Inter"/>
                <a:cs typeface="Inter"/>
                <a:sym typeface="Inter"/>
              </a:rPr>
              <a:t>The MVP is the beginning of validation — not the end of the product process.</a:t>
            </a:r>
            <a:endParaRPr b="0" i="0" sz="1200" u="none" cap="none" strike="noStrike">
              <a:solidFill>
                <a:schemeClr val="dk1"/>
              </a:solidFill>
              <a:latin typeface="Inter"/>
              <a:ea typeface="Inter"/>
              <a:cs typeface="Inter"/>
              <a:sym typeface="Inter"/>
            </a:endParaRPr>
          </a:p>
        </p:txBody>
      </p:sp>
      <p:sp>
        <p:nvSpPr>
          <p:cNvPr id="413" name="Google Shape;413;p10"/>
          <p:cNvSpPr/>
          <p:nvPr/>
        </p:nvSpPr>
        <p:spPr>
          <a:xfrm>
            <a:off x="841248" y="2048256"/>
            <a:ext cx="2743200" cy="1956816"/>
          </a:xfrm>
          <a:prstGeom prst="roundRect">
            <a:avLst>
              <a:gd fmla="val 5607" name="adj"/>
            </a:avLst>
          </a:prstGeom>
          <a:solidFill>
            <a:srgbClr val="FFFFFF"/>
          </a:solidFill>
          <a:ln cap="flat" cmpd="sng" w="10150">
            <a:solidFill>
              <a:srgbClr val="DFE5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414" name="Google Shape;414;p10"/>
          <p:cNvSpPr/>
          <p:nvPr/>
        </p:nvSpPr>
        <p:spPr>
          <a:xfrm>
            <a:off x="1956816" y="2331720"/>
            <a:ext cx="530352" cy="530352"/>
          </a:xfrm>
          <a:prstGeom prst="ellipse">
            <a:avLst/>
          </a:prstGeom>
          <a:solidFill>
            <a:srgbClr val="EEF4FF"/>
          </a:solidFill>
          <a:ln cap="flat" cmpd="sng" w="12700">
            <a:solidFill>
              <a:srgbClr val="EEF4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415" name="Google Shape;415;p10"/>
          <p:cNvPicPr preferRelativeResize="0"/>
          <p:nvPr/>
        </p:nvPicPr>
        <p:blipFill rotWithShape="1">
          <a:blip r:embed="rId3">
            <a:alphaModFix/>
          </a:blip>
          <a:srcRect b="0" l="0" r="0" t="0"/>
          <a:stretch/>
        </p:blipFill>
        <p:spPr>
          <a:xfrm>
            <a:off x="2084100" y="2459004"/>
            <a:ext cx="275783" cy="275783"/>
          </a:xfrm>
          <a:prstGeom prst="rect">
            <a:avLst/>
          </a:prstGeom>
          <a:noFill/>
          <a:ln>
            <a:noFill/>
          </a:ln>
        </p:spPr>
      </p:pic>
      <p:sp>
        <p:nvSpPr>
          <p:cNvPr id="416" name="Google Shape;416;p10"/>
          <p:cNvSpPr/>
          <p:nvPr/>
        </p:nvSpPr>
        <p:spPr>
          <a:xfrm>
            <a:off x="1225296" y="3044952"/>
            <a:ext cx="19751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5CFF"/>
              </a:buClr>
              <a:buSzPts val="1100"/>
              <a:buFont typeface="Inter"/>
              <a:buNone/>
            </a:pPr>
            <a:r>
              <a:rPr b="1" i="0" lang="en-US" sz="1100" u="none" cap="none" strike="noStrike">
                <a:solidFill>
                  <a:srgbClr val="1B5CFF"/>
                </a:solidFill>
                <a:latin typeface="Inter"/>
                <a:ea typeface="Inter"/>
                <a:cs typeface="Inter"/>
                <a:sym typeface="Inter"/>
              </a:rPr>
              <a:t>VALIDATE</a:t>
            </a:r>
            <a:endParaRPr b="0" i="0" sz="1100" u="none" cap="none" strike="noStrike">
              <a:solidFill>
                <a:schemeClr val="dk1"/>
              </a:solidFill>
              <a:latin typeface="Inter"/>
              <a:ea typeface="Inter"/>
              <a:cs typeface="Inter"/>
              <a:sym typeface="Inter"/>
            </a:endParaRPr>
          </a:p>
        </p:txBody>
      </p:sp>
      <p:sp>
        <p:nvSpPr>
          <p:cNvPr id="417" name="Google Shape;417;p10"/>
          <p:cNvSpPr/>
          <p:nvPr/>
        </p:nvSpPr>
        <p:spPr>
          <a:xfrm>
            <a:off x="850400" y="3401575"/>
            <a:ext cx="27339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Relevant active</a:t>
            </a:r>
            <a:r>
              <a:rPr lang="en-US" sz="1020">
                <a:solidFill>
                  <a:schemeClr val="dk1"/>
                </a:solidFill>
                <a:latin typeface="Inter"/>
                <a:ea typeface="Inter"/>
                <a:cs typeface="Inter"/>
                <a:sym typeface="Inter"/>
              </a:rPr>
              <a:t> </a:t>
            </a:r>
            <a:r>
              <a:rPr b="1" i="0" lang="en-US" sz="1020" u="none" cap="none" strike="noStrike">
                <a:solidFill>
                  <a:srgbClr val="08163D"/>
                </a:solidFill>
                <a:latin typeface="Inter"/>
                <a:ea typeface="Inter"/>
                <a:cs typeface="Inter"/>
                <a:sym typeface="Inter"/>
              </a:rPr>
              <a:t>job seekers</a:t>
            </a:r>
            <a:endParaRPr b="0" i="0" sz="1020" u="none" cap="none" strike="noStrike">
              <a:solidFill>
                <a:schemeClr val="dk1"/>
              </a:solidFill>
              <a:latin typeface="Inter"/>
              <a:ea typeface="Inter"/>
              <a:cs typeface="Inter"/>
              <a:sym typeface="Inter"/>
            </a:endParaRPr>
          </a:p>
        </p:txBody>
      </p:sp>
      <p:cxnSp>
        <p:nvCxnSpPr>
          <p:cNvPr id="418" name="Google Shape;418;p10"/>
          <p:cNvCxnSpPr/>
          <p:nvPr/>
        </p:nvCxnSpPr>
        <p:spPr>
          <a:xfrm>
            <a:off x="3675888" y="3017520"/>
            <a:ext cx="411480" cy="0"/>
          </a:xfrm>
          <a:prstGeom prst="straightConnector1">
            <a:avLst/>
          </a:prstGeom>
          <a:noFill/>
          <a:ln cap="flat" cmpd="sng" w="27925">
            <a:solidFill>
              <a:srgbClr val="1B5CFF"/>
            </a:solidFill>
            <a:prstDash val="solid"/>
            <a:round/>
            <a:headEnd len="sm" w="sm" type="none"/>
            <a:tailEnd len="med" w="med" type="triangle"/>
          </a:ln>
        </p:spPr>
      </p:cxnSp>
      <p:sp>
        <p:nvSpPr>
          <p:cNvPr id="419" name="Google Shape;419;p10"/>
          <p:cNvSpPr/>
          <p:nvPr/>
        </p:nvSpPr>
        <p:spPr>
          <a:xfrm>
            <a:off x="4178808" y="2048256"/>
            <a:ext cx="2743200" cy="1956816"/>
          </a:xfrm>
          <a:prstGeom prst="roundRect">
            <a:avLst>
              <a:gd fmla="val 5607" name="adj"/>
            </a:avLst>
          </a:prstGeom>
          <a:solidFill>
            <a:srgbClr val="FFFFFF"/>
          </a:solidFill>
          <a:ln cap="flat" cmpd="sng" w="10150">
            <a:solidFill>
              <a:srgbClr val="DFE5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420" name="Google Shape;420;p10"/>
          <p:cNvSpPr/>
          <p:nvPr/>
        </p:nvSpPr>
        <p:spPr>
          <a:xfrm>
            <a:off x="5294376" y="2331720"/>
            <a:ext cx="530352" cy="530352"/>
          </a:xfrm>
          <a:prstGeom prst="ellipse">
            <a:avLst/>
          </a:prstGeom>
          <a:solidFill>
            <a:srgbClr val="F0ECFF"/>
          </a:solidFill>
          <a:ln cap="flat" cmpd="sng" w="12700">
            <a:solidFill>
              <a:srgbClr val="F0E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421" name="Google Shape;421;p10"/>
          <p:cNvPicPr preferRelativeResize="0"/>
          <p:nvPr/>
        </p:nvPicPr>
        <p:blipFill rotWithShape="1">
          <a:blip r:embed="rId4">
            <a:alphaModFix/>
          </a:blip>
          <a:srcRect b="0" l="0" r="0" t="0"/>
          <a:stretch/>
        </p:blipFill>
        <p:spPr>
          <a:xfrm>
            <a:off x="5421660" y="2459004"/>
            <a:ext cx="275783" cy="275783"/>
          </a:xfrm>
          <a:prstGeom prst="rect">
            <a:avLst/>
          </a:prstGeom>
          <a:noFill/>
          <a:ln>
            <a:noFill/>
          </a:ln>
        </p:spPr>
      </p:pic>
      <p:sp>
        <p:nvSpPr>
          <p:cNvPr id="422" name="Google Shape;422;p10"/>
          <p:cNvSpPr/>
          <p:nvPr/>
        </p:nvSpPr>
        <p:spPr>
          <a:xfrm>
            <a:off x="4562856" y="3044952"/>
            <a:ext cx="19751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2DFF"/>
              </a:buClr>
              <a:buSzPts val="1100"/>
              <a:buFont typeface="Inter"/>
              <a:buNone/>
            </a:pPr>
            <a:r>
              <a:rPr b="1" i="0" lang="en-US" sz="1100" u="none" cap="none" strike="noStrike">
                <a:solidFill>
                  <a:srgbClr val="5A2DFF"/>
                </a:solidFill>
                <a:latin typeface="Inter"/>
                <a:ea typeface="Inter"/>
                <a:cs typeface="Inter"/>
                <a:sym typeface="Inter"/>
              </a:rPr>
              <a:t>LEARN</a:t>
            </a:r>
            <a:endParaRPr b="0" i="0" sz="1100" u="none" cap="none" strike="noStrike">
              <a:solidFill>
                <a:schemeClr val="dk1"/>
              </a:solidFill>
              <a:latin typeface="Inter"/>
              <a:ea typeface="Inter"/>
              <a:cs typeface="Inter"/>
              <a:sym typeface="Inter"/>
            </a:endParaRPr>
          </a:p>
        </p:txBody>
      </p:sp>
      <p:sp>
        <p:nvSpPr>
          <p:cNvPr id="423" name="Google Shape;423;p10"/>
          <p:cNvSpPr/>
          <p:nvPr/>
        </p:nvSpPr>
        <p:spPr>
          <a:xfrm>
            <a:off x="4187950" y="3401575"/>
            <a:ext cx="27111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Behaviour +</a:t>
            </a:r>
            <a:r>
              <a:rPr lang="en-US" sz="1020">
                <a:solidFill>
                  <a:schemeClr val="dk1"/>
                </a:solidFill>
                <a:latin typeface="Inter"/>
                <a:ea typeface="Inter"/>
                <a:cs typeface="Inter"/>
                <a:sym typeface="Inter"/>
              </a:rPr>
              <a:t> </a:t>
            </a:r>
            <a:r>
              <a:rPr b="1" i="0" lang="en-US" sz="1020" u="none" cap="none" strike="noStrike">
                <a:solidFill>
                  <a:srgbClr val="08163D"/>
                </a:solidFill>
                <a:latin typeface="Inter"/>
                <a:ea typeface="Inter"/>
                <a:cs typeface="Inter"/>
                <a:sym typeface="Inter"/>
              </a:rPr>
              <a:t>qualitative feedback</a:t>
            </a:r>
            <a:endParaRPr b="0" i="0" sz="1020" u="none" cap="none" strike="noStrike">
              <a:solidFill>
                <a:schemeClr val="dk1"/>
              </a:solidFill>
              <a:latin typeface="Inter"/>
              <a:ea typeface="Inter"/>
              <a:cs typeface="Inter"/>
              <a:sym typeface="Inter"/>
            </a:endParaRPr>
          </a:p>
        </p:txBody>
      </p:sp>
      <p:cxnSp>
        <p:nvCxnSpPr>
          <p:cNvPr id="424" name="Google Shape;424;p10"/>
          <p:cNvCxnSpPr/>
          <p:nvPr/>
        </p:nvCxnSpPr>
        <p:spPr>
          <a:xfrm>
            <a:off x="7013448" y="3017520"/>
            <a:ext cx="411480" cy="0"/>
          </a:xfrm>
          <a:prstGeom prst="straightConnector1">
            <a:avLst/>
          </a:prstGeom>
          <a:noFill/>
          <a:ln cap="flat" cmpd="sng" w="27925">
            <a:solidFill>
              <a:srgbClr val="5A2DFF"/>
            </a:solidFill>
            <a:prstDash val="solid"/>
            <a:round/>
            <a:headEnd len="sm" w="sm" type="none"/>
            <a:tailEnd len="med" w="med" type="triangle"/>
          </a:ln>
        </p:spPr>
      </p:cxnSp>
      <p:sp>
        <p:nvSpPr>
          <p:cNvPr id="425" name="Google Shape;425;p10"/>
          <p:cNvSpPr/>
          <p:nvPr/>
        </p:nvSpPr>
        <p:spPr>
          <a:xfrm>
            <a:off x="7516368" y="2048256"/>
            <a:ext cx="2743200" cy="1956816"/>
          </a:xfrm>
          <a:prstGeom prst="roundRect">
            <a:avLst>
              <a:gd fmla="val 5607" name="adj"/>
            </a:avLst>
          </a:prstGeom>
          <a:solidFill>
            <a:srgbClr val="FFFFFF"/>
          </a:solidFill>
          <a:ln cap="flat" cmpd="sng" w="10150">
            <a:solidFill>
              <a:srgbClr val="DFE5F2"/>
            </a:solidFill>
            <a:prstDash val="solid"/>
            <a:round/>
            <a:headEnd len="sm" w="sm" type="none"/>
            <a:tailEnd len="sm" w="sm" type="none"/>
          </a:ln>
          <a:effectLst>
            <a:outerShdw blurRad="25400" rotWithShape="0" algn="bl" dir="2700000" dist="50800">
              <a:srgbClr val="BFC8DC">
                <a:alpha val="1411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sp>
        <p:nvSpPr>
          <p:cNvPr id="426" name="Google Shape;426;p10"/>
          <p:cNvSpPr/>
          <p:nvPr/>
        </p:nvSpPr>
        <p:spPr>
          <a:xfrm>
            <a:off x="8631936" y="2331720"/>
            <a:ext cx="530352" cy="530352"/>
          </a:xfrm>
          <a:prstGeom prst="ellipse">
            <a:avLst/>
          </a:prstGeom>
          <a:solidFill>
            <a:srgbClr val="EDF9FF"/>
          </a:solidFill>
          <a:ln cap="flat" cmpd="sng" w="12700">
            <a:solidFill>
              <a:srgbClr val="EDF9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Inter"/>
              <a:ea typeface="Inter"/>
              <a:cs typeface="Inter"/>
              <a:sym typeface="Inter"/>
            </a:endParaRPr>
          </a:p>
        </p:txBody>
      </p:sp>
      <p:pic>
        <p:nvPicPr>
          <p:cNvPr descr="preencoded.png" id="427" name="Google Shape;427;p10"/>
          <p:cNvPicPr preferRelativeResize="0"/>
          <p:nvPr/>
        </p:nvPicPr>
        <p:blipFill rotWithShape="1">
          <a:blip r:embed="rId5">
            <a:alphaModFix/>
          </a:blip>
          <a:srcRect b="0" l="0" r="0" t="0"/>
          <a:stretch/>
        </p:blipFill>
        <p:spPr>
          <a:xfrm>
            <a:off x="8759220" y="2459004"/>
            <a:ext cx="275783" cy="275783"/>
          </a:xfrm>
          <a:prstGeom prst="rect">
            <a:avLst/>
          </a:prstGeom>
          <a:noFill/>
          <a:ln>
            <a:noFill/>
          </a:ln>
        </p:spPr>
      </p:pic>
      <p:sp>
        <p:nvSpPr>
          <p:cNvPr id="428" name="Google Shape;428;p10"/>
          <p:cNvSpPr/>
          <p:nvPr/>
        </p:nvSpPr>
        <p:spPr>
          <a:xfrm>
            <a:off x="7900416" y="3044952"/>
            <a:ext cx="1975104"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78BFF"/>
              </a:buClr>
              <a:buSzPts val="1100"/>
              <a:buFont typeface="Inter"/>
              <a:buNone/>
            </a:pPr>
            <a:r>
              <a:rPr b="1" i="0" lang="en-US" sz="1100" u="none" cap="none" strike="noStrike">
                <a:solidFill>
                  <a:srgbClr val="078BFF"/>
                </a:solidFill>
                <a:latin typeface="Inter"/>
                <a:ea typeface="Inter"/>
                <a:cs typeface="Inter"/>
                <a:sym typeface="Inter"/>
              </a:rPr>
              <a:t>DECIDE</a:t>
            </a:r>
            <a:endParaRPr b="0" i="0" sz="1100" u="none" cap="none" strike="noStrike">
              <a:solidFill>
                <a:schemeClr val="dk1"/>
              </a:solidFill>
              <a:latin typeface="Inter"/>
              <a:ea typeface="Inter"/>
              <a:cs typeface="Inter"/>
              <a:sym typeface="Inter"/>
            </a:endParaRPr>
          </a:p>
        </p:txBody>
      </p:sp>
      <p:sp>
        <p:nvSpPr>
          <p:cNvPr id="429" name="Google Shape;429;p10"/>
          <p:cNvSpPr/>
          <p:nvPr/>
        </p:nvSpPr>
        <p:spPr>
          <a:xfrm>
            <a:off x="7525525" y="3401575"/>
            <a:ext cx="27339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8163D"/>
              </a:buClr>
              <a:buSzPts val="1020"/>
              <a:buFont typeface="Inter"/>
              <a:buNone/>
            </a:pPr>
            <a:r>
              <a:rPr b="1" i="0" lang="en-US" sz="1020" u="none" cap="none" strike="noStrike">
                <a:solidFill>
                  <a:srgbClr val="08163D"/>
                </a:solidFill>
                <a:latin typeface="Inter"/>
                <a:ea typeface="Inter"/>
                <a:cs typeface="Inter"/>
                <a:sym typeface="Inter"/>
              </a:rPr>
              <a:t>Strengthen  ·  Iterate</a:t>
            </a:r>
            <a:r>
              <a:rPr lang="en-US" sz="1020">
                <a:solidFill>
                  <a:schemeClr val="dk1"/>
                </a:solidFill>
                <a:latin typeface="Inter"/>
                <a:ea typeface="Inter"/>
                <a:cs typeface="Inter"/>
                <a:sym typeface="Inter"/>
              </a:rPr>
              <a:t> </a:t>
            </a:r>
            <a:r>
              <a:rPr b="1" i="0" lang="en-US" sz="1020" u="none" cap="none" strike="noStrike">
                <a:solidFill>
                  <a:srgbClr val="08163D"/>
                </a:solidFill>
                <a:latin typeface="Inter"/>
                <a:ea typeface="Inter"/>
                <a:cs typeface="Inter"/>
                <a:sym typeface="Inter"/>
              </a:rPr>
              <a:t>·  Reconsider</a:t>
            </a:r>
            <a:endParaRPr b="0" i="0" sz="1020" u="none" cap="none" strike="noStrike">
              <a:solidFill>
                <a:schemeClr val="dk1"/>
              </a:solidFill>
              <a:latin typeface="Inter"/>
              <a:ea typeface="Inter"/>
              <a:cs typeface="Inter"/>
              <a:sym typeface="Inter"/>
            </a:endParaRPr>
          </a:p>
        </p:txBody>
      </p:sp>
      <p:sp>
        <p:nvSpPr>
          <p:cNvPr id="430" name="Google Shape;430;p10"/>
          <p:cNvSpPr/>
          <p:nvPr/>
        </p:nvSpPr>
        <p:spPr>
          <a:xfrm>
            <a:off x="1144525" y="4375775"/>
            <a:ext cx="9903000" cy="4755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8163D"/>
              </a:buClr>
              <a:buSzPts val="2250"/>
              <a:buFont typeface="Inter"/>
              <a:buNone/>
            </a:pPr>
            <a:r>
              <a:rPr b="1" i="0" lang="en-US" sz="2250" u="none" cap="none" strike="noStrike">
                <a:solidFill>
                  <a:srgbClr val="08163D"/>
                </a:solidFill>
                <a:latin typeface="Inter"/>
                <a:ea typeface="Inter"/>
                <a:cs typeface="Inter"/>
                <a:sym typeface="Inter"/>
              </a:rPr>
              <a:t>Better evidence for decisions the job seeker still owns.</a:t>
            </a:r>
            <a:endParaRPr b="0" i="0" sz="2250" u="none" cap="none" strike="noStrike">
              <a:solidFill>
                <a:schemeClr val="dk1"/>
              </a:solidFill>
              <a:latin typeface="Inter"/>
              <a:ea typeface="Inter"/>
              <a:cs typeface="Inter"/>
              <a:sym typeface="Inter"/>
            </a:endParaRPr>
          </a:p>
        </p:txBody>
      </p:sp>
      <p:pic>
        <p:nvPicPr>
          <p:cNvPr descr="/mnt/data/careerpilot_small_wordmark_full.png" id="431" name="Google Shape;431;p10"/>
          <p:cNvPicPr preferRelativeResize="0"/>
          <p:nvPr/>
        </p:nvPicPr>
        <p:blipFill rotWithShape="1">
          <a:blip r:embed="rId6">
            <a:alphaModFix/>
          </a:blip>
          <a:srcRect b="0" l="0" r="0" t="0"/>
          <a:stretch/>
        </p:blipFill>
        <p:spPr>
          <a:xfrm>
            <a:off x="3331650" y="4933000"/>
            <a:ext cx="4455800" cy="1059300"/>
          </a:xfrm>
          <a:prstGeom prst="rect">
            <a:avLst/>
          </a:prstGeom>
          <a:noFill/>
          <a:ln>
            <a:noFill/>
          </a:ln>
        </p:spPr>
      </p:pic>
      <p:pic>
        <p:nvPicPr>
          <p:cNvPr id="432" name="Google Shape;432;p10" title="CareerPilot_Visual Identity (2).png"/>
          <p:cNvPicPr preferRelativeResize="0"/>
          <p:nvPr/>
        </p:nvPicPr>
        <p:blipFill rotWithShape="1">
          <a:blip r:embed="rId7">
            <a:alphaModFix amt="50000"/>
          </a:blip>
          <a:srcRect b="0" l="0" r="0" t="0"/>
          <a:stretch/>
        </p:blipFill>
        <p:spPr>
          <a:xfrm>
            <a:off x="11192248" y="265173"/>
            <a:ext cx="539500" cy="56211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2026-09-02T09:41:02Z</dcterms:created>
  <dc:creator>Jose Manuel Lozano Barba</dc:creator>
</cp:coreProperties>
</file>